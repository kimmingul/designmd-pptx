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dc4c8bef42142f9" /><Relationship Type="http://schemas.openxmlformats.org/package/2006/relationships/metadata/core-properties" Target="/docProps/core.xml" Id="R2f939bcad87a453b" /><Relationship Type="http://schemas.openxmlformats.org/officeDocument/2006/relationships/extended-properties" Target="/docProps/app.xml" Id="R48b4fdc20bda404d" /><Relationship Type="http://schemas.openxmlformats.org/officeDocument/2006/relationships/custom-properties" Target="/docProps/custom.xml" Id="R66ae05e8adbe43b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d7c09b62344443ac"/>
    <p:sldId id="257" r:id="R15c8823dac2546cf"/>
    <p:sldId id="258" r:id="R818f59b6af904f4c"/>
    <p:sldId id="259" r:id="Rc5cf20725dfa4b2e"/>
    <p:sldId id="260" r:id="R1ef12b35d6ff446b"/>
    <p:sldId id="261" r:id="R5561d25440e24b7c"/>
    <p:sldId id="262" r:id="Rb1bffeb0e84e4c75"/>
    <p:sldId id="263" r:id="Ra346319e9b7b4e99"/>
    <p:sldId id="264" r:id="R05e1212d95c14571"/>
    <p:sldId id="265" r:id="R2809a799792d494b"/>
    <p:sldId id="266" r:id="R93929c4b0b5c4d8c"/>
    <p:sldId id="267" r:id="R3568af78feef4cf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7c09b62344443ac" /><Relationship Type="http://schemas.openxmlformats.org/officeDocument/2006/relationships/slide" Target="/ppt/slides/slide2.xml" Id="R15c8823dac2546cf" /><Relationship Type="http://schemas.openxmlformats.org/officeDocument/2006/relationships/slide" Target="/ppt/slides/slide3.xml" Id="R818f59b6af904f4c" /><Relationship Type="http://schemas.openxmlformats.org/officeDocument/2006/relationships/slide" Target="/ppt/slides/slide4.xml" Id="Rc5cf20725dfa4b2e" /><Relationship Type="http://schemas.openxmlformats.org/officeDocument/2006/relationships/slide" Target="/ppt/slides/slide5.xml" Id="R1ef12b35d6ff446b" /><Relationship Type="http://schemas.openxmlformats.org/officeDocument/2006/relationships/slide" Target="/ppt/slides/slide6.xml" Id="R5561d25440e24b7c" /><Relationship Type="http://schemas.openxmlformats.org/officeDocument/2006/relationships/slide" Target="/ppt/slides/slide7.xml" Id="Rb1bffeb0e84e4c75" /><Relationship Type="http://schemas.openxmlformats.org/officeDocument/2006/relationships/slide" Target="/ppt/slides/slide8.xml" Id="Ra346319e9b7b4e99" /><Relationship Type="http://schemas.openxmlformats.org/officeDocument/2006/relationships/slide" Target="/ppt/slides/slide9.xml" Id="R05e1212d95c14571" /><Relationship Type="http://schemas.openxmlformats.org/officeDocument/2006/relationships/slide" Target="/ppt/slides/slide10.xml" Id="R2809a799792d494b" /><Relationship Type="http://schemas.openxmlformats.org/officeDocument/2006/relationships/slide" Target="/ppt/slides/slide11.xml" Id="R93929c4b0b5c4d8c" /><Relationship Type="http://schemas.openxmlformats.org/officeDocument/2006/relationships/slide" Target="/ppt/slides/slide12.xml" Id="R3568af78feef4c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Hold the name.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Pause on the section number before the title.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KPIs left to right; pause on any watch metric.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The brand file is the contract.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left to right; stop on the bottleneck.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cards max on a hero slide; cut copy first.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drop-off between the two biggest deltas.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Name the quadrant that needs a decision this quarter.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criteria.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42ad091e64c6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86e01bcc38427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ec55677e3840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b051540dd43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ce728cfab44a1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c1b70bd2db8d430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efd5b4fbd4088" /><Relationship Type="http://schemas.openxmlformats.org/officeDocument/2006/relationships/notesSlide" Target="/ppt/notesSlides/notesSlide1.xml" Id="R8850123c974341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a560b876e46fb" /><Relationship Type="http://schemas.openxmlformats.org/officeDocument/2006/relationships/notesSlide" Target="/ppt/notesSlides/notesSlide2.xml" Id="R50ef02c84dbb4c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72f4237a44a1f" /><Relationship Type="http://schemas.openxmlformats.org/officeDocument/2006/relationships/notesSlide" Target="/ppt/notesSlides/notesSlide3.xml" Id="R31205b7cdcf14c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dfd91814541c9" /><Relationship Type="http://schemas.openxmlformats.org/officeDocument/2006/relationships/notesSlide" Target="/ppt/notesSlides/notesSlide4.xml" Id="R1ef82f25e86e4f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c6027787e42fe" /><Relationship Type="http://schemas.openxmlformats.org/officeDocument/2006/relationships/notesSlide" Target="/ppt/notesSlides/notesSlide5.xml" Id="R7ce336b199c144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3ca4482d04fd3" /><Relationship Type="http://schemas.openxmlformats.org/officeDocument/2006/relationships/notesSlide" Target="/ppt/notesSlides/notesSlide6.xml" Id="Re6ca52a24eb245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d72a87ec04dec" /><Relationship Type="http://schemas.openxmlformats.org/officeDocument/2006/relationships/notesSlide" Target="/ppt/notesSlides/notesSlide7.xml" Id="Rdfa56460f67f4d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ff97014b44ff6" /><Relationship Type="http://schemas.openxmlformats.org/officeDocument/2006/relationships/notesSlide" Target="/ppt/notesSlides/notesSlide8.xml" Id="R7366b30790ec41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ca30972d14195" /><Relationship Type="http://schemas.openxmlformats.org/officeDocument/2006/relationships/notesSlide" Target="/ppt/notesSlides/notesSlide9.xml" Id="R77c08a09147241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f9021e3154c52" /><Relationship Type="http://schemas.openxmlformats.org/officeDocument/2006/relationships/notesSlide" Target="/ppt/notesSlides/notesSlide10.xml" Id="R7edd887bb6064d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6b87c528d4cbf" /><Relationship Type="http://schemas.openxmlformats.org/officeDocument/2006/relationships/notesSlide" Target="/ppt/notesSlides/notesSlide11.xml" Id="Reaf183a40f8843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06db26c564a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00000"/>
            <a:ext cx="10609200" cy="14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276000"/>
            <a:ext cx="1728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420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Motifs from structure — original chrome, brand from DESIGN.md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5742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motif library  ·  English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OpenerAccentBar"/>
          <p:cNvSpPr/>
          <p:nvPr/>
        </p:nvSpPr>
        <p:spPr>
          <a:xfrm xmlns:a="http://schemas.openxmlformats.org/drawingml/2006/main">
            <a:off x="792000" y="2232000"/>
            <a:ext cx="396000" cy="22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6" name="OpenerNumber"/>
          <p:cNvSpPr txBox="1"/>
          <p:nvPr/>
        </p:nvSpPr>
        <p:spPr>
          <a:xfrm xmlns:a="http://schemas.openxmlformats.org/drawingml/2006/main">
            <a:off x="1368000" y="2016000"/>
            <a:ext cx="28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7" name="OpenerTitle"/>
          <p:cNvSpPr txBox="1"/>
          <p:nvPr/>
        </p:nvSpPr>
        <p:spPr>
          <a:xfrm xmlns:a="http://schemas.openxmlformats.org/drawingml/2006/main">
            <a:off x="1368000" y="2952000"/>
            <a:ext cx="10033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The contract</a:t>
            </a:r>
          </a:p>
        </p:txBody>
      </p:sp>
      <p:sp>
        <p:nvSpPr>
          <p:cNvPr id="100008" name="OpenerBlurb"/>
          <p:cNvSpPr txBox="1"/>
          <p:nvPr/>
        </p:nvSpPr>
        <p:spPr>
          <a:xfrm xmlns:a="http://schemas.openxmlformats.org/drawingml/2006/main">
            <a:off x="1368000" y="3960000"/>
            <a:ext cx="792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lives in DESIGN.md. Motifs carry layout chrome.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9" name="Kpi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At a glance</a:t>
            </a:r>
          </a:p>
        </p:txBody>
      </p:sp>
      <p:sp>
        <p:nvSpPr>
          <p:cNvPr id="100010" name="Kpi1Bg"/>
          <p:cNvSpPr/>
          <p:nvPr/>
        </p:nvSpPr>
        <p:spPr>
          <a:xfrm xmlns:a="http://schemas.openxmlformats.org/drawingml/2006/main">
            <a:off x="7920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1" name="Kpi1Value"/>
          <p:cNvSpPr txBox="1"/>
          <p:nvPr/>
        </p:nvSpPr>
        <p:spPr>
          <a:xfrm xmlns:a="http://schemas.openxmlformats.org/drawingml/2006/main">
            <a:off x="9180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14</a:t>
            </a:r>
          </a:p>
        </p:txBody>
      </p:sp>
      <p:sp>
        <p:nvSpPr>
          <p:cNvPr id="100012" name="Kpi1Label"/>
          <p:cNvSpPr txBox="1"/>
          <p:nvPr/>
        </p:nvSpPr>
        <p:spPr>
          <a:xfrm xmlns:a="http://schemas.openxmlformats.org/drawingml/2006/main">
            <a:off x="9180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013" name="Kpi1Chip"/>
          <p:cNvSpPr txBox="1"/>
          <p:nvPr/>
        </p:nvSpPr>
        <p:spPr>
          <a:xfrm xmlns:a="http://schemas.openxmlformats.org/drawingml/2006/main">
            <a:off x="9180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0B5FFF"/>
                </a:solidFill>
                <a:latin typeface="Arial"/>
                <a:ea typeface="Arial"/>
              </a:rPr>
              <a:t>v1.2</a:t>
            </a:r>
          </a:p>
        </p:txBody>
      </p:sp>
      <p:sp>
        <p:nvSpPr>
          <p:cNvPr id="100014" name="Kpi2Bg"/>
          <p:cNvSpPr/>
          <p:nvPr/>
        </p:nvSpPr>
        <p:spPr>
          <a:xfrm xmlns:a="http://schemas.openxmlformats.org/drawingml/2006/main">
            <a:off x="35424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5" name="Kpi2Value"/>
          <p:cNvSpPr txBox="1"/>
          <p:nvPr/>
        </p:nvSpPr>
        <p:spPr>
          <a:xfrm xmlns:a="http://schemas.openxmlformats.org/drawingml/2006/main">
            <a:off x="36684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75</a:t>
            </a:r>
          </a:p>
        </p:txBody>
      </p:sp>
      <p:sp>
        <p:nvSpPr>
          <p:cNvPr id="100016" name="Kpi2Label"/>
          <p:cNvSpPr txBox="1"/>
          <p:nvPr/>
        </p:nvSpPr>
        <p:spPr>
          <a:xfrm xmlns:a="http://schemas.openxmlformats.org/drawingml/2006/main">
            <a:off x="36684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Recipes</a:t>
            </a:r>
          </a:p>
        </p:txBody>
      </p:sp>
      <p:sp>
        <p:nvSpPr>
          <p:cNvPr id="100017" name="Kpi2Chip"/>
          <p:cNvSpPr txBox="1"/>
          <p:nvPr/>
        </p:nvSpPr>
        <p:spPr>
          <a:xfrm xmlns:a="http://schemas.openxmlformats.org/drawingml/2006/main">
            <a:off x="36684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0B5FFF"/>
              </a:solidFill>
              <a:latin typeface="Arial"/>
              <a:ea typeface="Arial"/>
            </a:endParaRPr>
          </a:p>
        </p:txBody>
      </p:sp>
      <p:sp>
        <p:nvSpPr>
          <p:cNvPr id="100018" name="Kpi3Bg"/>
          <p:cNvSpPr/>
          <p:nvPr/>
        </p:nvSpPr>
        <p:spPr>
          <a:xfrm xmlns:a="http://schemas.openxmlformats.org/drawingml/2006/main">
            <a:off x="62928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Kpi3Value"/>
          <p:cNvSpPr txBox="1"/>
          <p:nvPr/>
        </p:nvSpPr>
        <p:spPr>
          <a:xfrm xmlns:a="http://schemas.openxmlformats.org/drawingml/2006/main">
            <a:off x="64224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20" name="Kpi3Label"/>
          <p:cNvSpPr txBox="1"/>
          <p:nvPr/>
        </p:nvSpPr>
        <p:spPr>
          <a:xfrm xmlns:a="http://schemas.openxmlformats.org/drawingml/2006/main">
            <a:off x="64224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Backends</a:t>
            </a:r>
          </a:p>
        </p:txBody>
      </p:sp>
      <p:sp>
        <p:nvSpPr>
          <p:cNvPr id="100021" name="Kpi3Chip"/>
          <p:cNvSpPr txBox="1"/>
          <p:nvPr/>
        </p:nvSpPr>
        <p:spPr>
          <a:xfrm xmlns:a="http://schemas.openxmlformats.org/drawingml/2006/main">
            <a:off x="64224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endParaRPr lang="en-US" sz="1200" b="1">
              <a:solidFill>
                <a:srgbClr val="0B5FFF"/>
              </a:solidFill>
              <a:latin typeface="Arial"/>
              <a:ea typeface="Arial"/>
            </a:endParaRPr>
          </a:p>
        </p:txBody>
      </p:sp>
      <p:sp>
        <p:nvSpPr>
          <p:cNvPr id="100022" name="Kpi4Bg"/>
          <p:cNvSpPr/>
          <p:nvPr/>
        </p:nvSpPr>
        <p:spPr>
          <a:xfrm xmlns:a="http://schemas.openxmlformats.org/drawingml/2006/main">
            <a:off x="9046800" y="1414800"/>
            <a:ext cx="2354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Kpi4Value"/>
          <p:cNvSpPr txBox="1"/>
          <p:nvPr/>
        </p:nvSpPr>
        <p:spPr>
          <a:xfrm xmlns:a="http://schemas.openxmlformats.org/drawingml/2006/main">
            <a:off x="9172800" y="2829600"/>
            <a:ext cx="2102400" cy="104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6000" b="1">
                <a:solidFill>
                  <a:srgbClr val="F5F5F7"/>
                </a:solidFill>
                <a:latin typeface="Arial"/>
                <a:ea typeface="Arial"/>
              </a:rPr>
              <a:t>0</a:t>
            </a:r>
          </a:p>
        </p:txBody>
      </p:sp>
      <p:sp>
        <p:nvSpPr>
          <p:cNvPr id="100024" name="Kpi4Label"/>
          <p:cNvSpPr txBox="1"/>
          <p:nvPr/>
        </p:nvSpPr>
        <p:spPr>
          <a:xfrm xmlns:a="http://schemas.openxmlformats.org/drawingml/2006/main">
            <a:off x="9172800" y="3999600"/>
            <a:ext cx="2102400" cy="30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Vendor bytes</a:t>
            </a:r>
          </a:p>
        </p:txBody>
      </p:sp>
      <p:sp>
        <p:nvSpPr>
          <p:cNvPr id="100025" name="Kpi4Chip"/>
          <p:cNvSpPr txBox="1"/>
          <p:nvPr/>
        </p:nvSpPr>
        <p:spPr>
          <a:xfrm xmlns:a="http://schemas.openxmlformats.org/drawingml/2006/main">
            <a:off x="9172800" y="4431600"/>
            <a:ext cx="2102400" cy="280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0B5FFF"/>
                </a:solidFill>
                <a:latin typeface="Arial"/>
                <a:ea typeface="Arial"/>
              </a:rPr>
              <a:t>safe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6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27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One brand source of truth</a:t>
            </a:r>
          </a:p>
        </p:txBody>
      </p:sp>
      <p:sp>
        <p:nvSpPr>
          <p:cNvPr id="100028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 and floors compile once — decks inherit the contract.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9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30" name="BaPanel1"/>
          <p:cNvSpPr/>
          <p:nvPr/>
        </p:nvSpPr>
        <p:spPr>
          <a:xfrm xmlns:a="http://schemas.openxmlformats.org/drawingml/2006/main">
            <a:off x="7920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BaHead1"/>
          <p:cNvSpPr txBox="1"/>
          <p:nvPr/>
        </p:nvSpPr>
        <p:spPr>
          <a:xfrm xmlns:a="http://schemas.openxmlformats.org/drawingml/2006/main">
            <a:off x="11880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32" name="BaBody1"/>
          <p:cNvSpPr txBox="1"/>
          <p:nvPr/>
        </p:nvSpPr>
        <p:spPr>
          <a:xfrm xmlns:a="http://schemas.openxmlformats.org/drawingml/2006/main">
            <a:off x="11880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brand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</a:t>
            </a:r>
          </a:p>
        </p:txBody>
      </p:sp>
      <p:sp>
        <p:nvSpPr>
          <p:cNvPr id="100033" name="BaPanel2"/>
          <p:cNvSpPr/>
          <p:nvPr/>
        </p:nvSpPr>
        <p:spPr>
          <a:xfrm xmlns:a="http://schemas.openxmlformats.org/drawingml/2006/main">
            <a:off x="62928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4" name="BaHead2"/>
          <p:cNvSpPr txBox="1"/>
          <p:nvPr/>
        </p:nvSpPr>
        <p:spPr>
          <a:xfrm xmlns:a="http://schemas.openxmlformats.org/drawingml/2006/main">
            <a:off x="66924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35" name="BaBody2"/>
          <p:cNvSpPr txBox="1"/>
          <p:nvPr/>
        </p:nvSpPr>
        <p:spPr>
          <a:xfrm xmlns:a="http://schemas.openxmlformats.org/drawingml/2006/main">
            <a:off x="66924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Motif chrome +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6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Authoring pipeline</a:t>
            </a:r>
          </a:p>
        </p:txBody>
      </p:sp>
      <p:sp>
        <p:nvSpPr>
          <p:cNvPr id="100037" name="Proc1"/>
          <p:cNvSpPr/>
          <p:nvPr/>
        </p:nvSpPr>
        <p:spPr>
          <a:xfrm xmlns:a="http://schemas.openxmlformats.org/drawingml/2006/main">
            <a:off x="7920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38" name="Proc2"/>
          <p:cNvSpPr/>
          <p:nvPr/>
        </p:nvSpPr>
        <p:spPr>
          <a:xfrm xmlns:a="http://schemas.openxmlformats.org/drawingml/2006/main">
            <a:off x="2991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39" name="Proc3"/>
          <p:cNvSpPr/>
          <p:nvPr/>
        </p:nvSpPr>
        <p:spPr>
          <a:xfrm xmlns:a="http://schemas.openxmlformats.org/drawingml/2006/main">
            <a:off x="51948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Motifs</a:t>
            </a:r>
          </a:p>
        </p:txBody>
      </p:sp>
      <p:sp>
        <p:nvSpPr>
          <p:cNvPr id="100040" name="Proc4"/>
          <p:cNvSpPr/>
          <p:nvPr/>
        </p:nvSpPr>
        <p:spPr>
          <a:xfrm xmlns:a="http://schemas.openxmlformats.org/drawingml/2006/main">
            <a:off x="73944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41" name="Proc5"/>
          <p:cNvSpPr/>
          <p:nvPr/>
        </p:nvSpPr>
        <p:spPr>
          <a:xfrm xmlns:a="http://schemas.openxmlformats.org/drawingml/2006/main">
            <a:off x="9597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42" name="Connector 1"/>
          <p:cNvCxnSpPr>
            <a:stCxn xmlns:a="http://schemas.openxmlformats.org/drawingml/2006/main" id="100037" idx="0"/>
            <a:endCxn xmlns:a="http://schemas.openxmlformats.org/drawingml/2006/main" id="100038" idx="0"/>
          </p:cNvCxnSpPr>
          <p:nvPr/>
        </p:nvCxnSpPr>
        <p:spPr>
          <a:xfrm xmlns:a="http://schemas.openxmlformats.org/drawingml/2006/main">
            <a:off x="25956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3" name="Connector 2"/>
          <p:cNvCxnSpPr>
            <a:stCxn xmlns:a="http://schemas.openxmlformats.org/drawingml/2006/main" id="100038" idx="0"/>
            <a:endCxn xmlns:a="http://schemas.openxmlformats.org/drawingml/2006/main" id="100039" idx="0"/>
          </p:cNvCxnSpPr>
          <p:nvPr/>
        </p:nvCxnSpPr>
        <p:spPr>
          <a:xfrm xmlns:a="http://schemas.openxmlformats.org/drawingml/2006/main">
            <a:off x="4795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4" name="Connector 3"/>
          <p:cNvCxnSpPr>
            <a:stCxn xmlns:a="http://schemas.openxmlformats.org/drawingml/2006/main" id="100039" idx="0"/>
            <a:endCxn xmlns:a="http://schemas.openxmlformats.org/drawingml/2006/main" id="100040" idx="0"/>
          </p:cNvCxnSpPr>
          <p:nvPr/>
        </p:nvCxnSpPr>
        <p:spPr>
          <a:xfrm xmlns:a="http://schemas.openxmlformats.org/drawingml/2006/main">
            <a:off x="6998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45" name="Connector 4"/>
          <p:cNvCxnSpPr>
            <a:stCxn xmlns:a="http://schemas.openxmlformats.org/drawingml/2006/main" id="100040" idx="0"/>
            <a:endCxn xmlns:a="http://schemas.openxmlformats.org/drawingml/2006/main" id="100041" idx="0"/>
          </p:cNvCxnSpPr>
          <p:nvPr/>
        </p:nvCxnSpPr>
        <p:spPr>
          <a:xfrm xmlns:a="http://schemas.openxmlformats.org/drawingml/2006/main">
            <a:off x="91980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6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47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49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50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Centimeters. Connectors. Type floors that hold.</a:t>
            </a:r>
          </a:p>
        </p:txBody>
      </p:sp>
      <p:sp>
        <p:nvSpPr>
          <p:cNvPr id="100051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53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54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55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6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57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License-safe</a:t>
            </a:r>
          </a:p>
        </p:txBody>
      </p:sp>
      <p:sp>
        <p:nvSpPr>
          <p:cNvPr id="100058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Infograpify is reference only. Motifs are original.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9" name="Funnel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Adoption funnel</a:t>
            </a:r>
          </a:p>
        </p:txBody>
      </p:sp>
      <p:sp>
        <p:nvSpPr>
          <p:cNvPr id="100060" name="FunnelBand1"/>
          <p:cNvSpPr/>
          <p:nvPr/>
        </p:nvSpPr>
        <p:spPr>
          <a:xfrm xmlns:a="http://schemas.openxmlformats.org/drawingml/2006/main">
            <a:off x="792000" y="1396800"/>
            <a:ext cx="10609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FunnelLabel1"/>
          <p:cNvSpPr txBox="1"/>
          <p:nvPr/>
        </p:nvSpPr>
        <p:spPr>
          <a:xfrm xmlns:a="http://schemas.openxmlformats.org/drawingml/2006/main">
            <a:off x="990000" y="1594800"/>
            <a:ext cx="10213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Discover  ·  100%</a:t>
            </a:r>
          </a:p>
        </p:txBody>
      </p:sp>
      <p:sp>
        <p:nvSpPr>
          <p:cNvPr id="100062" name="FunnelBand2"/>
          <p:cNvSpPr/>
          <p:nvPr/>
        </p:nvSpPr>
        <p:spPr>
          <a:xfrm xmlns:a="http://schemas.openxmlformats.org/drawingml/2006/main">
            <a:off x="1764000" y="2401200"/>
            <a:ext cx="86652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FunnelLabel2"/>
          <p:cNvSpPr txBox="1"/>
          <p:nvPr/>
        </p:nvSpPr>
        <p:spPr>
          <a:xfrm xmlns:a="http://schemas.openxmlformats.org/drawingml/2006/main">
            <a:off x="1962000" y="2599200"/>
            <a:ext cx="82692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Try doctor  ·  42%</a:t>
            </a:r>
          </a:p>
        </p:txBody>
      </p:sp>
      <p:sp>
        <p:nvSpPr>
          <p:cNvPr id="100064" name="FunnelBand3"/>
          <p:cNvSpPr/>
          <p:nvPr/>
        </p:nvSpPr>
        <p:spPr>
          <a:xfrm xmlns:a="http://schemas.openxmlformats.org/drawingml/2006/main">
            <a:off x="2736000" y="3402000"/>
            <a:ext cx="6717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5" name="FunnelLabel3"/>
          <p:cNvSpPr txBox="1"/>
          <p:nvPr/>
        </p:nvSpPr>
        <p:spPr>
          <a:xfrm xmlns:a="http://schemas.openxmlformats.org/drawingml/2006/main">
            <a:off x="2934000" y="3603600"/>
            <a:ext cx="6321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5F5F7"/>
                </a:solidFill>
                <a:latin typeface="Arial"/>
                <a:ea typeface="Arial"/>
              </a:rPr>
              <a:t>Scaffold  ·  19%</a:t>
            </a:r>
          </a:p>
        </p:txBody>
      </p:sp>
      <p:sp>
        <p:nvSpPr>
          <p:cNvPr id="100066" name="FunnelBand4"/>
          <p:cNvSpPr/>
          <p:nvPr/>
        </p:nvSpPr>
        <p:spPr>
          <a:xfrm xmlns:a="http://schemas.openxmlformats.org/drawingml/2006/main">
            <a:off x="3708000" y="4406400"/>
            <a:ext cx="4773600" cy="903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7" name="FunnelLabel4"/>
          <p:cNvSpPr txBox="1"/>
          <p:nvPr/>
        </p:nvSpPr>
        <p:spPr>
          <a:xfrm xmlns:a="http://schemas.openxmlformats.org/drawingml/2006/main">
            <a:off x="3906000" y="4604400"/>
            <a:ext cx="4377600" cy="49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Ship  ·  8%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68" name="Matrix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Where motifs play</a:t>
            </a:r>
          </a:p>
        </p:txBody>
      </p:sp>
      <p:sp>
        <p:nvSpPr>
          <p:cNvPr id="100069" name="Quad1Bg"/>
          <p:cNvSpPr/>
          <p:nvPr/>
        </p:nvSpPr>
        <p:spPr>
          <a:xfrm xmlns:a="http://schemas.openxmlformats.org/drawingml/2006/main">
            <a:off x="7920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0" name="Quad1Title"/>
          <p:cNvSpPr txBox="1"/>
          <p:nvPr/>
        </p:nvSpPr>
        <p:spPr>
          <a:xfrm xmlns:a="http://schemas.openxmlformats.org/drawingml/2006/main">
            <a:off x="10908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Hero</a:t>
            </a:r>
          </a:p>
        </p:txBody>
      </p:sp>
      <p:sp>
        <p:nvSpPr>
          <p:cNvPr id="100071" name="Quad1Body"/>
          <p:cNvSpPr txBox="1"/>
          <p:nvPr/>
        </p:nvSpPr>
        <p:spPr>
          <a:xfrm xmlns:a="http://schemas.openxmlformats.org/drawingml/2006/main">
            <a:off x="10908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sparse_hero · kpi_hero</a:t>
            </a:r>
          </a:p>
        </p:txBody>
      </p:sp>
      <p:sp>
        <p:nvSpPr>
          <p:cNvPr id="100072" name="Quad2Bg"/>
          <p:cNvSpPr/>
          <p:nvPr/>
        </p:nvSpPr>
        <p:spPr>
          <a:xfrm xmlns:a="http://schemas.openxmlformats.org/drawingml/2006/main">
            <a:off x="6292800" y="1404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3" name="Quad2Title"/>
          <p:cNvSpPr txBox="1"/>
          <p:nvPr/>
        </p:nvSpPr>
        <p:spPr>
          <a:xfrm xmlns:a="http://schemas.openxmlformats.org/drawingml/2006/main">
            <a:off x="6591600" y="1681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Compare</a:t>
            </a:r>
          </a:p>
        </p:txBody>
      </p:sp>
      <p:sp>
        <p:nvSpPr>
          <p:cNvPr id="100074" name="Quad2Body"/>
          <p:cNvSpPr txBox="1"/>
          <p:nvPr/>
        </p:nvSpPr>
        <p:spPr>
          <a:xfrm xmlns:a="http://schemas.openxmlformats.org/drawingml/2006/main">
            <a:off x="6591600" y="2278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split_hero · matrix_quad</a:t>
            </a:r>
          </a:p>
        </p:txBody>
      </p:sp>
      <p:sp>
        <p:nvSpPr>
          <p:cNvPr id="100075" name="Quad3Bg"/>
          <p:cNvSpPr/>
          <p:nvPr/>
        </p:nvSpPr>
        <p:spPr>
          <a:xfrm xmlns:a="http://schemas.openxmlformats.org/drawingml/2006/main">
            <a:off x="7920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6" name="Quad3Title"/>
          <p:cNvSpPr txBox="1"/>
          <p:nvPr/>
        </p:nvSpPr>
        <p:spPr>
          <a:xfrm xmlns:a="http://schemas.openxmlformats.org/drawingml/2006/main">
            <a:off x="10908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Flow</a:t>
            </a:r>
          </a:p>
        </p:txBody>
      </p:sp>
      <p:sp>
        <p:nvSpPr>
          <p:cNvPr id="100077" name="Quad3Body"/>
          <p:cNvSpPr txBox="1"/>
          <p:nvPr/>
        </p:nvSpPr>
        <p:spPr>
          <a:xfrm xmlns:a="http://schemas.openxmlformats.org/drawingml/2006/main">
            <a:off x="10908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step_rail · funnel_cascade</a:t>
            </a:r>
          </a:p>
        </p:txBody>
      </p:sp>
      <p:sp>
        <p:nvSpPr>
          <p:cNvPr id="100078" name="Quad4Bg"/>
          <p:cNvSpPr/>
          <p:nvPr/>
        </p:nvSpPr>
        <p:spPr>
          <a:xfrm xmlns:a="http://schemas.openxmlformats.org/drawingml/2006/main">
            <a:off x="6292800" y="3960000"/>
            <a:ext cx="5104800" cy="21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9" name="Quad4Title"/>
          <p:cNvSpPr txBox="1"/>
          <p:nvPr/>
        </p:nvSpPr>
        <p:spPr>
          <a:xfrm xmlns:a="http://schemas.openxmlformats.org/drawingml/2006/main">
            <a:off x="6591600" y="4237200"/>
            <a:ext cx="4514400" cy="4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Grid</a:t>
            </a:r>
          </a:p>
        </p:txBody>
      </p:sp>
      <p:sp>
        <p:nvSpPr>
          <p:cNvPr id="100080" name="Quad4Body"/>
          <p:cNvSpPr txBox="1"/>
          <p:nvPr/>
        </p:nvSpPr>
        <p:spPr>
          <a:xfrm xmlns:a="http://schemas.openxmlformats.org/drawingml/2006/main">
            <a:off x="6591600" y="4834800"/>
            <a:ext cx="45144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card_row · kpi_band · tile_row</a:t>
            </a:r>
          </a:p>
        </p:txBody>
      </p:sp>
      <p:sp>
        <p:nvSpPr>
          <p:cNvPr id="100081" name="AxisX"/>
          <p:cNvSpPr txBox="1"/>
          <p:nvPr/>
        </p:nvSpPr>
        <p:spPr>
          <a:xfrm xmlns:a="http://schemas.openxmlformats.org/drawingml/2006/main">
            <a:off x="792000" y="6300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→ Structure →</a:t>
            </a:r>
          </a:p>
        </p:txBody>
      </p:sp>
      <p:sp>
        <p:nvSpPr>
          <p:cNvPr id="100082" name="AxisY"/>
          <p:cNvSpPr txBox="1"/>
          <p:nvPr/>
        </p:nvSpPr>
        <p:spPr>
          <a:xfrm xmlns:a="http://schemas.openxmlformats.org/drawingml/2006/main">
            <a:off x="792000" y="1080000"/>
            <a:ext cx="43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↑ Narrative ↑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83" name="Stairs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staircase</a:t>
            </a:r>
          </a:p>
        </p:txBody>
      </p:sp>
      <p:sp>
        <p:nvSpPr>
          <p:cNvPr id="100084" name="Stair1"/>
          <p:cNvSpPr/>
          <p:nvPr/>
        </p:nvSpPr>
        <p:spPr>
          <a:xfrm xmlns:a="http://schemas.openxmlformats.org/drawingml/2006/main">
            <a:off x="828000" y="3538800"/>
            <a:ext cx="2048400" cy="171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Floors</a:t>
            </a:r>
          </a:p>
        </p:txBody>
      </p:sp>
      <p:sp>
        <p:nvSpPr>
          <p:cNvPr id="100085" name="Stair2"/>
          <p:cNvSpPr/>
          <p:nvPr/>
        </p:nvSpPr>
        <p:spPr>
          <a:xfrm xmlns:a="http://schemas.openxmlformats.org/drawingml/2006/main">
            <a:off x="2948400" y="3013200"/>
            <a:ext cx="2048400" cy="224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Motif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Chrome</a:t>
            </a:r>
          </a:p>
        </p:txBody>
      </p:sp>
      <p:sp>
        <p:nvSpPr>
          <p:cNvPr id="100086" name="Stair3"/>
          <p:cNvSpPr/>
          <p:nvPr/>
        </p:nvSpPr>
        <p:spPr>
          <a:xfrm xmlns:a="http://schemas.openxmlformats.org/drawingml/2006/main">
            <a:off x="5072400" y="2487600"/>
            <a:ext cx="2048400" cy="27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</a:t>
            </a:r>
          </a:p>
        </p:txBody>
      </p:sp>
      <p:sp>
        <p:nvSpPr>
          <p:cNvPr id="100087" name="Stair4"/>
          <p:cNvSpPr/>
          <p:nvPr/>
        </p:nvSpPr>
        <p:spPr>
          <a:xfrm xmlns:a="http://schemas.openxmlformats.org/drawingml/2006/main">
            <a:off x="7192800" y="1962000"/>
            <a:ext cx="2048400" cy="329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Sheet</a:t>
            </a:r>
          </a:p>
        </p:txBody>
      </p:sp>
      <p:sp>
        <p:nvSpPr>
          <p:cNvPr id="100088" name="Stair5"/>
          <p:cNvSpPr/>
          <p:nvPr/>
        </p:nvSpPr>
        <p:spPr>
          <a:xfrm xmlns:a="http://schemas.openxmlformats.org/drawingml/2006/main">
            <a:off x="9316800" y="1436400"/>
            <a:ext cx="2048400" cy="381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89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</a:t>
            </a:r>
          </a:p>
        </p:txBody>
      </p:sp>
      <p:sp>
        <p:nvSpPr>
          <p:cNvPr id="100090" name="CheckRow1"/>
          <p:cNvSpPr/>
          <p:nvPr/>
        </p:nvSpPr>
        <p:spPr>
          <a:xfrm xmlns:a="http://schemas.openxmlformats.org/drawingml/2006/main">
            <a:off x="792000" y="1533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91" name="CheckRow2"/>
          <p:cNvSpPr/>
          <p:nvPr/>
        </p:nvSpPr>
        <p:spPr>
          <a:xfrm xmlns:a="http://schemas.openxmlformats.org/drawingml/2006/main">
            <a:off x="792000" y="22500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</a:t>
            </a:r>
          </a:p>
        </p:txBody>
      </p:sp>
      <p:sp>
        <p:nvSpPr>
          <p:cNvPr id="100092" name="CheckRow3"/>
          <p:cNvSpPr/>
          <p:nvPr/>
        </p:nvSpPr>
        <p:spPr>
          <a:xfrm xmlns:a="http://schemas.openxmlformats.org/drawingml/2006/main">
            <a:off x="792000" y="29628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Body height follows content</a:t>
            </a:r>
          </a:p>
        </p:txBody>
      </p:sp>
      <p:sp>
        <p:nvSpPr>
          <p:cNvPr id="100093" name="CheckRow4"/>
          <p:cNvSpPr/>
          <p:nvPr/>
        </p:nvSpPr>
        <p:spPr>
          <a:xfrm xmlns:a="http://schemas.openxmlformats.org/drawingml/2006/main">
            <a:off x="792000" y="36792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No vendor shapes or icons</a:t>
            </a:r>
          </a:p>
        </p:txBody>
      </p:sp>
      <p:sp>
        <p:nvSpPr>
          <p:cNvPr id="100094" name="CheckRow5"/>
          <p:cNvSpPr/>
          <p:nvPr/>
        </p:nvSpPr>
        <p:spPr>
          <a:xfrm xmlns:a="http://schemas.openxmlformats.org/drawingml/2006/main">
            <a:off x="792000" y="4395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95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96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· scaffold · apply --screenshot</a:t>
            </a:r>
          </a:p>
        </p:txBody>
      </p:sp>
      <p:sp>
        <p:nvSpPr>
          <p:cNvPr id="100097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2026-07-15T14:33:13Z</dcterms:created>
  <cp:lastModifiedBy>OfficeCLI</cp:lastModifiedBy>
  <dcterms:modified xsi:type="dcterms:W3CDTF">2026-07-15T14:33:13Z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2026-07-15T14:33:15Z</vt:lpwstr>
  </op:property>
</op:Properties>
</file>