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2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e04f6cf7f0046ae" /><Relationship Type="http://schemas.openxmlformats.org/package/2006/relationships/metadata/core-properties" Target="/docProps/core.xml" Id="R2ecd1af9d9a14a4c" /><Relationship Type="http://schemas.openxmlformats.org/officeDocument/2006/relationships/extended-properties" Target="/docProps/app.xml" Id="R5e70a76430df4b39" /><Relationship Type="http://schemas.openxmlformats.org/officeDocument/2006/relationships/custom-properties" Target="/docProps/custom.xml" Id="R8a98b402ce1c45b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cc1a2b1ee164824"/>
    <p:sldId id="257" r:id="Rb5a3f45ec5cf4544"/>
    <p:sldId id="258" r:id="R76591297fe5d4481"/>
    <p:sldId id="259" r:id="R655f81f936d64545"/>
    <p:sldId id="260" r:id="R00fb3cc49d144c52"/>
    <p:sldId id="261" r:id="R8e6d0e74d37b4886"/>
    <p:sldId id="262" r:id="R99ed835892d04d75"/>
    <p:sldId id="263" r:id="R6fd1525ede324a0e"/>
    <p:sldId id="264" r:id="R4be3f41c4df74895"/>
    <p:sldId id="265" r:id="R37497e54ac064ee8"/>
    <p:sldId id="266" r:id="R061a1bcaa9f14eaf"/>
    <p:sldId id="267" r:id="Rd9659376d59e4390"/>
    <p:sldId id="268" r:id="Reea30d6efac548a5"/>
    <p:sldId id="269" r:id="R29f5001b10a3499a"/>
    <p:sldId id="270" r:id="R595d721725044af7"/>
    <p:sldId id="271" r:id="Rd5712c058b3c419c"/>
    <p:sldId id="272" r:id="R2d2c402a54a14136"/>
    <p:sldId id="273" r:id="R522bb85c87434120"/>
    <p:sldId id="274" r:id="R7e906aa277944139"/>
    <p:sldId id="275" r:id="R5a5060da75f2441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cc1a2b1ee164824" /><Relationship Type="http://schemas.openxmlformats.org/officeDocument/2006/relationships/slide" Target="/ppt/slides/slide2.xml" Id="Rb5a3f45ec5cf4544" /><Relationship Type="http://schemas.openxmlformats.org/officeDocument/2006/relationships/slide" Target="/ppt/slides/slide3.xml" Id="R76591297fe5d4481" /><Relationship Type="http://schemas.openxmlformats.org/officeDocument/2006/relationships/slide" Target="/ppt/slides/slide4.xml" Id="R655f81f936d64545" /><Relationship Type="http://schemas.openxmlformats.org/officeDocument/2006/relationships/slide" Target="/ppt/slides/slide5.xml" Id="R00fb3cc49d144c52" /><Relationship Type="http://schemas.openxmlformats.org/officeDocument/2006/relationships/slide" Target="/ppt/slides/slide6.xml" Id="R8e6d0e74d37b4886" /><Relationship Type="http://schemas.openxmlformats.org/officeDocument/2006/relationships/slide" Target="/ppt/slides/slide7.xml" Id="R99ed835892d04d75" /><Relationship Type="http://schemas.openxmlformats.org/officeDocument/2006/relationships/slide" Target="/ppt/slides/slide8.xml" Id="R6fd1525ede324a0e" /><Relationship Type="http://schemas.openxmlformats.org/officeDocument/2006/relationships/slide" Target="/ppt/slides/slide9.xml" Id="R4be3f41c4df74895" /><Relationship Type="http://schemas.openxmlformats.org/officeDocument/2006/relationships/slide" Target="/ppt/slides/slide10.xml" Id="R37497e54ac064ee8" /><Relationship Type="http://schemas.openxmlformats.org/officeDocument/2006/relationships/slide" Target="/ppt/slides/slide11.xml" Id="R061a1bcaa9f14eaf" /><Relationship Type="http://schemas.openxmlformats.org/officeDocument/2006/relationships/slide" Target="/ppt/slides/slide12.xml" Id="Rd9659376d59e4390" /><Relationship Type="http://schemas.openxmlformats.org/officeDocument/2006/relationships/slide" Target="/ppt/slides/slide13.xml" Id="Reea30d6efac548a5" /><Relationship Type="http://schemas.openxmlformats.org/officeDocument/2006/relationships/slide" Target="/ppt/slides/slide14.xml" Id="R29f5001b10a3499a" /><Relationship Type="http://schemas.openxmlformats.org/officeDocument/2006/relationships/slide" Target="/ppt/slides/slide15.xml" Id="R595d721725044af7" /><Relationship Type="http://schemas.openxmlformats.org/officeDocument/2006/relationships/slide" Target="/ppt/slides/slide16.xml" Id="Rd5712c058b3c419c" /><Relationship Type="http://schemas.openxmlformats.org/officeDocument/2006/relationships/slide" Target="/ppt/slides/slide17.xml" Id="R2d2c402a54a14136" /><Relationship Type="http://schemas.openxmlformats.org/officeDocument/2006/relationships/slide" Target="/ppt/slides/slide18.xml" Id="R522bb85c87434120" /><Relationship Type="http://schemas.openxmlformats.org/officeDocument/2006/relationships/slide" Target="/ppt/slides/slide19.xml" Id="R7e906aa277944139" /><Relationship Type="http://schemas.openxmlformats.org/officeDocument/2006/relationships/slide" Target="/ppt/slides/slide20.xml" Id="R5a5060da75f244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Mission is timeless; vision is dated and measurable.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Lead with the metric that decides the meeting.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Call the single metric that proves the after state.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 evidence over stereotypes in every quadrant.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branch = one discussion thread; prune to ≤8.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Call the biggest emotion drop — that is the intervention.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Pillars are non-negotiable investments, not initiatives.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Center is the organising idea; ring tiles are facets.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Legend carries the insight; the disc is orientation only.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You cannot skip a stair — name the exit criteria per step.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items need an owner before the meeting ends.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Tie each metric to one owner and one review cadence.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Exactly one A per row; R does the work.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Name what breaks if any single piece is missing.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Top-right cells need owners this week.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cee92ad3547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35ae2c3964b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3e697db6142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3849b857949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e1766d4794ab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793ec54be384f1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404a85cc9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57de589a04441" /><Relationship Type="http://schemas.openxmlformats.org/officeDocument/2006/relationships/notesSlide" Target="/ppt/notesSlides/notesSlide1.xml" Id="R0ba1e320e1d343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eaec474234e61" /><Relationship Type="http://schemas.openxmlformats.org/officeDocument/2006/relationships/notesSlide" Target="/ppt/notesSlides/notesSlide2.xml" Id="R694462049f9e4e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951c5a82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a21cdba314e28" /><Relationship Type="http://schemas.openxmlformats.org/officeDocument/2006/relationships/notesSlide" Target="/ppt/notesSlides/notesSlide3.xml" Id="R66c0ce77fd15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0a91d3be6482e" /><Relationship Type="http://schemas.openxmlformats.org/officeDocument/2006/relationships/notesSlide" Target="/ppt/notesSlides/notesSlide4.xml" Id="R4488912f503748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ae1f7b934425f" /><Relationship Type="http://schemas.openxmlformats.org/officeDocument/2006/relationships/notesSlide" Target="/ppt/notesSlides/notesSlide5.xml" Id="Re4e01d2bceee4c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8b1c1fcca415f" /><Relationship Type="http://schemas.openxmlformats.org/officeDocument/2006/relationships/notesSlide" Target="/ppt/notesSlides/notesSlide6.xml" Id="R42c10745131240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9d8a233648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f53bcd24640dc" /><Relationship Type="http://schemas.openxmlformats.org/officeDocument/2006/relationships/notesSlide" Target="/ppt/notesSlides/notesSlide7.xml" Id="Rabdf65f0ab944e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1be5ab1c54d65" /><Relationship Type="http://schemas.openxmlformats.org/officeDocument/2006/relationships/notesSlide" Target="/ppt/notesSlides/notesSlide8.xml" Id="Rc8523354a52546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6eba756cd4eb2" /><Relationship Type="http://schemas.openxmlformats.org/officeDocument/2006/relationships/notesSlide" Target="/ppt/notesSlides/notesSlide9.xml" Id="Rb549eada17564e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61d41cade41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0bda74b3b4e04" /><Relationship Type="http://schemas.openxmlformats.org/officeDocument/2006/relationships/notesSlide" Target="/ppt/notesSlides/notesSlide10.xml" Id="R6152d26395e348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51be6257d477e" /><Relationship Type="http://schemas.openxmlformats.org/officeDocument/2006/relationships/notesSlide" Target="/ppt/notesSlides/notesSlide11.xml" Id="Rb63a44edf6d94f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ed0004d0a41b0" /><Relationship Type="http://schemas.openxmlformats.org/officeDocument/2006/relationships/notesSlide" Target="/ppt/notesSlides/notesSlide12.xml" Id="Red774d6950ca4d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a8778a89e4e5c" /><Relationship Type="http://schemas.openxmlformats.org/officeDocument/2006/relationships/notesSlide" Target="/ppt/notesSlides/notesSlide13.xml" Id="R0198856b23ac45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e70ba12d04453" /><Relationship Type="http://schemas.openxmlformats.org/officeDocument/2006/relationships/notesSlide" Target="/ppt/notesSlides/notesSlide14.xml" Id="R8544bb56314948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2f5b46ee841e8" /><Relationship Type="http://schemas.openxmlformats.org/officeDocument/2006/relationships/notesSlide" Target="/ppt/notesSlides/notesSlide15.xml" Id="Rf361960834d640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756e7d9da4d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00" name="CoverTitle"/>
          <p:cNvSpPr txBox="1"/>
          <p:nvPr/>
        </p:nvSpPr>
        <p:spPr>
          <a:xfrm xmlns:a="http://schemas.openxmlformats.org/drawingml/2006/main">
            <a:off x="457200" y="2520000"/>
            <a:ext cx="112788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F5F5F7"/>
                </a:solidFill>
                <a:latin typeface="Arial"/>
                <a:ea typeface="Arial"/>
              </a:rPr>
              <a:t>designmd-pptx</a:t>
            </a:r>
          </a:p>
        </p:txBody>
      </p:sp>
      <p:sp>
        <p:nvSpPr>
          <p:cNvPr id="100001" name="CoverSubtitle"/>
          <p:cNvSpPr txBox="1"/>
          <p:nvPr/>
        </p:nvSpPr>
        <p:spPr>
          <a:xfrm xmlns:a="http://schemas.openxmlformats.org/drawingml/2006/main">
            <a:off x="457200" y="3744000"/>
            <a:ext cx="112788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Compile brand design into precise PowerPoint</a:t>
            </a:r>
          </a:p>
        </p:txBody>
      </p:sp>
      <p:sp>
        <p:nvSpPr>
          <p:cNvPr id="100002" name="CoverMeta"/>
          <p:cNvSpPr txBox="1"/>
          <p:nvPr/>
        </p:nvSpPr>
        <p:spPr>
          <a:xfrm xmlns:a="http://schemas.openxmlformats.org/drawingml/2006/main">
            <a:off x="457200" y="5940000"/>
            <a:ext cx="1127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A0A6B0"/>
                </a:solidFill>
                <a:latin typeface="Calibri"/>
                <a:ea typeface="Calibri"/>
              </a:rPr>
              <a:t>v2.1.2  ·  Apple Keynote style  ·  20 slides</a:t>
            </a:r>
          </a:p>
        </p:txBody>
      </p:sp>
      <p:sp>
        <p:nvSpPr>
          <p:cNvPr id="100003" name="CoverAccent"/>
          <p:cNvSpPr/>
          <p:nvPr/>
        </p:nvSpPr>
        <p:spPr>
          <a:xfrm xmlns:a="http://schemas.openxmlformats.org/drawingml/2006/main">
            <a:off x="5198400" y="3636000"/>
            <a:ext cx="180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04" name="MV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North star</a:t>
            </a:r>
          </a:p>
        </p:txBody>
      </p:sp>
      <p:sp>
        <p:nvSpPr>
          <p:cNvPr id="100005" name="MVPanel1"/>
          <p:cNvSpPr/>
          <p:nvPr/>
        </p:nvSpPr>
        <p:spPr>
          <a:xfrm xmlns:a="http://schemas.openxmlformats.org/drawingml/2006/main">
            <a:off x="457200" y="1368000"/>
            <a:ext cx="5547600" cy="48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MVLab1"/>
          <p:cNvSpPr txBox="1"/>
          <p:nvPr/>
        </p:nvSpPr>
        <p:spPr>
          <a:xfrm xmlns:a="http://schemas.openxmlformats.org/drawingml/2006/main">
            <a:off x="745200" y="1656000"/>
            <a:ext cx="49716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Mission</a:t>
            </a:r>
          </a:p>
        </p:txBody>
      </p:sp>
      <p:sp>
        <p:nvSpPr>
          <p:cNvPr id="100007" name="MVBody1"/>
          <p:cNvSpPr txBox="1"/>
          <p:nvPr/>
        </p:nvSpPr>
        <p:spPr>
          <a:xfrm xmlns:a="http://schemas.openxmlformats.org/drawingml/2006/main">
            <a:off x="745200" y="2304000"/>
            <a:ext cx="49716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5F5F7"/>
                </a:solidFill>
                <a:latin typeface="Calibri"/>
                <a:ea typeface="Calibri"/>
              </a:rPr>
              <a:t>Make every brand deck as sharp as the product it sells — from DESIGN.md to OfficeCLI tokens, recipes, and staging-safe apply.</a:t>
            </a:r>
          </a:p>
        </p:txBody>
      </p:sp>
      <p:sp>
        <p:nvSpPr>
          <p:cNvPr id="100008" name="MVPanel2"/>
          <p:cNvSpPr/>
          <p:nvPr/>
        </p:nvSpPr>
        <p:spPr>
          <a:xfrm xmlns:a="http://schemas.openxmlformats.org/drawingml/2006/main">
            <a:off x="6184800" y="1368000"/>
            <a:ext cx="5547600" cy="48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MVLab2"/>
          <p:cNvSpPr txBox="1"/>
          <p:nvPr/>
        </p:nvSpPr>
        <p:spPr>
          <a:xfrm xmlns:a="http://schemas.openxmlformats.org/drawingml/2006/main">
            <a:off x="6472800" y="1656000"/>
            <a:ext cx="49716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Arial"/>
                <a:ea typeface="Arial"/>
              </a:rPr>
              <a:t>Vision</a:t>
            </a:r>
          </a:p>
        </p:txBody>
      </p:sp>
      <p:sp>
        <p:nvSpPr>
          <p:cNvPr id="100010" name="MVBody2"/>
          <p:cNvSpPr txBox="1"/>
          <p:nvPr/>
        </p:nvSpPr>
        <p:spPr>
          <a:xfrm xmlns:a="http://schemas.openxmlformats.org/drawingml/2006/main">
            <a:off x="6472800" y="2304000"/>
            <a:ext cx="49716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Every team ships DESIGN.md-native slides with agent skill routing, without designers trapped in pixel push.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11" name="IconStat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At a glance</a:t>
            </a:r>
          </a:p>
        </p:txBody>
      </p:sp>
      <p:sp>
        <p:nvSpPr>
          <p:cNvPr id="100012" name="IconStatChip1"/>
          <p:cNvSpPr/>
          <p:nvPr/>
        </p:nvSpPr>
        <p:spPr>
          <a:xfrm xmlns:a="http://schemas.openxmlformats.org/drawingml/2006/main">
            <a:off x="1404000" y="15120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100013" name="IconStatVal1"/>
          <p:cNvSpPr txBox="1"/>
          <p:nvPr/>
        </p:nvSpPr>
        <p:spPr>
          <a:xfrm xmlns:a="http://schemas.openxmlformats.org/drawingml/2006/main">
            <a:off x="457200" y="2448000"/>
            <a:ext cx="26136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5F5F7"/>
                </a:solidFill>
                <a:latin typeface="Arial"/>
                <a:ea typeface="Arial"/>
              </a:rPr>
              <a:t>75</a:t>
            </a:r>
          </a:p>
        </p:txBody>
      </p:sp>
      <p:sp>
        <p:nvSpPr>
          <p:cNvPr id="100014" name="IconStatLabel1"/>
          <p:cNvSpPr txBox="1"/>
          <p:nvPr/>
        </p:nvSpPr>
        <p:spPr>
          <a:xfrm xmlns:a="http://schemas.openxmlformats.org/drawingml/2006/main">
            <a:off x="457200" y="3384000"/>
            <a:ext cx="2613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Recipe builders</a:t>
            </a:r>
          </a:p>
        </p:txBody>
      </p:sp>
      <p:sp>
        <p:nvSpPr>
          <p:cNvPr id="100015" name="IconStatChip2"/>
          <p:cNvSpPr/>
          <p:nvPr/>
        </p:nvSpPr>
        <p:spPr>
          <a:xfrm xmlns:a="http://schemas.openxmlformats.org/drawingml/2006/main">
            <a:off x="4291200" y="15120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W</a:t>
            </a:r>
          </a:p>
        </p:txBody>
      </p:sp>
      <p:sp>
        <p:nvSpPr>
          <p:cNvPr id="100016" name="IconStatVal2"/>
          <p:cNvSpPr txBox="1"/>
          <p:nvPr/>
        </p:nvSpPr>
        <p:spPr>
          <a:xfrm xmlns:a="http://schemas.openxmlformats.org/drawingml/2006/main">
            <a:off x="3344400" y="2448000"/>
            <a:ext cx="26136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5F5F7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100017" name="IconStatLabel2"/>
          <p:cNvSpPr txBox="1"/>
          <p:nvPr/>
        </p:nvSpPr>
        <p:spPr>
          <a:xfrm xmlns:a="http://schemas.openxmlformats.org/drawingml/2006/main">
            <a:off x="3344400" y="3384000"/>
            <a:ext cx="2613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Wave 4 roles</a:t>
            </a:r>
          </a:p>
        </p:txBody>
      </p:sp>
      <p:sp>
        <p:nvSpPr>
          <p:cNvPr id="100018" name="IconStatChip3"/>
          <p:cNvSpPr/>
          <p:nvPr/>
        </p:nvSpPr>
        <p:spPr>
          <a:xfrm xmlns:a="http://schemas.openxmlformats.org/drawingml/2006/main">
            <a:off x="7182000" y="15120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B</a:t>
            </a:r>
          </a:p>
        </p:txBody>
      </p:sp>
      <p:sp>
        <p:nvSpPr>
          <p:cNvPr id="100019" name="IconStatVal3"/>
          <p:cNvSpPr txBox="1"/>
          <p:nvPr/>
        </p:nvSpPr>
        <p:spPr>
          <a:xfrm xmlns:a="http://schemas.openxmlformats.org/drawingml/2006/main">
            <a:off x="6231600" y="2448000"/>
            <a:ext cx="26136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5F5F7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020" name="IconStatLabel3"/>
          <p:cNvSpPr txBox="1"/>
          <p:nvPr/>
        </p:nvSpPr>
        <p:spPr>
          <a:xfrm xmlns:a="http://schemas.openxmlformats.org/drawingml/2006/main">
            <a:off x="6231600" y="3384000"/>
            <a:ext cx="2613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OfficeCLI backends</a:t>
            </a:r>
          </a:p>
        </p:txBody>
      </p:sp>
      <p:sp>
        <p:nvSpPr>
          <p:cNvPr id="100021" name="IconStatChip4"/>
          <p:cNvSpPr/>
          <p:nvPr/>
        </p:nvSpPr>
        <p:spPr>
          <a:xfrm xmlns:a="http://schemas.openxmlformats.org/drawingml/2006/main">
            <a:off x="10069200" y="15120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100022" name="IconStatVal4"/>
          <p:cNvSpPr txBox="1"/>
          <p:nvPr/>
        </p:nvSpPr>
        <p:spPr>
          <a:xfrm xmlns:a="http://schemas.openxmlformats.org/drawingml/2006/main">
            <a:off x="9122400" y="2448000"/>
            <a:ext cx="26136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5F5F7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23" name="IconStatLabel4"/>
          <p:cNvSpPr txBox="1"/>
          <p:nvPr/>
        </p:nvSpPr>
        <p:spPr>
          <a:xfrm xmlns:a="http://schemas.openxmlformats.org/drawingml/2006/main">
            <a:off x="9122400" y="3384000"/>
            <a:ext cx="2613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Agent platforms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24" name="OpenerAccentBar"/>
          <p:cNvSpPr/>
          <p:nvPr/>
        </p:nvSpPr>
        <p:spPr>
          <a:xfrm xmlns:a="http://schemas.openxmlformats.org/drawingml/2006/main">
            <a:off x="457200" y="2304000"/>
            <a:ext cx="396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OpenerNumber"/>
          <p:cNvSpPr txBox="1"/>
          <p:nvPr/>
        </p:nvSpPr>
        <p:spPr>
          <a:xfrm xmlns:a="http://schemas.openxmlformats.org/drawingml/2006/main">
            <a:off x="1033200" y="2088000"/>
            <a:ext cx="288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0B5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26" name="OpenerTitle"/>
          <p:cNvSpPr txBox="1"/>
          <p:nvPr/>
        </p:nvSpPr>
        <p:spPr>
          <a:xfrm xmlns:a="http://schemas.openxmlformats.org/drawingml/2006/main">
            <a:off x="1033200" y="3024000"/>
            <a:ext cx="107028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The problem</a:t>
            </a:r>
          </a:p>
        </p:txBody>
      </p:sp>
      <p:sp>
        <p:nvSpPr>
          <p:cNvPr id="100027" name="OpenerBlurb"/>
          <p:cNvSpPr txBox="1"/>
          <p:nvPr/>
        </p:nvSpPr>
        <p:spPr>
          <a:xfrm xmlns:a="http://schemas.openxmlformats.org/drawingml/2006/main">
            <a:off x="1033200" y="4068000"/>
            <a:ext cx="792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Brand systems live in DESIGN.md. Decks still ship as one-off slides.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28" name="Ba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From friction to floor</a:t>
            </a:r>
          </a:p>
        </p:txBody>
      </p:sp>
      <p:sp>
        <p:nvSpPr>
          <p:cNvPr id="100029" name="BaPanel1"/>
          <p:cNvSpPr/>
          <p:nvPr/>
        </p:nvSpPr>
        <p:spPr>
          <a:xfrm xmlns:a="http://schemas.openxmlformats.org/drawingml/2006/main">
            <a:off x="457200" y="1260000"/>
            <a:ext cx="5547600" cy="49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BaHead1"/>
          <p:cNvSpPr txBox="1"/>
          <p:nvPr/>
        </p:nvSpPr>
        <p:spPr>
          <a:xfrm xmlns:a="http://schemas.openxmlformats.org/drawingml/2006/main">
            <a:off x="637200" y="1440000"/>
            <a:ext cx="51876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Before</a:t>
            </a:r>
          </a:p>
        </p:txBody>
      </p:sp>
      <p:sp>
        <p:nvSpPr>
          <p:cNvPr id="100031" name="BaBody1"/>
          <p:cNvSpPr txBox="1"/>
          <p:nvPr/>
        </p:nvSpPr>
        <p:spPr>
          <a:xfrm xmlns:a="http://schemas.openxmlformats.org/drawingml/2006/main">
            <a:off x="637200" y="2088000"/>
            <a:ext cx="5187600" cy="3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Hand-built decks. Drifted brand. No gates. Agents invent layouts.</a:t>
            </a:r>
          </a:p>
        </p:txBody>
      </p:sp>
      <p:sp>
        <p:nvSpPr>
          <p:cNvPr id="100032" name="BaPanel2"/>
          <p:cNvSpPr/>
          <p:nvPr/>
        </p:nvSpPr>
        <p:spPr>
          <a:xfrm xmlns:a="http://schemas.openxmlformats.org/drawingml/2006/main">
            <a:off x="6184800" y="1260000"/>
            <a:ext cx="5547600" cy="49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BaHead2"/>
          <p:cNvSpPr txBox="1"/>
          <p:nvPr/>
        </p:nvSpPr>
        <p:spPr>
          <a:xfrm xmlns:a="http://schemas.openxmlformats.org/drawingml/2006/main">
            <a:off x="6364800" y="1440000"/>
            <a:ext cx="51876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Arial"/>
                <a:ea typeface="Arial"/>
              </a:rPr>
              <a:t>After</a:t>
            </a:r>
          </a:p>
        </p:txBody>
      </p:sp>
      <p:sp>
        <p:nvSpPr>
          <p:cNvPr id="100034" name="BaBody2"/>
          <p:cNvSpPr txBox="1"/>
          <p:nvPr/>
        </p:nvSpPr>
        <p:spPr>
          <a:xfrm xmlns:a="http://schemas.openxmlformats.org/drawingml/2006/main">
            <a:off x="6364800" y="2088000"/>
            <a:ext cx="5187600" cy="3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Compiled tokens. Recipe catalog. CJK-aware budgets. Gate 3 screenshots.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35" name="Emp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Who we serve</a:t>
            </a:r>
          </a:p>
        </p:txBody>
      </p:sp>
      <p:sp>
        <p:nvSpPr>
          <p:cNvPr id="100036" name="EmpQ1"/>
          <p:cNvSpPr/>
          <p:nvPr/>
        </p:nvSpPr>
        <p:spPr>
          <a:xfrm xmlns:a="http://schemas.openxmlformats.org/drawingml/2006/main">
            <a:off x="457200" y="1260000"/>
            <a:ext cx="55764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EmpLab1"/>
          <p:cNvSpPr txBox="1"/>
          <p:nvPr/>
        </p:nvSpPr>
        <p:spPr>
          <a:xfrm xmlns:a="http://schemas.openxmlformats.org/drawingml/2006/main">
            <a:off x="601200" y="1368000"/>
            <a:ext cx="5288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Says</a:t>
            </a:r>
          </a:p>
        </p:txBody>
      </p:sp>
      <p:sp>
        <p:nvSpPr>
          <p:cNvPr id="100038" name="EmpBody1"/>
          <p:cNvSpPr txBox="1"/>
          <p:nvPr/>
        </p:nvSpPr>
        <p:spPr>
          <a:xfrm xmlns:a="http://schemas.openxmlformats.org/drawingml/2006/main">
            <a:off x="601200" y="1800000"/>
            <a:ext cx="52884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• Ship by Friday</a:t>
            </a:r>
          </a:p>
        </p:txBody>
      </p:sp>
      <p:sp>
        <p:nvSpPr>
          <p:cNvPr id="100039" name="EmpQ2"/>
          <p:cNvSpPr/>
          <p:nvPr/>
        </p:nvSpPr>
        <p:spPr>
          <a:xfrm xmlns:a="http://schemas.openxmlformats.org/drawingml/2006/main">
            <a:off x="6159600" y="1260000"/>
            <a:ext cx="55764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EmpLab2"/>
          <p:cNvSpPr txBox="1"/>
          <p:nvPr/>
        </p:nvSpPr>
        <p:spPr>
          <a:xfrm xmlns:a="http://schemas.openxmlformats.org/drawingml/2006/main">
            <a:off x="6303600" y="1368000"/>
            <a:ext cx="5288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Thinks</a:t>
            </a:r>
          </a:p>
        </p:txBody>
      </p:sp>
      <p:sp>
        <p:nvSpPr>
          <p:cNvPr id="100041" name="EmpBody2"/>
          <p:cNvSpPr txBox="1"/>
          <p:nvPr/>
        </p:nvSpPr>
        <p:spPr>
          <a:xfrm xmlns:a="http://schemas.openxmlformats.org/drawingml/2006/main">
            <a:off x="6303600" y="1800000"/>
            <a:ext cx="52884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• Will fonts shrink?</a:t>
            </a:r>
          </a:p>
        </p:txBody>
      </p:sp>
      <p:sp>
        <p:nvSpPr>
          <p:cNvPr id="100042" name="EmpQ3"/>
          <p:cNvSpPr/>
          <p:nvPr/>
        </p:nvSpPr>
        <p:spPr>
          <a:xfrm xmlns:a="http://schemas.openxmlformats.org/drawingml/2006/main">
            <a:off x="457200" y="3402000"/>
            <a:ext cx="55764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EmpLab3"/>
          <p:cNvSpPr txBox="1"/>
          <p:nvPr/>
        </p:nvSpPr>
        <p:spPr>
          <a:xfrm xmlns:a="http://schemas.openxmlformats.org/drawingml/2006/main">
            <a:off x="601200" y="3510000"/>
            <a:ext cx="5288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Does</a:t>
            </a:r>
          </a:p>
        </p:txBody>
      </p:sp>
      <p:sp>
        <p:nvSpPr>
          <p:cNvPr id="100044" name="EmpBody3"/>
          <p:cNvSpPr txBox="1"/>
          <p:nvPr/>
        </p:nvSpPr>
        <p:spPr>
          <a:xfrm xmlns:a="http://schemas.openxmlformats.org/drawingml/2006/main">
            <a:off x="601200" y="3942000"/>
            <a:ext cx="52884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• Brief → scaffold</a:t>
            </a:r>
          </a:p>
        </p:txBody>
      </p:sp>
      <p:sp>
        <p:nvSpPr>
          <p:cNvPr id="100045" name="EmpQ4"/>
          <p:cNvSpPr/>
          <p:nvPr/>
        </p:nvSpPr>
        <p:spPr>
          <a:xfrm xmlns:a="http://schemas.openxmlformats.org/drawingml/2006/main">
            <a:off x="6159600" y="3402000"/>
            <a:ext cx="55764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EmpLab4"/>
          <p:cNvSpPr txBox="1"/>
          <p:nvPr/>
        </p:nvSpPr>
        <p:spPr>
          <a:xfrm xmlns:a="http://schemas.openxmlformats.org/drawingml/2006/main">
            <a:off x="6303600" y="3510000"/>
            <a:ext cx="5288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Feels</a:t>
            </a:r>
          </a:p>
        </p:txBody>
      </p:sp>
      <p:sp>
        <p:nvSpPr>
          <p:cNvPr id="100047" name="EmpBody4"/>
          <p:cNvSpPr txBox="1"/>
          <p:nvPr/>
        </p:nvSpPr>
        <p:spPr>
          <a:xfrm xmlns:a="http://schemas.openxmlformats.org/drawingml/2006/main">
            <a:off x="6303600" y="3942000"/>
            <a:ext cx="52884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• Time-poor</a:t>
            </a:r>
          </a:p>
        </p:txBody>
      </p:sp>
      <p:sp>
        <p:nvSpPr>
          <p:cNvPr id="100048" name="EmpUser"/>
          <p:cNvSpPr/>
          <p:nvPr/>
        </p:nvSpPr>
        <p:spPr>
          <a:xfrm xmlns:a="http://schemas.openxmlformats.org/drawingml/2006/main">
            <a:off x="5184000" y="3096000"/>
            <a:ext cx="180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Design lead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49" name="Mind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What the toolkit covers</a:t>
            </a:r>
          </a:p>
        </p:txBody>
      </p:sp>
      <p:sp>
        <p:nvSpPr>
          <p:cNvPr id="100050" name="MindHub"/>
          <p:cNvSpPr/>
          <p:nvPr/>
        </p:nvSpPr>
        <p:spPr>
          <a:xfrm xmlns:a="http://schemas.openxmlformats.org/drawingml/2006/main">
            <a:off x="5004000" y="3384000"/>
            <a:ext cx="2160000" cy="12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  <a:latin typeface="Arial"/>
                <a:ea typeface="Arial"/>
              </a:rPr>
              <a:t>designmd</a:t>
            </a:r>
          </a:p>
        </p:txBody>
      </p:sp>
      <p:sp>
        <p:nvSpPr>
          <p:cNvPr id="100051" name="MindBranch1"/>
          <p:cNvSpPr/>
          <p:nvPr/>
        </p:nvSpPr>
        <p:spPr>
          <a:xfrm xmlns:a="http://schemas.openxmlformats.org/drawingml/2006/main">
            <a:off x="5076000" y="20700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Compile</a:t>
            </a:r>
          </a:p>
        </p:txBody>
      </p:sp>
      <p:sp>
        <p:nvSpPr>
          <p:cNvPr id="100052" name="MindBranch2"/>
          <p:cNvSpPr/>
          <p:nvPr/>
        </p:nvSpPr>
        <p:spPr>
          <a:xfrm xmlns:a="http://schemas.openxmlformats.org/drawingml/2006/main">
            <a:off x="7070400" y="28512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Compose</a:t>
            </a:r>
          </a:p>
        </p:txBody>
      </p:sp>
      <p:sp>
        <p:nvSpPr>
          <p:cNvPr id="100053" name="MindBranch3"/>
          <p:cNvSpPr/>
          <p:nvPr/>
        </p:nvSpPr>
        <p:spPr>
          <a:xfrm xmlns:a="http://schemas.openxmlformats.org/drawingml/2006/main">
            <a:off x="7070400" y="44208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Recipes</a:t>
            </a:r>
          </a:p>
        </p:txBody>
      </p:sp>
      <p:sp>
        <p:nvSpPr>
          <p:cNvPr id="100054" name="MindBranch4"/>
          <p:cNvSpPr/>
          <p:nvPr/>
        </p:nvSpPr>
        <p:spPr>
          <a:xfrm xmlns:a="http://schemas.openxmlformats.org/drawingml/2006/main">
            <a:off x="5076000" y="52020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Apply</a:t>
            </a:r>
          </a:p>
        </p:txBody>
      </p:sp>
      <p:sp>
        <p:nvSpPr>
          <p:cNvPr id="100055" name="MindBranch5"/>
          <p:cNvSpPr/>
          <p:nvPr/>
        </p:nvSpPr>
        <p:spPr>
          <a:xfrm xmlns:a="http://schemas.openxmlformats.org/drawingml/2006/main">
            <a:off x="3081600" y="44208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Restyle</a:t>
            </a:r>
          </a:p>
        </p:txBody>
      </p:sp>
      <p:sp>
        <p:nvSpPr>
          <p:cNvPr id="100056" name="MindBranch6"/>
          <p:cNvSpPr/>
          <p:nvPr/>
        </p:nvSpPr>
        <p:spPr>
          <a:xfrm xmlns:a="http://schemas.openxmlformats.org/drawingml/2006/main">
            <a:off x="3081600" y="2851200"/>
            <a:ext cx="2016000" cy="79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Doctor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57" name="Journey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Authoring journey</a:t>
            </a:r>
          </a:p>
        </p:txBody>
      </p:sp>
      <p:sp>
        <p:nvSpPr>
          <p:cNvPr id="100058" name="JourneyLane0"/>
          <p:cNvSpPr txBox="1"/>
          <p:nvPr/>
        </p:nvSpPr>
        <p:spPr>
          <a:xfrm xmlns:a="http://schemas.openxmlformats.org/drawingml/2006/main">
            <a:off x="457200" y="2700000"/>
            <a:ext cx="93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A0A6B0"/>
                </a:solidFill>
                <a:latin typeface="Calibri"/>
                <a:ea typeface="Calibri"/>
              </a:rPr>
              <a:t>Action</a:t>
            </a:r>
          </a:p>
        </p:txBody>
      </p:sp>
      <p:sp>
        <p:nvSpPr>
          <p:cNvPr id="100059" name="JourneyLane1"/>
          <p:cNvSpPr txBox="1"/>
          <p:nvPr/>
        </p:nvSpPr>
        <p:spPr>
          <a:xfrm xmlns:a="http://schemas.openxmlformats.org/drawingml/2006/main">
            <a:off x="457200" y="4680000"/>
            <a:ext cx="93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A0A6B0"/>
                </a:solidFill>
                <a:latin typeface="Calibri"/>
                <a:ea typeface="Calibri"/>
              </a:rPr>
              <a:t>Emotion</a:t>
            </a:r>
          </a:p>
        </p:txBody>
      </p:sp>
      <p:sp>
        <p:nvSpPr>
          <p:cNvPr id="100060" name="JourneyHead1"/>
          <p:cNvSpPr/>
          <p:nvPr/>
        </p:nvSpPr>
        <p:spPr>
          <a:xfrm xmlns:a="http://schemas.openxmlformats.org/drawingml/2006/main">
            <a:off x="1483200" y="1296000"/>
            <a:ext cx="1760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Brief</a:t>
            </a:r>
          </a:p>
        </p:txBody>
      </p:sp>
      <p:sp>
        <p:nvSpPr>
          <p:cNvPr id="100061" name="JourneyAct1"/>
          <p:cNvSpPr/>
          <p:nvPr/>
        </p:nvSpPr>
        <p:spPr>
          <a:xfrm xmlns:a="http://schemas.openxmlformats.org/drawingml/2006/main">
            <a:off x="1483200" y="2160000"/>
            <a:ext cx="1760400" cy="18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Markdown</a:t>
            </a:r>
          </a:p>
        </p:txBody>
      </p:sp>
      <p:sp>
        <p:nvSpPr>
          <p:cNvPr id="100062" name="JourneyEmo1"/>
          <p:cNvSpPr/>
          <p:nvPr/>
        </p:nvSpPr>
        <p:spPr>
          <a:xfrm xmlns:a="http://schemas.openxmlformats.org/drawingml/2006/main">
            <a:off x="1483200" y="4176000"/>
            <a:ext cx="17604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F5F5F7"/>
                </a:solidFill>
                <a:latin typeface="Calibri"/>
                <a:ea typeface="Calibri"/>
              </a:rPr>
              <a:t>curious</a:t>
            </a:r>
          </a:p>
        </p:txBody>
      </p:sp>
      <p:sp>
        <p:nvSpPr>
          <p:cNvPr id="100063" name="JourneyHead2"/>
          <p:cNvSpPr/>
          <p:nvPr/>
        </p:nvSpPr>
        <p:spPr>
          <a:xfrm xmlns:a="http://schemas.openxmlformats.org/drawingml/2006/main">
            <a:off x="3351600" y="1296000"/>
            <a:ext cx="1760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Compose</a:t>
            </a:r>
          </a:p>
        </p:txBody>
      </p:sp>
      <p:sp>
        <p:nvSpPr>
          <p:cNvPr id="100064" name="JourneyAct2"/>
          <p:cNvSpPr/>
          <p:nvPr/>
        </p:nvSpPr>
        <p:spPr>
          <a:xfrm xmlns:a="http://schemas.openxmlformats.org/drawingml/2006/main">
            <a:off x="3351600" y="2160000"/>
            <a:ext cx="1760400" cy="18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Deck-spec</a:t>
            </a:r>
          </a:p>
        </p:txBody>
      </p:sp>
      <p:sp>
        <p:nvSpPr>
          <p:cNvPr id="100065" name="JourneyEmo2"/>
          <p:cNvSpPr/>
          <p:nvPr/>
        </p:nvSpPr>
        <p:spPr>
          <a:xfrm xmlns:a="http://schemas.openxmlformats.org/drawingml/2006/main">
            <a:off x="3351600" y="4176000"/>
            <a:ext cx="17604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F5F5F7"/>
                </a:solidFill>
                <a:latin typeface="Calibri"/>
                <a:ea typeface="Calibri"/>
              </a:rPr>
              <a:t>focused</a:t>
            </a:r>
          </a:p>
        </p:txBody>
      </p:sp>
      <p:sp>
        <p:nvSpPr>
          <p:cNvPr id="100066" name="JourneyHead3"/>
          <p:cNvSpPr/>
          <p:nvPr/>
        </p:nvSpPr>
        <p:spPr>
          <a:xfrm xmlns:a="http://schemas.openxmlformats.org/drawingml/2006/main">
            <a:off x="5216400" y="1296000"/>
            <a:ext cx="1760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Scaffold</a:t>
            </a:r>
          </a:p>
        </p:txBody>
      </p:sp>
      <p:sp>
        <p:nvSpPr>
          <p:cNvPr id="100067" name="JourneyAct3"/>
          <p:cNvSpPr/>
          <p:nvPr/>
        </p:nvSpPr>
        <p:spPr>
          <a:xfrm xmlns:a="http://schemas.openxmlformats.org/drawingml/2006/main">
            <a:off x="5216400" y="2160000"/>
            <a:ext cx="1760400" cy="18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Tokens</a:t>
            </a:r>
          </a:p>
        </p:txBody>
      </p:sp>
      <p:sp>
        <p:nvSpPr>
          <p:cNvPr id="100068" name="JourneyEmo3"/>
          <p:cNvSpPr/>
          <p:nvPr/>
        </p:nvSpPr>
        <p:spPr>
          <a:xfrm xmlns:a="http://schemas.openxmlformats.org/drawingml/2006/main">
            <a:off x="5216400" y="4176000"/>
            <a:ext cx="17604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F5F5F7"/>
                </a:solidFill>
                <a:latin typeface="Calibri"/>
                <a:ea typeface="Calibri"/>
              </a:rPr>
              <a:t>confident</a:t>
            </a:r>
          </a:p>
        </p:txBody>
      </p:sp>
      <p:sp>
        <p:nvSpPr>
          <p:cNvPr id="100069" name="JourneyHead4"/>
          <p:cNvSpPr/>
          <p:nvPr/>
        </p:nvSpPr>
        <p:spPr>
          <a:xfrm xmlns:a="http://schemas.openxmlformats.org/drawingml/2006/main">
            <a:off x="7084800" y="1296000"/>
            <a:ext cx="1760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Apply</a:t>
            </a:r>
          </a:p>
        </p:txBody>
      </p:sp>
      <p:sp>
        <p:nvSpPr>
          <p:cNvPr id="100070" name="JourneyAct4"/>
          <p:cNvSpPr/>
          <p:nvPr/>
        </p:nvSpPr>
        <p:spPr>
          <a:xfrm xmlns:a="http://schemas.openxmlformats.org/drawingml/2006/main">
            <a:off x="7084800" y="2160000"/>
            <a:ext cx="1760400" cy="18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Precision</a:t>
            </a:r>
          </a:p>
        </p:txBody>
      </p:sp>
      <p:sp>
        <p:nvSpPr>
          <p:cNvPr id="100071" name="JourneyEmo4"/>
          <p:cNvSpPr/>
          <p:nvPr/>
        </p:nvSpPr>
        <p:spPr>
          <a:xfrm xmlns:a="http://schemas.openxmlformats.org/drawingml/2006/main">
            <a:off x="7084800" y="4176000"/>
            <a:ext cx="17604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F5F5F7"/>
                </a:solidFill>
                <a:latin typeface="Calibri"/>
                <a:ea typeface="Calibri"/>
              </a:rPr>
              <a:t>careful</a:t>
            </a:r>
          </a:p>
        </p:txBody>
      </p:sp>
      <p:sp>
        <p:nvSpPr>
          <p:cNvPr id="100072" name="JourneyHead5"/>
          <p:cNvSpPr/>
          <p:nvPr/>
        </p:nvSpPr>
        <p:spPr>
          <a:xfrm xmlns:a="http://schemas.openxmlformats.org/drawingml/2006/main">
            <a:off x="8949600" y="1296000"/>
            <a:ext cx="1760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Gate 3</a:t>
            </a:r>
          </a:p>
        </p:txBody>
      </p:sp>
      <p:sp>
        <p:nvSpPr>
          <p:cNvPr id="100073" name="JourneyAct5"/>
          <p:cNvSpPr/>
          <p:nvPr/>
        </p:nvSpPr>
        <p:spPr>
          <a:xfrm xmlns:a="http://schemas.openxmlformats.org/drawingml/2006/main">
            <a:off x="8949600" y="2160000"/>
            <a:ext cx="1760400" cy="18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F5F7"/>
                </a:solidFill>
                <a:latin typeface="Calibri"/>
                <a:ea typeface="Calibri"/>
              </a:rPr>
              <a:t>QA sheet</a:t>
            </a:r>
          </a:p>
        </p:txBody>
      </p:sp>
      <p:sp>
        <p:nvSpPr>
          <p:cNvPr id="100074" name="JourneyEmo5"/>
          <p:cNvSpPr/>
          <p:nvPr/>
        </p:nvSpPr>
        <p:spPr>
          <a:xfrm xmlns:a="http://schemas.openxmlformats.org/drawingml/2006/main">
            <a:off x="8949600" y="4176000"/>
            <a:ext cx="17604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F5F5F7"/>
                </a:solidFill>
                <a:latin typeface="Calibri"/>
                <a:ea typeface="Calibri"/>
              </a:rPr>
              <a:t>proud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75" name="OpenerAccentBar"/>
          <p:cNvSpPr/>
          <p:nvPr/>
        </p:nvSpPr>
        <p:spPr>
          <a:xfrm xmlns:a="http://schemas.openxmlformats.org/drawingml/2006/main">
            <a:off x="457200" y="2304000"/>
            <a:ext cx="396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6" name="OpenerNumber"/>
          <p:cNvSpPr txBox="1"/>
          <p:nvPr/>
        </p:nvSpPr>
        <p:spPr>
          <a:xfrm xmlns:a="http://schemas.openxmlformats.org/drawingml/2006/main">
            <a:off x="1033200" y="2088000"/>
            <a:ext cx="288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0B5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77" name="OpenerTitle"/>
          <p:cNvSpPr txBox="1"/>
          <p:nvPr/>
        </p:nvSpPr>
        <p:spPr>
          <a:xfrm xmlns:a="http://schemas.openxmlformats.org/drawingml/2006/main">
            <a:off x="1033200" y="3024000"/>
            <a:ext cx="107028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How it works</a:t>
            </a:r>
          </a:p>
        </p:txBody>
      </p:sp>
      <p:sp>
        <p:nvSpPr>
          <p:cNvPr id="100078" name="OpenerBlurb"/>
          <p:cNvSpPr txBox="1"/>
          <p:nvPr/>
        </p:nvSpPr>
        <p:spPr>
          <a:xfrm xmlns:a="http://schemas.openxmlformats.org/drawingml/2006/main">
            <a:off x="1033200" y="4068000"/>
            <a:ext cx="792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Two backends. One contract. Precision or draft — pick by need.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79" name="Pillar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Dual backends</a:t>
            </a:r>
          </a:p>
        </p:txBody>
      </p:sp>
      <p:sp>
        <p:nvSpPr>
          <p:cNvPr id="100080" name="Pillar1"/>
          <p:cNvSpPr/>
          <p:nvPr/>
        </p:nvSpPr>
        <p:spPr>
          <a:xfrm xmlns:a="http://schemas.openxmlformats.org/drawingml/2006/main">
            <a:off x="457200" y="1800000"/>
            <a:ext cx="3639600" cy="41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Legacy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Shape-level batch. DESIGN.md geometry. scaffold --apply · restyle · master · Gate 3.</a:t>
            </a:r>
          </a:p>
        </p:txBody>
      </p:sp>
      <p:sp>
        <p:nvSpPr>
          <p:cNvPr id="100081" name="Pillar2"/>
          <p:cNvSpPr/>
          <p:nvPr/>
        </p:nvSpPr>
        <p:spPr>
          <a:xfrm xmlns:a="http://schemas.openxmlformats.org/drawingml/2006/main">
            <a:off x="4276800" y="1944000"/>
            <a:ext cx="3639600" cy="39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Official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Agent-bridge JSON-RPC. office.render drafts. Version pin via doctor --install.</a:t>
            </a:r>
          </a:p>
        </p:txBody>
      </p:sp>
      <p:sp>
        <p:nvSpPr>
          <p:cNvPr id="100082" name="Pillar3"/>
          <p:cNvSpPr/>
          <p:nvPr/>
        </p:nvSpPr>
        <p:spPr>
          <a:xfrm xmlns:a="http://schemas.openxmlformats.org/drawingml/2006/main">
            <a:off x="8096400" y="2088000"/>
            <a:ext cx="3639600" cy="38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Offline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Compose, a11y, refine, generate, animate OOXML — no binary required.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83" name="Hex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Recipe families</a:t>
            </a:r>
          </a:p>
        </p:txBody>
      </p:sp>
      <p:sp>
        <p:nvSpPr>
          <p:cNvPr id="100084" name="Hex1"/>
          <p:cNvSpPr/>
          <p:nvPr/>
        </p:nvSpPr>
        <p:spPr>
          <a:xfrm xmlns:a="http://schemas.openxmlformats.org/drawingml/2006/main">
            <a:off x="4860000" y="31032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Calibri"/>
                <a:ea typeface="Calibri"/>
              </a:rPr>
              <a:t>Core</a:t>
            </a:r>
          </a:p>
        </p:txBody>
      </p:sp>
      <p:sp>
        <p:nvSpPr>
          <p:cNvPr id="100085" name="Hex2"/>
          <p:cNvSpPr/>
          <p:nvPr/>
        </p:nvSpPr>
        <p:spPr>
          <a:xfrm xmlns:a="http://schemas.openxmlformats.org/drawingml/2006/main">
            <a:off x="7084800" y="40500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KPI</a:t>
            </a:r>
          </a:p>
        </p:txBody>
      </p:sp>
      <p:sp>
        <p:nvSpPr>
          <p:cNvPr id="100086" name="Hex3"/>
          <p:cNvSpPr/>
          <p:nvPr/>
        </p:nvSpPr>
        <p:spPr>
          <a:xfrm xmlns:a="http://schemas.openxmlformats.org/drawingml/2006/main">
            <a:off x="4860000" y="50004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Process</a:t>
            </a:r>
          </a:p>
        </p:txBody>
      </p:sp>
      <p:sp>
        <p:nvSpPr>
          <p:cNvPr id="100087" name="Hex4"/>
          <p:cNvSpPr/>
          <p:nvPr/>
        </p:nvSpPr>
        <p:spPr>
          <a:xfrm xmlns:a="http://schemas.openxmlformats.org/drawingml/2006/main">
            <a:off x="2635200" y="40536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Matrix</a:t>
            </a:r>
          </a:p>
        </p:txBody>
      </p:sp>
      <p:sp>
        <p:nvSpPr>
          <p:cNvPr id="100088" name="Hex5"/>
          <p:cNvSpPr/>
          <p:nvPr/>
        </p:nvSpPr>
        <p:spPr>
          <a:xfrm xmlns:a="http://schemas.openxmlformats.org/drawingml/2006/main">
            <a:off x="2635200" y="21564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1</a:t>
            </a:r>
          </a:p>
        </p:txBody>
      </p:sp>
      <p:sp>
        <p:nvSpPr>
          <p:cNvPr id="100089" name="Hex6"/>
          <p:cNvSpPr/>
          <p:nvPr/>
        </p:nvSpPr>
        <p:spPr>
          <a:xfrm xmlns:a="http://schemas.openxmlformats.org/drawingml/2006/main">
            <a:off x="4860000" y="12060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2</a:t>
            </a:r>
          </a:p>
        </p:txBody>
      </p:sp>
      <p:sp>
        <p:nvSpPr>
          <p:cNvPr id="100090" name="Hex7"/>
          <p:cNvSpPr/>
          <p:nvPr/>
        </p:nvSpPr>
        <p:spPr>
          <a:xfrm xmlns:a="http://schemas.openxmlformats.org/drawingml/2006/main">
            <a:off x="7084800" y="2156400"/>
            <a:ext cx="2448000" cy="18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4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91" name="Circ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Catalog depth</a:t>
            </a:r>
          </a:p>
        </p:txBody>
      </p:sp>
      <p:sp>
        <p:nvSpPr>
          <p:cNvPr id="100092" name="CircDisc"/>
          <p:cNvSpPr/>
          <p:nvPr/>
        </p:nvSpPr>
        <p:spPr>
          <a:xfrm xmlns:a="http://schemas.openxmlformats.org/drawingml/2006/main">
            <a:off x="1260000" y="1800000"/>
            <a:ext cx="4320000" cy="43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CircHole"/>
          <p:cNvSpPr/>
          <p:nvPr/>
        </p:nvSpPr>
        <p:spPr>
          <a:xfrm xmlns:a="http://schemas.openxmlformats.org/drawingml/2006/main">
            <a:off x="2340000" y="2880000"/>
            <a:ext cx="2160000" cy="21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75</a:t>
            </a:r>
          </a:p>
        </p:txBody>
      </p:sp>
      <p:sp>
        <p:nvSpPr>
          <p:cNvPr id="100094" name="CircLeg1"/>
          <p:cNvSpPr/>
          <p:nvPr/>
        </p:nvSpPr>
        <p:spPr>
          <a:xfrm xmlns:a="http://schemas.openxmlformats.org/drawingml/2006/main">
            <a:off x="6480000" y="1440000"/>
            <a:ext cx="4860000" cy="70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Core</a:t>
            </a:r>
          </a:p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Cover · KPI · cards</a:t>
            </a:r>
          </a:p>
        </p:txBody>
      </p:sp>
      <p:sp>
        <p:nvSpPr>
          <p:cNvPr id="100095" name="CircLeg2"/>
          <p:cNvSpPr/>
          <p:nvPr/>
        </p:nvSpPr>
        <p:spPr>
          <a:xfrm xmlns:a="http://schemas.openxmlformats.org/drawingml/2006/main">
            <a:off x="6480000" y="2221200"/>
            <a:ext cx="4860000" cy="70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1</a:t>
            </a:r>
          </a:p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Full-family patterns</a:t>
            </a:r>
          </a:p>
        </p:txBody>
      </p:sp>
      <p:sp>
        <p:nvSpPr>
          <p:cNvPr id="100096" name="CircLeg3"/>
          <p:cNvSpPr/>
          <p:nvPr/>
        </p:nvSpPr>
        <p:spPr>
          <a:xfrm xmlns:a="http://schemas.openxmlformats.org/drawingml/2006/main">
            <a:off x="6480000" y="2998800"/>
            <a:ext cx="4860000" cy="70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2</a:t>
            </a:r>
          </a:p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Long-tail roles</a:t>
            </a:r>
          </a:p>
        </p:txBody>
      </p:sp>
      <p:sp>
        <p:nvSpPr>
          <p:cNvPr id="100097" name="CircLeg4"/>
          <p:cNvSpPr/>
          <p:nvPr/>
        </p:nvSpPr>
        <p:spPr>
          <a:xfrm xmlns:a="http://schemas.openxmlformats.org/drawingml/2006/main">
            <a:off x="6480000" y="3780000"/>
            <a:ext cx="4860000" cy="70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3</a:t>
            </a:r>
          </a:p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Vertical skins</a:t>
            </a:r>
          </a:p>
        </p:txBody>
      </p:sp>
      <p:sp>
        <p:nvSpPr>
          <p:cNvPr id="100098" name="CircLeg5"/>
          <p:cNvSpPr/>
          <p:nvPr/>
        </p:nvSpPr>
        <p:spPr>
          <a:xfrm xmlns:a="http://schemas.openxmlformats.org/drawingml/2006/main">
            <a:off x="6480000" y="4561200"/>
            <a:ext cx="4860000" cy="70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Wave 4</a:t>
            </a:r>
          </a:p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Infograpify roles</a:t>
            </a:r>
          </a:p>
        </p:txBody>
      </p:sp>
      <p:sp>
        <p:nvSpPr>
          <p:cNvPr id="100099" name="CircLeg6"/>
          <p:cNvSpPr/>
          <p:nvPr/>
        </p:nvSpPr>
        <p:spPr>
          <a:xfrm xmlns:a="http://schemas.openxmlformats.org/drawingml/2006/main">
            <a:off x="6480000" y="5338800"/>
            <a:ext cx="4860000" cy="70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Generate</a:t>
            </a:r>
          </a:p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Freeform keynote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00" name="FeatTitle"/>
          <p:cNvSpPr txBox="1"/>
          <p:nvPr/>
        </p:nvSpPr>
        <p:spPr>
          <a:xfrm xmlns:a="http://schemas.openxmlformats.org/drawingml/2006/main">
            <a:off x="457200" y="432000"/>
            <a:ext cx="11278800" cy="66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Infograpify structural roles</a:t>
            </a:r>
          </a:p>
        </p:txBody>
      </p:sp>
      <p:sp>
        <p:nvSpPr>
          <p:cNvPr id="100101" name="Card1Bg"/>
          <p:cNvSpPr/>
          <p:nvPr/>
        </p:nvSpPr>
        <p:spPr>
          <a:xfrm xmlns:a="http://schemas.openxmlformats.org/drawingml/2006/main">
            <a:off x="457200" y="1418400"/>
            <a:ext cx="3578400" cy="507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2" name="Card1Accent"/>
          <p:cNvSpPr/>
          <p:nvPr/>
        </p:nvSpPr>
        <p:spPr>
          <a:xfrm xmlns:a="http://schemas.openxmlformats.org/drawingml/2006/main">
            <a:off x="457200" y="1418400"/>
            <a:ext cx="35784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3" name="Card1Title"/>
          <p:cNvSpPr txBox="1"/>
          <p:nvPr/>
        </p:nvSpPr>
        <p:spPr>
          <a:xfrm xmlns:a="http://schemas.openxmlformats.org/drawingml/2006/main">
            <a:off x="673200" y="1843200"/>
            <a:ext cx="3146400" cy="53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Strategy</a:t>
            </a:r>
          </a:p>
        </p:txBody>
      </p:sp>
      <p:sp>
        <p:nvSpPr>
          <p:cNvPr id="100104" name="Card1Body"/>
          <p:cNvSpPr txBox="1"/>
          <p:nvPr/>
        </p:nvSpPr>
        <p:spPr>
          <a:xfrm xmlns:a="http://schemas.openxmlformats.org/drawingml/2006/main">
            <a:off x="673200" y="2556000"/>
            <a:ext cx="3146400" cy="372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PESTLE · scorecard · mission/vision · mindmap</a:t>
            </a:r>
          </a:p>
        </p:txBody>
      </p:sp>
      <p:sp>
        <p:nvSpPr>
          <p:cNvPr id="100105" name="Card2Bg"/>
          <p:cNvSpPr/>
          <p:nvPr/>
        </p:nvSpPr>
        <p:spPr>
          <a:xfrm xmlns:a="http://schemas.openxmlformats.org/drawingml/2006/main">
            <a:off x="4309200" y="1418400"/>
            <a:ext cx="3578400" cy="507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Card2Accent"/>
          <p:cNvSpPr/>
          <p:nvPr/>
        </p:nvSpPr>
        <p:spPr>
          <a:xfrm xmlns:a="http://schemas.openxmlformats.org/drawingml/2006/main">
            <a:off x="4309200" y="1418400"/>
            <a:ext cx="35784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7" name="Card2Title"/>
          <p:cNvSpPr txBox="1"/>
          <p:nvPr/>
        </p:nvSpPr>
        <p:spPr>
          <a:xfrm xmlns:a="http://schemas.openxmlformats.org/drawingml/2006/main">
            <a:off x="4525200" y="1843200"/>
            <a:ext cx="3146400" cy="53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Delivery</a:t>
            </a:r>
          </a:p>
        </p:txBody>
      </p:sp>
      <p:sp>
        <p:nvSpPr>
          <p:cNvPr id="100108" name="Card2Body"/>
          <p:cNvSpPr txBox="1"/>
          <p:nvPr/>
        </p:nvSpPr>
        <p:spPr>
          <a:xfrm xmlns:a="http://schemas.openxmlformats.org/drawingml/2006/main">
            <a:off x="4525200" y="2556000"/>
            <a:ext cx="3146400" cy="372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RACI · journey · stairs · checklist · pillars</a:t>
            </a:r>
          </a:p>
        </p:txBody>
      </p:sp>
      <p:sp>
        <p:nvSpPr>
          <p:cNvPr id="100109" name="Card3Bg"/>
          <p:cNvSpPr/>
          <p:nvPr/>
        </p:nvSpPr>
        <p:spPr>
          <a:xfrm xmlns:a="http://schemas.openxmlformats.org/drawingml/2006/main">
            <a:off x="8157600" y="1418400"/>
            <a:ext cx="3578400" cy="507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Card3Accent"/>
          <p:cNvSpPr/>
          <p:nvPr/>
        </p:nvSpPr>
        <p:spPr>
          <a:xfrm xmlns:a="http://schemas.openxmlformats.org/drawingml/2006/main">
            <a:off x="8157600" y="1418400"/>
            <a:ext cx="35784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1" name="Card3Title"/>
          <p:cNvSpPr txBox="1"/>
          <p:nvPr/>
        </p:nvSpPr>
        <p:spPr>
          <a:xfrm xmlns:a="http://schemas.openxmlformats.org/drawingml/2006/main">
            <a:off x="8373600" y="1843200"/>
            <a:ext cx="3146400" cy="53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Visual systems</a:t>
            </a:r>
          </a:p>
        </p:txBody>
      </p:sp>
      <p:sp>
        <p:nvSpPr>
          <p:cNvPr id="100112" name="Card3Body"/>
          <p:cNvSpPr txBox="1"/>
          <p:nvPr/>
        </p:nvSpPr>
        <p:spPr>
          <a:xfrm xmlns:a="http://schemas.openxmlformats.org/drawingml/2006/main">
            <a:off x="8373600" y="2556000"/>
            <a:ext cx="3146400" cy="372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Hex · puzzle · circle segments · risk heat · empathy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13" name="Stairs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Precision pipeline</a:t>
            </a:r>
          </a:p>
        </p:txBody>
      </p:sp>
      <p:sp>
        <p:nvSpPr>
          <p:cNvPr id="100114" name="Stair1"/>
          <p:cNvSpPr/>
          <p:nvPr/>
        </p:nvSpPr>
        <p:spPr>
          <a:xfrm xmlns:a="http://schemas.openxmlformats.org/drawingml/2006/main">
            <a:off x="493200" y="4788000"/>
            <a:ext cx="21852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1. DESIGN.md</a:t>
            </a:r>
          </a:p>
        </p:txBody>
      </p:sp>
      <p:sp>
        <p:nvSpPr>
          <p:cNvPr id="100115" name="Stair2"/>
          <p:cNvSpPr/>
          <p:nvPr/>
        </p:nvSpPr>
        <p:spPr>
          <a:xfrm xmlns:a="http://schemas.openxmlformats.org/drawingml/2006/main">
            <a:off x="2750400" y="3934800"/>
            <a:ext cx="2185200" cy="211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2. Tokens</a:t>
            </a:r>
          </a:p>
        </p:txBody>
      </p:sp>
      <p:sp>
        <p:nvSpPr>
          <p:cNvPr id="100116" name="Stair3"/>
          <p:cNvSpPr/>
          <p:nvPr/>
        </p:nvSpPr>
        <p:spPr>
          <a:xfrm xmlns:a="http://schemas.openxmlformats.org/drawingml/2006/main">
            <a:off x="5004000" y="3078000"/>
            <a:ext cx="2185200" cy="29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3. Recipes</a:t>
            </a:r>
          </a:p>
        </p:txBody>
      </p:sp>
      <p:sp>
        <p:nvSpPr>
          <p:cNvPr id="100117" name="Stair4"/>
          <p:cNvSpPr/>
          <p:nvPr/>
        </p:nvSpPr>
        <p:spPr>
          <a:xfrm xmlns:a="http://schemas.openxmlformats.org/drawingml/2006/main">
            <a:off x="7261200" y="2224800"/>
            <a:ext cx="2185200" cy="382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Calibri"/>
                <a:ea typeface="Calibri"/>
              </a:rPr>
              <a:t>4. Apply</a:t>
            </a:r>
          </a:p>
        </p:txBody>
      </p:sp>
      <p:sp>
        <p:nvSpPr>
          <p:cNvPr id="100118" name="Stair5"/>
          <p:cNvSpPr/>
          <p:nvPr/>
        </p:nvSpPr>
        <p:spPr>
          <a:xfrm xmlns:a="http://schemas.openxmlformats.org/drawingml/2006/main">
            <a:off x="9514800" y="1368000"/>
            <a:ext cx="21852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5. Gate 3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19" name="Check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Hard rules</a:t>
            </a:r>
          </a:p>
        </p:txBody>
      </p:sp>
      <p:sp>
        <p:nvSpPr>
          <p:cNvPr id="100120" name="CheckRow1"/>
          <p:cNvSpPr/>
          <p:nvPr/>
        </p:nvSpPr>
        <p:spPr>
          <a:xfrm xmlns:a="http://schemas.openxmlformats.org/drawingml/2006/main">
            <a:off x="457200" y="1296000"/>
            <a:ext cx="11278800" cy="6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Calibri"/>
                <a:ea typeface="Calibri"/>
              </a:rPr>
              <a:t>✓  Title ≥ 36pt · body ≥ 18pt</a:t>
            </a:r>
          </a:p>
        </p:txBody>
      </p:sp>
      <p:sp>
        <p:nvSpPr>
          <p:cNvPr id="100121" name="CheckRow2"/>
          <p:cNvSpPr/>
          <p:nvPr/>
        </p:nvSpPr>
        <p:spPr>
          <a:xfrm xmlns:a="http://schemas.openxmlformats.org/drawingml/2006/main">
            <a:off x="457200" y="1980000"/>
            <a:ext cx="11278800" cy="6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Calibri"/>
                <a:ea typeface="Calibri"/>
              </a:rPr>
              <a:t>✓  No silent truncation — shorten or split</a:t>
            </a:r>
          </a:p>
        </p:txBody>
      </p:sp>
      <p:sp>
        <p:nvSpPr>
          <p:cNvPr id="100122" name="CheckRow3"/>
          <p:cNvSpPr/>
          <p:nvPr/>
        </p:nvSpPr>
        <p:spPr>
          <a:xfrm xmlns:a="http://schemas.openxmlformats.org/drawingml/2006/main">
            <a:off x="457200" y="2664000"/>
            <a:ext cx="11278800" cy="6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Calibri"/>
                <a:ea typeface="Calibri"/>
              </a:rPr>
              <a:t>✓  Layout engine for dense patterns</a:t>
            </a:r>
          </a:p>
        </p:txBody>
      </p:sp>
      <p:sp>
        <p:nvSpPr>
          <p:cNvPr id="100123" name="CheckRow4"/>
          <p:cNvSpPr/>
          <p:nvPr/>
        </p:nvSpPr>
        <p:spPr>
          <a:xfrm xmlns:a="http://schemas.openxmlformats.org/drawingml/2006/main">
            <a:off x="457200" y="3348000"/>
            <a:ext cx="11278800" cy="6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Calibri"/>
                <a:ea typeface="Calibri"/>
              </a:rPr>
              <a:t>✓  Overwrite only with --force</a:t>
            </a:r>
          </a:p>
        </p:txBody>
      </p:sp>
      <p:sp>
        <p:nvSpPr>
          <p:cNvPr id="100124" name="CheckRow5"/>
          <p:cNvSpPr/>
          <p:nvPr/>
        </p:nvSpPr>
        <p:spPr>
          <a:xfrm xmlns:a="http://schemas.openxmlformats.org/drawingml/2006/main">
            <a:off x="457200" y="4032000"/>
            <a:ext cx="11278800" cy="6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Calibri"/>
                <a:ea typeface="Calibri"/>
              </a:rPr>
              <a:t>✓  Finish apply with --screenshot</a:t>
            </a:r>
          </a:p>
        </p:txBody>
      </p:sp>
      <p:sp>
        <p:nvSpPr>
          <p:cNvPr id="100125" name="CheckRow6"/>
          <p:cNvSpPr/>
          <p:nvPr/>
        </p:nvSpPr>
        <p:spPr>
          <a:xfrm xmlns:a="http://schemas.openxmlformats.org/drawingml/2006/main">
            <a:off x="457200" y="4716000"/>
            <a:ext cx="11278800" cy="6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Calibri"/>
                <a:ea typeface="Calibri"/>
              </a:rPr>
              <a:t>✓  Ask before installing OfficeCLI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26" name="Bsc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Quality scorecard</a:t>
            </a:r>
          </a:p>
        </p:txBody>
      </p:sp>
      <p:sp>
        <p:nvSpPr>
          <p:cNvPr id="100127" name="BscCard1"/>
          <p:cNvSpPr/>
          <p:nvPr/>
        </p:nvSpPr>
        <p:spPr>
          <a:xfrm xmlns:a="http://schemas.openxmlformats.org/drawingml/2006/main">
            <a:off x="457200" y="1296000"/>
            <a:ext cx="5565600" cy="23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BscLab1"/>
          <p:cNvSpPr txBox="1"/>
          <p:nvPr/>
        </p:nvSpPr>
        <p:spPr>
          <a:xfrm xmlns:a="http://schemas.openxmlformats.org/drawingml/2006/main">
            <a:off x="637200" y="1440000"/>
            <a:ext cx="52056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B5FFF"/>
                </a:solidFill>
                <a:latin typeface="Arial"/>
                <a:ea typeface="Arial"/>
              </a:rPr>
              <a:t>Brand</a:t>
            </a:r>
          </a:p>
        </p:txBody>
      </p:sp>
      <p:sp>
        <p:nvSpPr>
          <p:cNvPr id="100129" name="BscBody1"/>
          <p:cNvSpPr txBox="1"/>
          <p:nvPr/>
        </p:nvSpPr>
        <p:spPr>
          <a:xfrm xmlns:a="http://schemas.openxmlformats.org/drawingml/2006/main">
            <a:off x="637200" y="1944000"/>
            <a:ext cx="52056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5F5F7"/>
                </a:solidFill>
                <a:latin typeface="Calibri"/>
                <a:ea typeface="Calibri"/>
              </a:rPr>
              <a:t>Token floors · contrast · type scale</a:t>
            </a:r>
          </a:p>
        </p:txBody>
      </p:sp>
      <p:sp>
        <p:nvSpPr>
          <p:cNvPr id="100130" name="BscCard2"/>
          <p:cNvSpPr/>
          <p:nvPr/>
        </p:nvSpPr>
        <p:spPr>
          <a:xfrm xmlns:a="http://schemas.openxmlformats.org/drawingml/2006/main">
            <a:off x="6170400" y="1296000"/>
            <a:ext cx="5565600" cy="23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1" name="BscLab2"/>
          <p:cNvSpPr txBox="1"/>
          <p:nvPr/>
        </p:nvSpPr>
        <p:spPr>
          <a:xfrm xmlns:a="http://schemas.openxmlformats.org/drawingml/2006/main">
            <a:off x="6350400" y="1440000"/>
            <a:ext cx="52056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B5FFF"/>
                </a:solidFill>
                <a:latin typeface="Arial"/>
                <a:ea typeface="Arial"/>
              </a:rPr>
              <a:t>Layout</a:t>
            </a:r>
          </a:p>
        </p:txBody>
      </p:sp>
      <p:sp>
        <p:nvSpPr>
          <p:cNvPr id="100132" name="BscBody2"/>
          <p:cNvSpPr txBox="1"/>
          <p:nvPr/>
        </p:nvSpPr>
        <p:spPr>
          <a:xfrm xmlns:a="http://schemas.openxmlformats.org/drawingml/2006/main">
            <a:off x="6350400" y="1944000"/>
            <a:ext cx="52056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5F5F7"/>
                </a:solidFill>
                <a:latin typeface="Calibri"/>
                <a:ea typeface="Calibri"/>
              </a:rPr>
              <a:t>Density adapt · CJK budgets · recipes</a:t>
            </a:r>
          </a:p>
        </p:txBody>
      </p:sp>
      <p:sp>
        <p:nvSpPr>
          <p:cNvPr id="100133" name="BscCard3"/>
          <p:cNvSpPr/>
          <p:nvPr/>
        </p:nvSpPr>
        <p:spPr>
          <a:xfrm xmlns:a="http://schemas.openxmlformats.org/drawingml/2006/main">
            <a:off x="457200" y="3744000"/>
            <a:ext cx="5565600" cy="23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4" name="BscLab3"/>
          <p:cNvSpPr txBox="1"/>
          <p:nvPr/>
        </p:nvSpPr>
        <p:spPr>
          <a:xfrm xmlns:a="http://schemas.openxmlformats.org/drawingml/2006/main">
            <a:off x="637200" y="3888000"/>
            <a:ext cx="52056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B5FFF"/>
                </a:solidFill>
                <a:latin typeface="Arial"/>
                <a:ea typeface="Arial"/>
              </a:rPr>
              <a:t>Pipeline</a:t>
            </a:r>
          </a:p>
        </p:txBody>
      </p:sp>
      <p:sp>
        <p:nvSpPr>
          <p:cNvPr id="100135" name="BscBody3"/>
          <p:cNvSpPr txBox="1"/>
          <p:nvPr/>
        </p:nvSpPr>
        <p:spPr>
          <a:xfrm xmlns:a="http://schemas.openxmlformats.org/drawingml/2006/main">
            <a:off x="637200" y="4392000"/>
            <a:ext cx="52056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5F5F7"/>
                </a:solidFill>
                <a:latin typeface="Calibri"/>
                <a:ea typeface="Calibri"/>
              </a:rPr>
              <a:t>Staging · issues gate · Gate 3</a:t>
            </a:r>
          </a:p>
        </p:txBody>
      </p:sp>
      <p:sp>
        <p:nvSpPr>
          <p:cNvPr id="100136" name="BscCard4"/>
          <p:cNvSpPr/>
          <p:nvPr/>
        </p:nvSpPr>
        <p:spPr>
          <a:xfrm xmlns:a="http://schemas.openxmlformats.org/drawingml/2006/main">
            <a:off x="6170400" y="3744000"/>
            <a:ext cx="5565600" cy="23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7" name="BscLab4"/>
          <p:cNvSpPr txBox="1"/>
          <p:nvPr/>
        </p:nvSpPr>
        <p:spPr>
          <a:xfrm xmlns:a="http://schemas.openxmlformats.org/drawingml/2006/main">
            <a:off x="6350400" y="3888000"/>
            <a:ext cx="52056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B5FFF"/>
                </a:solidFill>
                <a:latin typeface="Arial"/>
                <a:ea typeface="Arial"/>
              </a:rPr>
              <a:t>Agents</a:t>
            </a:r>
          </a:p>
        </p:txBody>
      </p:sp>
      <p:sp>
        <p:nvSpPr>
          <p:cNvPr id="100138" name="BscBody4"/>
          <p:cNvSpPr txBox="1"/>
          <p:nvPr/>
        </p:nvSpPr>
        <p:spPr>
          <a:xfrm xmlns:a="http://schemas.openxmlformats.org/drawingml/2006/main">
            <a:off x="6350400" y="4392000"/>
            <a:ext cx="52056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5F5F7"/>
                </a:solidFill>
                <a:latin typeface="Calibri"/>
                <a:ea typeface="Calibri"/>
              </a:rPr>
              <a:t>Doctor · skills · no silent install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39" name="Raci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Who owns the deck</a:t>
            </a:r>
          </a:p>
        </p:txBody>
      </p:sp>
      <p:sp>
        <p:nvSpPr>
          <p:cNvPr id="100140" name="RaciCorner"/>
          <p:cNvSpPr/>
          <p:nvPr/>
        </p:nvSpPr>
        <p:spPr>
          <a:xfrm xmlns:a="http://schemas.openxmlformats.org/drawingml/2006/main">
            <a:off x="457200" y="1440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Activity</a:t>
            </a:r>
          </a:p>
        </p:txBody>
      </p:sp>
      <p:sp>
        <p:nvSpPr>
          <p:cNvPr id="100141" name="RaciRole1"/>
          <p:cNvSpPr/>
          <p:nvPr/>
        </p:nvSpPr>
        <p:spPr>
          <a:xfrm xmlns:a="http://schemas.openxmlformats.org/drawingml/2006/main">
            <a:off x="2797200" y="14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Human</a:t>
            </a:r>
          </a:p>
        </p:txBody>
      </p:sp>
      <p:sp>
        <p:nvSpPr>
          <p:cNvPr id="100142" name="RaciRole2"/>
          <p:cNvSpPr/>
          <p:nvPr/>
        </p:nvSpPr>
        <p:spPr>
          <a:xfrm xmlns:a="http://schemas.openxmlformats.org/drawingml/2006/main">
            <a:off x="5032800" y="14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Agent</a:t>
            </a:r>
          </a:p>
        </p:txBody>
      </p:sp>
      <p:sp>
        <p:nvSpPr>
          <p:cNvPr id="100143" name="RaciRole3"/>
          <p:cNvSpPr/>
          <p:nvPr/>
        </p:nvSpPr>
        <p:spPr>
          <a:xfrm xmlns:a="http://schemas.openxmlformats.org/drawingml/2006/main">
            <a:off x="7264800" y="14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designmd</a:t>
            </a:r>
          </a:p>
        </p:txBody>
      </p:sp>
      <p:sp>
        <p:nvSpPr>
          <p:cNvPr id="100144" name="RaciRole4"/>
          <p:cNvSpPr/>
          <p:nvPr/>
        </p:nvSpPr>
        <p:spPr>
          <a:xfrm xmlns:a="http://schemas.openxmlformats.org/drawingml/2006/main">
            <a:off x="9500400" y="14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OfficeCLI</a:t>
            </a:r>
          </a:p>
        </p:txBody>
      </p:sp>
      <p:sp>
        <p:nvSpPr>
          <p:cNvPr id="100145" name="RaciAct1"/>
          <p:cNvSpPr/>
          <p:nvPr/>
        </p:nvSpPr>
        <p:spPr>
          <a:xfrm xmlns:a="http://schemas.openxmlformats.org/drawingml/2006/main">
            <a:off x="457200" y="2160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Brief</a:t>
            </a:r>
          </a:p>
        </p:txBody>
      </p:sp>
      <p:sp>
        <p:nvSpPr>
          <p:cNvPr id="100146" name="RaciCell1_1"/>
          <p:cNvSpPr/>
          <p:nvPr/>
        </p:nvSpPr>
        <p:spPr>
          <a:xfrm xmlns:a="http://schemas.openxmlformats.org/drawingml/2006/main">
            <a:off x="2797200" y="216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100147" name="RaciCell1_2"/>
          <p:cNvSpPr/>
          <p:nvPr/>
        </p:nvSpPr>
        <p:spPr>
          <a:xfrm xmlns:a="http://schemas.openxmlformats.org/drawingml/2006/main">
            <a:off x="5032800" y="216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100148" name="RaciCell1_3"/>
          <p:cNvSpPr/>
          <p:nvPr/>
        </p:nvSpPr>
        <p:spPr>
          <a:xfrm xmlns:a="http://schemas.openxmlformats.org/drawingml/2006/main">
            <a:off x="7264800" y="216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100149" name="RaciCell1_4"/>
          <p:cNvSpPr/>
          <p:nvPr/>
        </p:nvSpPr>
        <p:spPr>
          <a:xfrm xmlns:a="http://schemas.openxmlformats.org/drawingml/2006/main">
            <a:off x="9500400" y="216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I</a:t>
            </a:r>
          </a:p>
        </p:txBody>
      </p:sp>
      <p:sp>
        <p:nvSpPr>
          <p:cNvPr id="100150" name="RaciAct2"/>
          <p:cNvSpPr/>
          <p:nvPr/>
        </p:nvSpPr>
        <p:spPr>
          <a:xfrm xmlns:a="http://schemas.openxmlformats.org/drawingml/2006/main">
            <a:off x="457200" y="2880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Compose</a:t>
            </a:r>
          </a:p>
        </p:txBody>
      </p:sp>
      <p:sp>
        <p:nvSpPr>
          <p:cNvPr id="100151" name="RaciCell2_1"/>
          <p:cNvSpPr/>
          <p:nvPr/>
        </p:nvSpPr>
        <p:spPr>
          <a:xfrm xmlns:a="http://schemas.openxmlformats.org/drawingml/2006/main">
            <a:off x="2797200" y="288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100152" name="RaciCell2_2"/>
          <p:cNvSpPr/>
          <p:nvPr/>
        </p:nvSpPr>
        <p:spPr>
          <a:xfrm xmlns:a="http://schemas.openxmlformats.org/drawingml/2006/main">
            <a:off x="5032800" y="288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100153" name="RaciCell2_3"/>
          <p:cNvSpPr/>
          <p:nvPr/>
        </p:nvSpPr>
        <p:spPr>
          <a:xfrm xmlns:a="http://schemas.openxmlformats.org/drawingml/2006/main">
            <a:off x="7264800" y="288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100154" name="RaciCell2_4"/>
          <p:cNvSpPr/>
          <p:nvPr/>
        </p:nvSpPr>
        <p:spPr>
          <a:xfrm xmlns:a="http://schemas.openxmlformats.org/drawingml/2006/main">
            <a:off x="9500400" y="288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I</a:t>
            </a:r>
          </a:p>
        </p:txBody>
      </p:sp>
      <p:sp>
        <p:nvSpPr>
          <p:cNvPr id="100155" name="RaciAct3"/>
          <p:cNvSpPr/>
          <p:nvPr/>
        </p:nvSpPr>
        <p:spPr>
          <a:xfrm xmlns:a="http://schemas.openxmlformats.org/drawingml/2006/main">
            <a:off x="457200" y="3600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Scaffold</a:t>
            </a:r>
          </a:p>
        </p:txBody>
      </p:sp>
      <p:sp>
        <p:nvSpPr>
          <p:cNvPr id="100156" name="RaciCell3_1"/>
          <p:cNvSpPr/>
          <p:nvPr/>
        </p:nvSpPr>
        <p:spPr>
          <a:xfrm xmlns:a="http://schemas.openxmlformats.org/drawingml/2006/main">
            <a:off x="2797200" y="360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I</a:t>
            </a:r>
          </a:p>
        </p:txBody>
      </p:sp>
      <p:sp>
        <p:nvSpPr>
          <p:cNvPr id="100157" name="RaciCell3_2"/>
          <p:cNvSpPr/>
          <p:nvPr/>
        </p:nvSpPr>
        <p:spPr>
          <a:xfrm xmlns:a="http://schemas.openxmlformats.org/drawingml/2006/main">
            <a:off x="5032800" y="360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100158" name="RaciCell3_3"/>
          <p:cNvSpPr/>
          <p:nvPr/>
        </p:nvSpPr>
        <p:spPr>
          <a:xfrm xmlns:a="http://schemas.openxmlformats.org/drawingml/2006/main">
            <a:off x="7264800" y="360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100159" name="RaciCell3_4"/>
          <p:cNvSpPr/>
          <p:nvPr/>
        </p:nvSpPr>
        <p:spPr>
          <a:xfrm xmlns:a="http://schemas.openxmlformats.org/drawingml/2006/main">
            <a:off x="9500400" y="360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100160" name="RaciAct4"/>
          <p:cNvSpPr/>
          <p:nvPr/>
        </p:nvSpPr>
        <p:spPr>
          <a:xfrm xmlns:a="http://schemas.openxmlformats.org/drawingml/2006/main">
            <a:off x="457200" y="4320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Apply</a:t>
            </a:r>
          </a:p>
        </p:txBody>
      </p:sp>
      <p:sp>
        <p:nvSpPr>
          <p:cNvPr id="100161" name="RaciCell4_1"/>
          <p:cNvSpPr/>
          <p:nvPr/>
        </p:nvSpPr>
        <p:spPr>
          <a:xfrm xmlns:a="http://schemas.openxmlformats.org/drawingml/2006/main">
            <a:off x="2797200" y="432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100162" name="RaciCell4_2"/>
          <p:cNvSpPr/>
          <p:nvPr/>
        </p:nvSpPr>
        <p:spPr>
          <a:xfrm xmlns:a="http://schemas.openxmlformats.org/drawingml/2006/main">
            <a:off x="5032800" y="432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100163" name="RaciCell4_3"/>
          <p:cNvSpPr/>
          <p:nvPr/>
        </p:nvSpPr>
        <p:spPr>
          <a:xfrm xmlns:a="http://schemas.openxmlformats.org/drawingml/2006/main">
            <a:off x="7264800" y="432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100164" name="RaciCell4_4"/>
          <p:cNvSpPr/>
          <p:nvPr/>
        </p:nvSpPr>
        <p:spPr>
          <a:xfrm xmlns:a="http://schemas.openxmlformats.org/drawingml/2006/main">
            <a:off x="9500400" y="432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100165" name="RaciAct5"/>
          <p:cNvSpPr/>
          <p:nvPr/>
        </p:nvSpPr>
        <p:spPr>
          <a:xfrm xmlns:a="http://schemas.openxmlformats.org/drawingml/2006/main">
            <a:off x="457200" y="5040000"/>
            <a:ext cx="234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Gate 3</a:t>
            </a:r>
          </a:p>
        </p:txBody>
      </p:sp>
      <p:sp>
        <p:nvSpPr>
          <p:cNvPr id="100166" name="RaciCell5_1"/>
          <p:cNvSpPr/>
          <p:nvPr/>
        </p:nvSpPr>
        <p:spPr>
          <a:xfrm xmlns:a="http://schemas.openxmlformats.org/drawingml/2006/main">
            <a:off x="2797200" y="50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A</a:t>
            </a:r>
          </a:p>
        </p:txBody>
      </p:sp>
      <p:sp>
        <p:nvSpPr>
          <p:cNvPr id="100167" name="RaciCell5_2"/>
          <p:cNvSpPr/>
          <p:nvPr/>
        </p:nvSpPr>
        <p:spPr>
          <a:xfrm xmlns:a="http://schemas.openxmlformats.org/drawingml/2006/main">
            <a:off x="5032800" y="50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100168" name="RaciCell5_3"/>
          <p:cNvSpPr/>
          <p:nvPr/>
        </p:nvSpPr>
        <p:spPr>
          <a:xfrm xmlns:a="http://schemas.openxmlformats.org/drawingml/2006/main">
            <a:off x="7264800" y="50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100169" name="RaciCell5_4"/>
          <p:cNvSpPr/>
          <p:nvPr/>
        </p:nvSpPr>
        <p:spPr>
          <a:xfrm xmlns:a="http://schemas.openxmlformats.org/drawingml/2006/main">
            <a:off x="9500400" y="5040000"/>
            <a:ext cx="21996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5F5F7"/>
                </a:solidFill>
                <a:latin typeface="Arial"/>
                <a:ea typeface="Arial"/>
              </a:rPr>
              <a:t>C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70" name="Puzzle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Platform fit</a:t>
            </a:r>
          </a:p>
        </p:txBody>
      </p:sp>
      <p:sp>
        <p:nvSpPr>
          <p:cNvPr id="100171" name="Puzzle1"/>
          <p:cNvSpPr/>
          <p:nvPr/>
        </p:nvSpPr>
        <p:spPr>
          <a:xfrm xmlns:a="http://schemas.openxmlformats.org/drawingml/2006/main">
            <a:off x="457200" y="1800000"/>
            <a:ext cx="27252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Claude Code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Plugin + skill</a:t>
            </a:r>
          </a:p>
        </p:txBody>
      </p:sp>
      <p:sp>
        <p:nvSpPr>
          <p:cNvPr id="100172" name="Puzzle2"/>
          <p:cNvSpPr/>
          <p:nvPr/>
        </p:nvSpPr>
        <p:spPr>
          <a:xfrm xmlns:a="http://schemas.openxmlformats.org/drawingml/2006/main">
            <a:off x="3308400" y="1800000"/>
            <a:ext cx="27252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Codex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install-codex.ps1</a:t>
            </a:r>
          </a:p>
        </p:txBody>
      </p:sp>
      <p:sp>
        <p:nvSpPr>
          <p:cNvPr id="100173" name="Puzzle3"/>
          <p:cNvSpPr/>
          <p:nvPr/>
        </p:nvSpPr>
        <p:spPr>
          <a:xfrm xmlns:a="http://schemas.openxmlformats.org/drawingml/2006/main">
            <a:off x="6159600" y="1800000"/>
            <a:ext cx="27252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Grok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Synced adapters</a:t>
            </a:r>
          </a:p>
        </p:txBody>
      </p:sp>
      <p:sp>
        <p:nvSpPr>
          <p:cNvPr id="100174" name="Puzzle4"/>
          <p:cNvSpPr/>
          <p:nvPr/>
        </p:nvSpPr>
        <p:spPr>
          <a:xfrm xmlns:a="http://schemas.openxmlformats.org/drawingml/2006/main">
            <a:off x="9010800" y="1800000"/>
            <a:ext cx="27252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VS Code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Thin CLI shell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75" name="RiskTitle"/>
          <p:cNvSpPr txBox="1"/>
          <p:nvPr/>
        </p:nvSpPr>
        <p:spPr>
          <a:xfrm xmlns:a="http://schemas.openxmlformats.org/drawingml/2006/main">
            <a:off x="457200" y="360000"/>
            <a:ext cx="112788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What we refuse</a:t>
            </a:r>
          </a:p>
        </p:txBody>
      </p:sp>
      <p:sp>
        <p:nvSpPr>
          <p:cNvPr id="100176" name="RiskX0"/>
          <p:cNvSpPr txBox="1"/>
          <p:nvPr/>
        </p:nvSpPr>
        <p:spPr>
          <a:xfrm xmlns:a="http://schemas.openxmlformats.org/drawingml/2006/main">
            <a:off x="1609200" y="5994000"/>
            <a:ext cx="263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Calibri"/>
                <a:ea typeface="Calibri"/>
              </a:rPr>
              <a:t>Low</a:t>
            </a:r>
          </a:p>
        </p:txBody>
      </p:sp>
      <p:sp>
        <p:nvSpPr>
          <p:cNvPr id="100177" name="RiskY0"/>
          <p:cNvSpPr txBox="1"/>
          <p:nvPr/>
        </p:nvSpPr>
        <p:spPr>
          <a:xfrm xmlns:a="http://schemas.openxmlformats.org/drawingml/2006/main">
            <a:off x="457200" y="5047200"/>
            <a:ext cx="1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400">
                <a:solidFill>
                  <a:srgbClr val="A0A6B0"/>
                </a:solidFill>
                <a:latin typeface="Calibri"/>
                <a:ea typeface="Calibri"/>
              </a:rPr>
              <a:t>Low</a:t>
            </a:r>
          </a:p>
        </p:txBody>
      </p:sp>
      <p:sp>
        <p:nvSpPr>
          <p:cNvPr id="100178" name="RiskX1"/>
          <p:cNvSpPr txBox="1"/>
          <p:nvPr/>
        </p:nvSpPr>
        <p:spPr>
          <a:xfrm xmlns:a="http://schemas.openxmlformats.org/drawingml/2006/main">
            <a:off x="4248000" y="5994000"/>
            <a:ext cx="263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Calibri"/>
                <a:ea typeface="Calibri"/>
              </a:rPr>
              <a:t>Med</a:t>
            </a:r>
          </a:p>
        </p:txBody>
      </p:sp>
      <p:sp>
        <p:nvSpPr>
          <p:cNvPr id="100179" name="RiskY1"/>
          <p:cNvSpPr txBox="1"/>
          <p:nvPr/>
        </p:nvSpPr>
        <p:spPr>
          <a:xfrm xmlns:a="http://schemas.openxmlformats.org/drawingml/2006/main">
            <a:off x="457200" y="3546000"/>
            <a:ext cx="1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400">
                <a:solidFill>
                  <a:srgbClr val="A0A6B0"/>
                </a:solidFill>
                <a:latin typeface="Calibri"/>
                <a:ea typeface="Calibri"/>
              </a:rPr>
              <a:t>Med</a:t>
            </a:r>
          </a:p>
        </p:txBody>
      </p:sp>
      <p:sp>
        <p:nvSpPr>
          <p:cNvPr id="100180" name="RiskX2"/>
          <p:cNvSpPr txBox="1"/>
          <p:nvPr/>
        </p:nvSpPr>
        <p:spPr>
          <a:xfrm xmlns:a="http://schemas.openxmlformats.org/drawingml/2006/main">
            <a:off x="6890400" y="5994000"/>
            <a:ext cx="263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Calibri"/>
                <a:ea typeface="Calibri"/>
              </a:rPr>
              <a:t>High</a:t>
            </a:r>
          </a:p>
        </p:txBody>
      </p:sp>
      <p:sp>
        <p:nvSpPr>
          <p:cNvPr id="100181" name="RiskY2"/>
          <p:cNvSpPr txBox="1"/>
          <p:nvPr/>
        </p:nvSpPr>
        <p:spPr>
          <a:xfrm xmlns:a="http://schemas.openxmlformats.org/drawingml/2006/main">
            <a:off x="457200" y="2044800"/>
            <a:ext cx="1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400">
                <a:solidFill>
                  <a:srgbClr val="A0A6B0"/>
                </a:solidFill>
                <a:latin typeface="Calibri"/>
                <a:ea typeface="Calibri"/>
              </a:rPr>
              <a:t>High</a:t>
            </a:r>
          </a:p>
        </p:txBody>
      </p:sp>
      <p:sp>
        <p:nvSpPr>
          <p:cNvPr id="100182" name="RiskCell00"/>
          <p:cNvSpPr/>
          <p:nvPr/>
        </p:nvSpPr>
        <p:spPr>
          <a:xfrm xmlns:a="http://schemas.openxmlformats.org/drawingml/2006/main">
            <a:off x="1627200" y="44568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3" name="RiskCell01"/>
          <p:cNvSpPr/>
          <p:nvPr/>
        </p:nvSpPr>
        <p:spPr>
          <a:xfrm xmlns:a="http://schemas.openxmlformats.org/drawingml/2006/main">
            <a:off x="4266000" y="44568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4" name="RiskCell02"/>
          <p:cNvSpPr/>
          <p:nvPr/>
        </p:nvSpPr>
        <p:spPr>
          <a:xfrm xmlns:a="http://schemas.openxmlformats.org/drawingml/2006/main">
            <a:off x="6908400" y="44568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5" name="RiskCell10"/>
          <p:cNvSpPr/>
          <p:nvPr/>
        </p:nvSpPr>
        <p:spPr>
          <a:xfrm xmlns:a="http://schemas.openxmlformats.org/drawingml/2006/main">
            <a:off x="1627200" y="29592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6" name="RiskCell11"/>
          <p:cNvSpPr/>
          <p:nvPr/>
        </p:nvSpPr>
        <p:spPr>
          <a:xfrm xmlns:a="http://schemas.openxmlformats.org/drawingml/2006/main">
            <a:off x="4266000" y="29592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7" name="RiskCell12"/>
          <p:cNvSpPr/>
          <p:nvPr/>
        </p:nvSpPr>
        <p:spPr>
          <a:xfrm xmlns:a="http://schemas.openxmlformats.org/drawingml/2006/main">
            <a:off x="6908400" y="29592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RiskCell20"/>
          <p:cNvSpPr/>
          <p:nvPr/>
        </p:nvSpPr>
        <p:spPr>
          <a:xfrm xmlns:a="http://schemas.openxmlformats.org/drawingml/2006/main">
            <a:off x="1627200" y="14580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9" name="RiskCell21"/>
          <p:cNvSpPr/>
          <p:nvPr/>
        </p:nvSpPr>
        <p:spPr>
          <a:xfrm xmlns:a="http://schemas.openxmlformats.org/drawingml/2006/main">
            <a:off x="4266000" y="14580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0" name="RiskCell22"/>
          <p:cNvSpPr/>
          <p:nvPr/>
        </p:nvSpPr>
        <p:spPr>
          <a:xfrm xmlns:a="http://schemas.openxmlformats.org/drawingml/2006/main">
            <a:off x="6908400" y="14580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1" name="RiskItem13"/>
          <p:cNvSpPr txBox="1"/>
          <p:nvPr/>
        </p:nvSpPr>
        <p:spPr>
          <a:xfrm xmlns:a="http://schemas.openxmlformats.org/drawingml/2006/main">
            <a:off x="1699200" y="15480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Font shrink to fit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Silent overwrite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Vendor template copy</a:t>
            </a:r>
          </a:p>
        </p:txBody>
      </p:sp>
      <p:sp>
        <p:nvSpPr>
          <p:cNvPr id="100192" name="RiskItem33"/>
          <p:cNvSpPr txBox="1"/>
          <p:nvPr/>
        </p:nvSpPr>
        <p:spPr>
          <a:xfrm xmlns:a="http://schemas.openxmlformats.org/drawingml/2006/main">
            <a:off x="6980400" y="15480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Missing OfficeCLI</a:t>
            </a:r>
          </a:p>
        </p:txBody>
      </p:sp>
      <p:sp>
        <p:nvSpPr>
          <p:cNvPr id="100193" name="RiskItem22"/>
          <p:cNvSpPr txBox="1"/>
          <p:nvPr/>
        </p:nvSpPr>
        <p:spPr>
          <a:xfrm xmlns:a="http://schemas.openxmlformats.org/drawingml/2006/main">
            <a:off x="4338000" y="30492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Calibri"/>
                <a:ea typeface="Calibri"/>
              </a:rPr>
              <a:t>Agent silent install</a:t>
            </a:r>
          </a:p>
        </p:txBody>
      </p:sp>
      <p:sp>
        <p:nvSpPr>
          <p:cNvPr id="100194" name="RiskAxisX"/>
          <p:cNvSpPr txBox="1"/>
          <p:nvPr/>
        </p:nvSpPr>
        <p:spPr>
          <a:xfrm xmlns:a="http://schemas.openxmlformats.org/drawingml/2006/main">
            <a:off x="1609200" y="6480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A0A6B0"/>
                </a:solidFill>
                <a:latin typeface="Calibri"/>
                <a:ea typeface="Calibri"/>
              </a:rPr>
              <a:t>Likelihood →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95" name="CloseTitle"/>
          <p:cNvSpPr txBox="1"/>
          <p:nvPr/>
        </p:nvSpPr>
        <p:spPr>
          <a:xfrm xmlns:a="http://schemas.openxmlformats.org/drawingml/2006/main">
            <a:off x="457200" y="2160000"/>
            <a:ext cx="112788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Start here</a:t>
            </a:r>
          </a:p>
        </p:txBody>
      </p:sp>
      <p:sp>
        <p:nvSpPr>
          <p:cNvPr id="100196" name="CloseBody"/>
          <p:cNvSpPr txBox="1"/>
          <p:nvPr/>
        </p:nvSpPr>
        <p:spPr>
          <a:xfrm xmlns:a="http://schemas.openxmlformats.org/drawingml/2006/main">
            <a:off x="457200" y="3240000"/>
            <a:ext cx="112788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Calibri"/>
                <a:ea typeface="Calibri"/>
              </a:rPr>
              <a:t>doctor --ensure · compose · scaffold · apply --screenshot --gate3</a:t>
            </a:r>
          </a:p>
        </p:txBody>
      </p:sp>
      <p:sp>
        <p:nvSpPr>
          <p:cNvPr id="100197" name="CloseCta"/>
          <p:cNvSpPr/>
          <p:nvPr/>
        </p:nvSpPr>
        <p:spPr>
          <a:xfrm xmlns:a="http://schemas.openxmlformats.org/drawingml/2006/main">
            <a:off x="4464000" y="4320000"/>
            <a:ext cx="3240000" cy="5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doctor --ensure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2026-07-15T00:43:21Z</dcterms:created>
  <cp:lastModifiedBy>OfficeCLI</cp:lastModifiedBy>
  <dcterms:modified xsi:type="dcterms:W3CDTF">2026-07-15T00:43:21Z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2026-07-15T00:43:24Z</vt:lpwstr>
  </op:property>
</op:Properties>
</file>