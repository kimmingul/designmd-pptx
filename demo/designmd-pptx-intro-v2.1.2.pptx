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f5e4761dd3b45de" /><Relationship Type="http://schemas.openxmlformats.org/package/2006/relationships/metadata/core-properties" Target="/docProps/core.xml" Id="R6ff491188e7d4a0b" /><Relationship Type="http://schemas.openxmlformats.org/officeDocument/2006/relationships/extended-properties" Target="/docProps/app.xml" Id="Rbf461f3a5e994973" /><Relationship Type="http://schemas.openxmlformats.org/officeDocument/2006/relationships/custom-properties" Target="/docProps/custom.xml" Id="R26cd32f2361b470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3d13275379ab46c2"/>
    <p:sldId id="257" r:id="R8f2cc21d29534b24"/>
    <p:sldId id="258" r:id="Ra0d112ed1aea419d"/>
    <p:sldId id="259" r:id="R5cff4d17a75146ee"/>
    <p:sldId id="260" r:id="R5e3f7139cb834f33"/>
    <p:sldId id="261" r:id="R034fc5b6262b4725"/>
    <p:sldId id="262" r:id="R525a84c3569643bb"/>
    <p:sldId id="263" r:id="R4010c85c50264c85"/>
    <p:sldId id="264" r:id="Rd31a080058c94fd6"/>
    <p:sldId id="265" r:id="R3a955052a8bf4201"/>
    <p:sldId id="266" r:id="R5c14b74e64874c60"/>
    <p:sldId id="267" r:id="R2909cd00091c47e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d13275379ab46c2" /><Relationship Type="http://schemas.openxmlformats.org/officeDocument/2006/relationships/slide" Target="/ppt/slides/slide2.xml" Id="R8f2cc21d29534b24" /><Relationship Type="http://schemas.openxmlformats.org/officeDocument/2006/relationships/slide" Target="/ppt/slides/slide3.xml" Id="Ra0d112ed1aea419d" /><Relationship Type="http://schemas.openxmlformats.org/officeDocument/2006/relationships/slide" Target="/ppt/slides/slide4.xml" Id="R5cff4d17a75146ee" /><Relationship Type="http://schemas.openxmlformats.org/officeDocument/2006/relationships/slide" Target="/ppt/slides/slide5.xml" Id="R5e3f7139cb834f33" /><Relationship Type="http://schemas.openxmlformats.org/officeDocument/2006/relationships/slide" Target="/ppt/slides/slide6.xml" Id="R034fc5b6262b4725" /><Relationship Type="http://schemas.openxmlformats.org/officeDocument/2006/relationships/slide" Target="/ppt/slides/slide7.xml" Id="R525a84c3569643bb" /><Relationship Type="http://schemas.openxmlformats.org/officeDocument/2006/relationships/slide" Target="/ppt/slides/slide8.xml" Id="R4010c85c50264c85" /><Relationship Type="http://schemas.openxmlformats.org/officeDocument/2006/relationships/slide" Target="/ppt/slides/slide9.xml" Id="Rd31a080058c94fd6" /><Relationship Type="http://schemas.openxmlformats.org/officeDocument/2006/relationships/slide" Target="/ppt/slides/slide10.xml" Id="R3a955052a8bf4201" /><Relationship Type="http://schemas.openxmlformats.org/officeDocument/2006/relationships/slide" Target="/ppt/slides/slide11.xml" Id="R5c14b74e64874c60" /><Relationship Type="http://schemas.openxmlformats.org/officeDocument/2006/relationships/slide" Target="/ppt/slides/slide12.xml" Id="R2909cd00091c47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Hold the name.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Pause on the section number before the title.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KPIs left to right; pause on any watch metric.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brand file is the contract.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left to right; stop on the bottleneck.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cards max on a hero slide; cut copy first.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drop-off between the two biggest deltas.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quadrant that needs a decision this quarter.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criteria.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7ff391ba3f40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a24f2f8cc64d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03476db7ea4ce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efbee31e341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852d3f680e4a9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7310cd8a82042d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2776d94f84067" /><Relationship Type="http://schemas.openxmlformats.org/officeDocument/2006/relationships/notesSlide" Target="/ppt/notesSlides/notesSlide1.xml" Id="Rc41a9c66eb9646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ac97b7eae480f" /><Relationship Type="http://schemas.openxmlformats.org/officeDocument/2006/relationships/notesSlide" Target="/ppt/notesSlides/notesSlide2.xml" Id="R9bc1576f49534b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07c7ba1234b87" /><Relationship Type="http://schemas.openxmlformats.org/officeDocument/2006/relationships/notesSlide" Target="/ppt/notesSlides/notesSlide3.xml" Id="R73746b736e074c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3688aa06bb477a" /><Relationship Type="http://schemas.openxmlformats.org/officeDocument/2006/relationships/notesSlide" Target="/ppt/notesSlides/notesSlide4.xml" Id="Rbfe17bd1a0aa4e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154c70a5849c9" /><Relationship Type="http://schemas.openxmlformats.org/officeDocument/2006/relationships/notesSlide" Target="/ppt/notesSlides/notesSlide5.xml" Id="Rebb4d6eb9ab54f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670d019634ad2" /><Relationship Type="http://schemas.openxmlformats.org/officeDocument/2006/relationships/notesSlide" Target="/ppt/notesSlides/notesSlide6.xml" Id="Rd73201dbf3b446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2d3f8310d423c" /><Relationship Type="http://schemas.openxmlformats.org/officeDocument/2006/relationships/notesSlide" Target="/ppt/notesSlides/notesSlide7.xml" Id="R49431f79a1574f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c76583b494b83" /><Relationship Type="http://schemas.openxmlformats.org/officeDocument/2006/relationships/notesSlide" Target="/ppt/notesSlides/notesSlide8.xml" Id="R37498f50448d42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edd57cef14bcb" /><Relationship Type="http://schemas.openxmlformats.org/officeDocument/2006/relationships/notesSlide" Target="/ppt/notesSlides/notesSlide9.xml" Id="R47acacebb5364c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243fdb7934de9" /><Relationship Type="http://schemas.openxmlformats.org/officeDocument/2006/relationships/notesSlide" Target="/ppt/notesSlides/notesSlide10.xml" Id="Rb8f9a337e9b045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539e3271d4818" /><Relationship Type="http://schemas.openxmlformats.org/officeDocument/2006/relationships/notesSlide" Target="/ppt/notesSlides/notesSlide11.xml" Id="R169b84a8d8bc4c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f573e64ef4b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00000"/>
            <a:ext cx="10609200" cy="14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276000"/>
            <a:ext cx="1728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420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Motifs from structure — original chrome, brand from DESIGN.md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5742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motif library  ·  English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OpenerAccentBar"/>
          <p:cNvSpPr/>
          <p:nvPr/>
        </p:nvSpPr>
        <p:spPr>
          <a:xfrm xmlns:a="http://schemas.openxmlformats.org/drawingml/2006/main">
            <a:off x="792000" y="2232000"/>
            <a:ext cx="396000" cy="22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6" name="OpenerNumber"/>
          <p:cNvSpPr txBox="1"/>
          <p:nvPr/>
        </p:nvSpPr>
        <p:spPr>
          <a:xfrm xmlns:a="http://schemas.openxmlformats.org/drawingml/2006/main">
            <a:off x="1368000" y="2016000"/>
            <a:ext cx="288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7" name="OpenerTitle"/>
          <p:cNvSpPr txBox="1"/>
          <p:nvPr/>
        </p:nvSpPr>
        <p:spPr>
          <a:xfrm xmlns:a="http://schemas.openxmlformats.org/drawingml/2006/main">
            <a:off x="1368000" y="2952000"/>
            <a:ext cx="10033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The contract</a:t>
            </a:r>
          </a:p>
        </p:txBody>
      </p:sp>
      <p:sp>
        <p:nvSpPr>
          <p:cNvPr id="100008" name="OpenerBlurb"/>
          <p:cNvSpPr txBox="1"/>
          <p:nvPr/>
        </p:nvSpPr>
        <p:spPr>
          <a:xfrm xmlns:a="http://schemas.openxmlformats.org/drawingml/2006/main">
            <a:off x="1368000" y="3960000"/>
            <a:ext cx="792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lives in DESIGN.md. Motifs carry layout chrome.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9" name="Kpi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At a glance</a:t>
            </a:r>
          </a:p>
        </p:txBody>
      </p:sp>
      <p:sp>
        <p:nvSpPr>
          <p:cNvPr id="100010" name="Kpi1Bg"/>
          <p:cNvSpPr/>
          <p:nvPr/>
        </p:nvSpPr>
        <p:spPr>
          <a:xfrm xmlns:a="http://schemas.openxmlformats.org/drawingml/2006/main">
            <a:off x="7920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1" name="Kpi1Value"/>
          <p:cNvSpPr txBox="1"/>
          <p:nvPr/>
        </p:nvSpPr>
        <p:spPr>
          <a:xfrm xmlns:a="http://schemas.openxmlformats.org/drawingml/2006/main">
            <a:off x="9180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66</a:t>
            </a:r>
          </a:p>
        </p:txBody>
      </p:sp>
      <p:sp>
        <p:nvSpPr>
          <p:cNvPr id="100012" name="Kpi1Label"/>
          <p:cNvSpPr txBox="1"/>
          <p:nvPr/>
        </p:nvSpPr>
        <p:spPr>
          <a:xfrm xmlns:a="http://schemas.openxmlformats.org/drawingml/2006/main">
            <a:off x="9180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Motifs</a:t>
            </a:r>
          </a:p>
        </p:txBody>
      </p:sp>
      <p:sp>
        <p:nvSpPr>
          <p:cNvPr id="100013" name="Kpi1Chip"/>
          <p:cNvSpPr txBox="1"/>
          <p:nvPr/>
        </p:nvSpPr>
        <p:spPr>
          <a:xfrm xmlns:a="http://schemas.openxmlformats.org/drawingml/2006/main">
            <a:off x="9180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0B5FFF"/>
                </a:solidFill>
                <a:latin typeface="Arial"/>
                <a:ea typeface="Arial"/>
              </a:rPr>
              <a:t>v2</a:t>
            </a:r>
          </a:p>
        </p:txBody>
      </p:sp>
      <p:sp>
        <p:nvSpPr>
          <p:cNvPr id="100014" name="Kpi2Bg"/>
          <p:cNvSpPr/>
          <p:nvPr/>
        </p:nvSpPr>
        <p:spPr>
          <a:xfrm xmlns:a="http://schemas.openxmlformats.org/drawingml/2006/main">
            <a:off x="35424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Kpi2Value"/>
          <p:cNvSpPr txBox="1"/>
          <p:nvPr/>
        </p:nvSpPr>
        <p:spPr>
          <a:xfrm xmlns:a="http://schemas.openxmlformats.org/drawingml/2006/main">
            <a:off x="36684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75</a:t>
            </a:r>
          </a:p>
        </p:txBody>
      </p:sp>
      <p:sp>
        <p:nvSpPr>
          <p:cNvPr id="100016" name="Kpi2Label"/>
          <p:cNvSpPr txBox="1"/>
          <p:nvPr/>
        </p:nvSpPr>
        <p:spPr>
          <a:xfrm xmlns:a="http://schemas.openxmlformats.org/drawingml/2006/main">
            <a:off x="36684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Recipes</a:t>
            </a:r>
          </a:p>
        </p:txBody>
      </p:sp>
      <p:sp>
        <p:nvSpPr>
          <p:cNvPr id="100017" name="Kpi2Chip"/>
          <p:cNvSpPr txBox="1"/>
          <p:nvPr/>
        </p:nvSpPr>
        <p:spPr>
          <a:xfrm xmlns:a="http://schemas.openxmlformats.org/drawingml/2006/main">
            <a:off x="36684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0B5FFF"/>
              </a:solidFill>
              <a:latin typeface="Arial"/>
              <a:ea typeface="Arial"/>
            </a:endParaRPr>
          </a:p>
        </p:txBody>
      </p:sp>
      <p:sp>
        <p:nvSpPr>
          <p:cNvPr id="100018" name="Kpi3Bg"/>
          <p:cNvSpPr/>
          <p:nvPr/>
        </p:nvSpPr>
        <p:spPr>
          <a:xfrm xmlns:a="http://schemas.openxmlformats.org/drawingml/2006/main">
            <a:off x="62928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Kpi3Value"/>
          <p:cNvSpPr txBox="1"/>
          <p:nvPr/>
        </p:nvSpPr>
        <p:spPr>
          <a:xfrm xmlns:a="http://schemas.openxmlformats.org/drawingml/2006/main">
            <a:off x="64224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20" name="Kpi3Label"/>
          <p:cNvSpPr txBox="1"/>
          <p:nvPr/>
        </p:nvSpPr>
        <p:spPr>
          <a:xfrm xmlns:a="http://schemas.openxmlformats.org/drawingml/2006/main">
            <a:off x="64224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Backends</a:t>
            </a:r>
          </a:p>
        </p:txBody>
      </p:sp>
      <p:sp>
        <p:nvSpPr>
          <p:cNvPr id="100021" name="Kpi3Chip"/>
          <p:cNvSpPr txBox="1"/>
          <p:nvPr/>
        </p:nvSpPr>
        <p:spPr>
          <a:xfrm xmlns:a="http://schemas.openxmlformats.org/drawingml/2006/main">
            <a:off x="64224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0B5FFF"/>
              </a:solidFill>
              <a:latin typeface="Arial"/>
              <a:ea typeface="Arial"/>
            </a:endParaRPr>
          </a:p>
        </p:txBody>
      </p:sp>
      <p:sp>
        <p:nvSpPr>
          <p:cNvPr id="100022" name="Kpi4Bg"/>
          <p:cNvSpPr/>
          <p:nvPr/>
        </p:nvSpPr>
        <p:spPr>
          <a:xfrm xmlns:a="http://schemas.openxmlformats.org/drawingml/2006/main">
            <a:off x="90468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Kpi4Value"/>
          <p:cNvSpPr txBox="1"/>
          <p:nvPr/>
        </p:nvSpPr>
        <p:spPr>
          <a:xfrm xmlns:a="http://schemas.openxmlformats.org/drawingml/2006/main">
            <a:off x="91728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0</a:t>
            </a:r>
          </a:p>
        </p:txBody>
      </p:sp>
      <p:sp>
        <p:nvSpPr>
          <p:cNvPr id="100024" name="Kpi4Label"/>
          <p:cNvSpPr txBox="1"/>
          <p:nvPr/>
        </p:nvSpPr>
        <p:spPr>
          <a:xfrm xmlns:a="http://schemas.openxmlformats.org/drawingml/2006/main">
            <a:off x="91728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Vendor bytes</a:t>
            </a:r>
          </a:p>
        </p:txBody>
      </p:sp>
      <p:sp>
        <p:nvSpPr>
          <p:cNvPr id="100025" name="Kpi4Chip"/>
          <p:cNvSpPr txBox="1"/>
          <p:nvPr/>
        </p:nvSpPr>
        <p:spPr>
          <a:xfrm xmlns:a="http://schemas.openxmlformats.org/drawingml/2006/main">
            <a:off x="91728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0B5FFF"/>
                </a:solidFill>
                <a:latin typeface="Arial"/>
                <a:ea typeface="Arial"/>
              </a:rPr>
              <a:t>safe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6" name="BigValue"/>
          <p:cNvSpPr txBox="1"/>
          <p:nvPr/>
        </p:nvSpPr>
        <p:spPr>
          <a:xfrm xmlns:a="http://schemas.openxmlformats.org/drawingml/2006/main">
            <a:off x="792000" y="1180800"/>
            <a:ext cx="10609200" cy="23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27" name="BigLabel"/>
          <p:cNvSpPr txBox="1"/>
          <p:nvPr/>
        </p:nvSpPr>
        <p:spPr>
          <a:xfrm xmlns:a="http://schemas.openxmlformats.org/drawingml/2006/main">
            <a:off x="792000" y="3704400"/>
            <a:ext cx="10609200" cy="6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One brand source of truth</a:t>
            </a:r>
          </a:p>
        </p:txBody>
      </p:sp>
      <p:sp>
        <p:nvSpPr>
          <p:cNvPr id="100028" name="BigContext"/>
          <p:cNvSpPr txBox="1"/>
          <p:nvPr/>
        </p:nvSpPr>
        <p:spPr>
          <a:xfrm xmlns:a="http://schemas.openxmlformats.org/drawingml/2006/main">
            <a:off x="1188000" y="4514400"/>
            <a:ext cx="98172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 and floors compile once — decks inherit the contract.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9" name="Ba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30" name="BaPanel1"/>
          <p:cNvSpPr/>
          <p:nvPr/>
        </p:nvSpPr>
        <p:spPr>
          <a:xfrm xmlns:a="http://schemas.openxmlformats.org/drawingml/2006/main">
            <a:off x="7920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BaHead1"/>
          <p:cNvSpPr txBox="1"/>
          <p:nvPr/>
        </p:nvSpPr>
        <p:spPr>
          <a:xfrm xmlns:a="http://schemas.openxmlformats.org/drawingml/2006/main">
            <a:off x="11880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32" name="BaBody1"/>
          <p:cNvSpPr txBox="1"/>
          <p:nvPr/>
        </p:nvSpPr>
        <p:spPr>
          <a:xfrm xmlns:a="http://schemas.openxmlformats.org/drawingml/2006/main">
            <a:off x="11880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Decks drift from brand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</a:t>
            </a:r>
          </a:p>
        </p:txBody>
      </p:sp>
      <p:sp>
        <p:nvSpPr>
          <p:cNvPr id="100033" name="BaPanel2"/>
          <p:cNvSpPr/>
          <p:nvPr/>
        </p:nvSpPr>
        <p:spPr>
          <a:xfrm xmlns:a="http://schemas.openxmlformats.org/drawingml/2006/main">
            <a:off x="62928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4" name="BaHead2"/>
          <p:cNvSpPr txBox="1"/>
          <p:nvPr/>
        </p:nvSpPr>
        <p:spPr>
          <a:xfrm xmlns:a="http://schemas.openxmlformats.org/drawingml/2006/main">
            <a:off x="66924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35" name="BaBody2"/>
          <p:cNvSpPr txBox="1"/>
          <p:nvPr/>
        </p:nvSpPr>
        <p:spPr>
          <a:xfrm xmlns:a="http://schemas.openxmlformats.org/drawingml/2006/main">
            <a:off x="66924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Tokens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Motif chrome +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6" name="Proc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Authoring pipeline</a:t>
            </a:r>
          </a:p>
        </p:txBody>
      </p:sp>
      <p:sp>
        <p:nvSpPr>
          <p:cNvPr id="100037" name="Proc1"/>
          <p:cNvSpPr/>
          <p:nvPr/>
        </p:nvSpPr>
        <p:spPr>
          <a:xfrm xmlns:a="http://schemas.openxmlformats.org/drawingml/2006/main">
            <a:off x="7920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38" name="Proc2"/>
          <p:cNvSpPr/>
          <p:nvPr/>
        </p:nvSpPr>
        <p:spPr>
          <a:xfrm xmlns:a="http://schemas.openxmlformats.org/drawingml/2006/main">
            <a:off x="2991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39" name="Proc3"/>
          <p:cNvSpPr/>
          <p:nvPr/>
        </p:nvSpPr>
        <p:spPr>
          <a:xfrm xmlns:a="http://schemas.openxmlformats.org/drawingml/2006/main">
            <a:off x="51948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Motifs</a:t>
            </a:r>
          </a:p>
        </p:txBody>
      </p:sp>
      <p:sp>
        <p:nvSpPr>
          <p:cNvPr id="100040" name="Proc4"/>
          <p:cNvSpPr/>
          <p:nvPr/>
        </p:nvSpPr>
        <p:spPr>
          <a:xfrm xmlns:a="http://schemas.openxmlformats.org/drawingml/2006/main">
            <a:off x="73944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41" name="Proc5"/>
          <p:cNvSpPr/>
          <p:nvPr/>
        </p:nvSpPr>
        <p:spPr>
          <a:xfrm xmlns:a="http://schemas.openxmlformats.org/drawingml/2006/main">
            <a:off x="9597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42" name="Connector 1"/>
          <p:cNvCxnSpPr>
            <a:stCxn xmlns:a="http://schemas.openxmlformats.org/drawingml/2006/main" id="100037" idx="0"/>
            <a:endCxn xmlns:a="http://schemas.openxmlformats.org/drawingml/2006/main" id="100038" idx="0"/>
          </p:cNvCxnSpPr>
          <p:nvPr/>
        </p:nvCxnSpPr>
        <p:spPr>
          <a:xfrm xmlns:a="http://schemas.openxmlformats.org/drawingml/2006/main">
            <a:off x="25956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3" name="Connector 2"/>
          <p:cNvCxnSpPr>
            <a:stCxn xmlns:a="http://schemas.openxmlformats.org/drawingml/2006/main" id="100038" idx="0"/>
            <a:endCxn xmlns:a="http://schemas.openxmlformats.org/drawingml/2006/main" id="100039" idx="0"/>
          </p:cNvCxnSpPr>
          <p:nvPr/>
        </p:nvCxnSpPr>
        <p:spPr>
          <a:xfrm xmlns:a="http://schemas.openxmlformats.org/drawingml/2006/main">
            <a:off x="47952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4" name="Connector 3"/>
          <p:cNvCxnSpPr>
            <a:stCxn xmlns:a="http://schemas.openxmlformats.org/drawingml/2006/main" id="100039" idx="0"/>
            <a:endCxn xmlns:a="http://schemas.openxmlformats.org/drawingml/2006/main" id="100040" idx="0"/>
          </p:cNvCxnSpPr>
          <p:nvPr/>
        </p:nvCxnSpPr>
        <p:spPr>
          <a:xfrm xmlns:a="http://schemas.openxmlformats.org/drawingml/2006/main">
            <a:off x="69984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5" name="Connector 4"/>
          <p:cNvCxnSpPr>
            <a:stCxn xmlns:a="http://schemas.openxmlformats.org/drawingml/2006/main" id="100040" idx="0"/>
            <a:endCxn xmlns:a="http://schemas.openxmlformats.org/drawingml/2006/main" id="100041" idx="0"/>
          </p:cNvCxnSpPr>
          <p:nvPr/>
        </p:nvCxnSpPr>
        <p:spPr>
          <a:xfrm xmlns:a="http://schemas.openxmlformats.org/drawingml/2006/main">
            <a:off x="91980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6" name="Feat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47" name="Card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Card1Num"/>
          <p:cNvSpPr txBox="1"/>
          <p:nvPr/>
        </p:nvSpPr>
        <p:spPr>
          <a:xfrm xmlns:a="http://schemas.openxmlformats.org/drawingml/2006/main">
            <a:off x="11880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49" name="Card1Title"/>
          <p:cNvSpPr txBox="1"/>
          <p:nvPr/>
        </p:nvSpPr>
        <p:spPr>
          <a:xfrm xmlns:a="http://schemas.openxmlformats.org/drawingml/2006/main">
            <a:off x="11880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50" name="Card1Body"/>
          <p:cNvSpPr txBox="1"/>
          <p:nvPr/>
        </p:nvSpPr>
        <p:spPr>
          <a:xfrm xmlns:a="http://schemas.openxmlformats.org/drawingml/2006/main">
            <a:off x="11880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Centimeters. Connectors. Type floors that hold.</a:t>
            </a:r>
          </a:p>
        </p:txBody>
      </p:sp>
      <p:sp>
        <p:nvSpPr>
          <p:cNvPr id="100051" name="Card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2" name="Card2Num"/>
          <p:cNvSpPr txBox="1"/>
          <p:nvPr/>
        </p:nvSpPr>
        <p:spPr>
          <a:xfrm xmlns:a="http://schemas.openxmlformats.org/drawingml/2006/main">
            <a:off x="48564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53" name="Card2Title"/>
          <p:cNvSpPr txBox="1"/>
          <p:nvPr/>
        </p:nvSpPr>
        <p:spPr>
          <a:xfrm xmlns:a="http://schemas.openxmlformats.org/drawingml/2006/main">
            <a:off x="48564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54" name="Card2Body"/>
          <p:cNvSpPr txBox="1"/>
          <p:nvPr/>
        </p:nvSpPr>
        <p:spPr>
          <a:xfrm xmlns:a="http://schemas.openxmlformats.org/drawingml/2006/main">
            <a:off x="48564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55" name="Card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6" name="Card3Num"/>
          <p:cNvSpPr txBox="1"/>
          <p:nvPr/>
        </p:nvSpPr>
        <p:spPr>
          <a:xfrm xmlns:a="http://schemas.openxmlformats.org/drawingml/2006/main">
            <a:off x="85248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57" name="Card3Title"/>
          <p:cNvSpPr txBox="1"/>
          <p:nvPr/>
        </p:nvSpPr>
        <p:spPr>
          <a:xfrm xmlns:a="http://schemas.openxmlformats.org/drawingml/2006/main">
            <a:off x="85248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License-safe</a:t>
            </a:r>
          </a:p>
        </p:txBody>
      </p:sp>
      <p:sp>
        <p:nvSpPr>
          <p:cNvPr id="100058" name="Card3Body"/>
          <p:cNvSpPr txBox="1"/>
          <p:nvPr/>
        </p:nvSpPr>
        <p:spPr>
          <a:xfrm xmlns:a="http://schemas.openxmlformats.org/drawingml/2006/main">
            <a:off x="85248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Infograpify is reference only. Motifs are original.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9" name="Funnel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Adoption funnel</a:t>
            </a:r>
          </a:p>
        </p:txBody>
      </p:sp>
      <p:sp>
        <p:nvSpPr>
          <p:cNvPr id="100060" name="FunnelBand1"/>
          <p:cNvSpPr/>
          <p:nvPr/>
        </p:nvSpPr>
        <p:spPr>
          <a:xfrm xmlns:a="http://schemas.openxmlformats.org/drawingml/2006/main">
            <a:off x="792000" y="1396800"/>
            <a:ext cx="10609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FunnelLabel1"/>
          <p:cNvSpPr txBox="1"/>
          <p:nvPr/>
        </p:nvSpPr>
        <p:spPr>
          <a:xfrm xmlns:a="http://schemas.openxmlformats.org/drawingml/2006/main">
            <a:off x="990000" y="1594800"/>
            <a:ext cx="10213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Discover  ·  100%</a:t>
            </a:r>
          </a:p>
        </p:txBody>
      </p:sp>
      <p:sp>
        <p:nvSpPr>
          <p:cNvPr id="100062" name="FunnelBand2"/>
          <p:cNvSpPr/>
          <p:nvPr/>
        </p:nvSpPr>
        <p:spPr>
          <a:xfrm xmlns:a="http://schemas.openxmlformats.org/drawingml/2006/main">
            <a:off x="1764000" y="2401200"/>
            <a:ext cx="8665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FunnelLabel2"/>
          <p:cNvSpPr txBox="1"/>
          <p:nvPr/>
        </p:nvSpPr>
        <p:spPr>
          <a:xfrm xmlns:a="http://schemas.openxmlformats.org/drawingml/2006/main">
            <a:off x="1962000" y="2599200"/>
            <a:ext cx="8269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Try doctor  ·  42%</a:t>
            </a:r>
          </a:p>
        </p:txBody>
      </p:sp>
      <p:sp>
        <p:nvSpPr>
          <p:cNvPr id="100064" name="FunnelBand3"/>
          <p:cNvSpPr/>
          <p:nvPr/>
        </p:nvSpPr>
        <p:spPr>
          <a:xfrm xmlns:a="http://schemas.openxmlformats.org/drawingml/2006/main">
            <a:off x="2736000" y="3402000"/>
            <a:ext cx="6717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5" name="FunnelLabel3"/>
          <p:cNvSpPr txBox="1"/>
          <p:nvPr/>
        </p:nvSpPr>
        <p:spPr>
          <a:xfrm xmlns:a="http://schemas.openxmlformats.org/drawingml/2006/main">
            <a:off x="2934000" y="3603600"/>
            <a:ext cx="6321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Scaffold  ·  19%</a:t>
            </a:r>
          </a:p>
        </p:txBody>
      </p:sp>
      <p:sp>
        <p:nvSpPr>
          <p:cNvPr id="100066" name="FunnelBand4"/>
          <p:cNvSpPr/>
          <p:nvPr/>
        </p:nvSpPr>
        <p:spPr>
          <a:xfrm xmlns:a="http://schemas.openxmlformats.org/drawingml/2006/main">
            <a:off x="3708000" y="4406400"/>
            <a:ext cx="4773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7" name="FunnelLabel4"/>
          <p:cNvSpPr txBox="1"/>
          <p:nvPr/>
        </p:nvSpPr>
        <p:spPr>
          <a:xfrm xmlns:a="http://schemas.openxmlformats.org/drawingml/2006/main">
            <a:off x="3906000" y="4604400"/>
            <a:ext cx="4377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Ship  ·  8%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68" name="Matrix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Where motifs play</a:t>
            </a:r>
          </a:p>
        </p:txBody>
      </p:sp>
      <p:sp>
        <p:nvSpPr>
          <p:cNvPr id="100069" name="Quad1Bg"/>
          <p:cNvSpPr/>
          <p:nvPr/>
        </p:nvSpPr>
        <p:spPr>
          <a:xfrm xmlns:a="http://schemas.openxmlformats.org/drawingml/2006/main">
            <a:off x="7920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Quad1Title"/>
          <p:cNvSpPr txBox="1"/>
          <p:nvPr/>
        </p:nvSpPr>
        <p:spPr>
          <a:xfrm xmlns:a="http://schemas.openxmlformats.org/drawingml/2006/main">
            <a:off x="10908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Hero</a:t>
            </a:r>
          </a:p>
        </p:txBody>
      </p:sp>
      <p:sp>
        <p:nvSpPr>
          <p:cNvPr id="100071" name="Quad1Body"/>
          <p:cNvSpPr txBox="1"/>
          <p:nvPr/>
        </p:nvSpPr>
        <p:spPr>
          <a:xfrm xmlns:a="http://schemas.openxmlformats.org/drawingml/2006/main">
            <a:off x="10908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sparse_hero · kpi_hero</a:t>
            </a:r>
          </a:p>
        </p:txBody>
      </p:sp>
      <p:sp>
        <p:nvSpPr>
          <p:cNvPr id="100072" name="Quad2Bg"/>
          <p:cNvSpPr/>
          <p:nvPr/>
        </p:nvSpPr>
        <p:spPr>
          <a:xfrm xmlns:a="http://schemas.openxmlformats.org/drawingml/2006/main">
            <a:off x="62928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3" name="Quad2Title"/>
          <p:cNvSpPr txBox="1"/>
          <p:nvPr/>
        </p:nvSpPr>
        <p:spPr>
          <a:xfrm xmlns:a="http://schemas.openxmlformats.org/drawingml/2006/main">
            <a:off x="65916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Compare</a:t>
            </a:r>
          </a:p>
        </p:txBody>
      </p:sp>
      <p:sp>
        <p:nvSpPr>
          <p:cNvPr id="100074" name="Quad2Body"/>
          <p:cNvSpPr txBox="1"/>
          <p:nvPr/>
        </p:nvSpPr>
        <p:spPr>
          <a:xfrm xmlns:a="http://schemas.openxmlformats.org/drawingml/2006/main">
            <a:off x="65916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split_hero · matrix_quad</a:t>
            </a:r>
          </a:p>
        </p:txBody>
      </p:sp>
      <p:sp>
        <p:nvSpPr>
          <p:cNvPr id="100075" name="Quad3Bg"/>
          <p:cNvSpPr/>
          <p:nvPr/>
        </p:nvSpPr>
        <p:spPr>
          <a:xfrm xmlns:a="http://schemas.openxmlformats.org/drawingml/2006/main">
            <a:off x="7920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6" name="Quad3Title"/>
          <p:cNvSpPr txBox="1"/>
          <p:nvPr/>
        </p:nvSpPr>
        <p:spPr>
          <a:xfrm xmlns:a="http://schemas.openxmlformats.org/drawingml/2006/main">
            <a:off x="10908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Flow</a:t>
            </a:r>
          </a:p>
        </p:txBody>
      </p:sp>
      <p:sp>
        <p:nvSpPr>
          <p:cNvPr id="100077" name="Quad3Body"/>
          <p:cNvSpPr txBox="1"/>
          <p:nvPr/>
        </p:nvSpPr>
        <p:spPr>
          <a:xfrm xmlns:a="http://schemas.openxmlformats.org/drawingml/2006/main">
            <a:off x="10908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step_rail · funnel_cascade</a:t>
            </a:r>
          </a:p>
        </p:txBody>
      </p:sp>
      <p:sp>
        <p:nvSpPr>
          <p:cNvPr id="100078" name="Quad4Bg"/>
          <p:cNvSpPr/>
          <p:nvPr/>
        </p:nvSpPr>
        <p:spPr>
          <a:xfrm xmlns:a="http://schemas.openxmlformats.org/drawingml/2006/main">
            <a:off x="62928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9" name="Quad4Title"/>
          <p:cNvSpPr txBox="1"/>
          <p:nvPr/>
        </p:nvSpPr>
        <p:spPr>
          <a:xfrm xmlns:a="http://schemas.openxmlformats.org/drawingml/2006/main">
            <a:off x="65916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Grid</a:t>
            </a:r>
          </a:p>
        </p:txBody>
      </p:sp>
      <p:sp>
        <p:nvSpPr>
          <p:cNvPr id="100080" name="Quad4Body"/>
          <p:cNvSpPr txBox="1"/>
          <p:nvPr/>
        </p:nvSpPr>
        <p:spPr>
          <a:xfrm xmlns:a="http://schemas.openxmlformats.org/drawingml/2006/main">
            <a:off x="65916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card_row · kpi_band · tile_row</a:t>
            </a:r>
          </a:p>
        </p:txBody>
      </p:sp>
      <p:sp>
        <p:nvSpPr>
          <p:cNvPr id="100081" name="AxisX"/>
          <p:cNvSpPr txBox="1"/>
          <p:nvPr/>
        </p:nvSpPr>
        <p:spPr>
          <a:xfrm xmlns:a="http://schemas.openxmlformats.org/drawingml/2006/main">
            <a:off x="792000" y="6300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→ Structure →</a:t>
            </a:r>
          </a:p>
        </p:txBody>
      </p:sp>
      <p:sp>
        <p:nvSpPr>
          <p:cNvPr id="100082" name="AxisY"/>
          <p:cNvSpPr txBox="1"/>
          <p:nvPr/>
        </p:nvSpPr>
        <p:spPr>
          <a:xfrm xmlns:a="http://schemas.openxmlformats.org/drawingml/2006/main">
            <a:off x="792000" y="1080000"/>
            <a:ext cx="43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↑ Narrative ↑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83" name="Stairs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staircase</a:t>
            </a:r>
          </a:p>
        </p:txBody>
      </p:sp>
      <p:sp>
        <p:nvSpPr>
          <p:cNvPr id="100084" name="Stair1"/>
          <p:cNvSpPr/>
          <p:nvPr/>
        </p:nvSpPr>
        <p:spPr>
          <a:xfrm xmlns:a="http://schemas.openxmlformats.org/drawingml/2006/main">
            <a:off x="828000" y="3538800"/>
            <a:ext cx="2048400" cy="171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Floors</a:t>
            </a:r>
          </a:p>
        </p:txBody>
      </p:sp>
      <p:sp>
        <p:nvSpPr>
          <p:cNvPr id="100085" name="Stair2"/>
          <p:cNvSpPr/>
          <p:nvPr/>
        </p:nvSpPr>
        <p:spPr>
          <a:xfrm xmlns:a="http://schemas.openxmlformats.org/drawingml/2006/main">
            <a:off x="2948400" y="3013200"/>
            <a:ext cx="2048400" cy="224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Motif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Chrome</a:t>
            </a:r>
          </a:p>
        </p:txBody>
      </p:sp>
      <p:sp>
        <p:nvSpPr>
          <p:cNvPr id="100086" name="Stair3"/>
          <p:cNvSpPr/>
          <p:nvPr/>
        </p:nvSpPr>
        <p:spPr>
          <a:xfrm xmlns:a="http://schemas.openxmlformats.org/drawingml/2006/main">
            <a:off x="5072400" y="2487600"/>
            <a:ext cx="2048400" cy="27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</a:t>
            </a:r>
          </a:p>
        </p:txBody>
      </p:sp>
      <p:sp>
        <p:nvSpPr>
          <p:cNvPr id="100087" name="Stair4"/>
          <p:cNvSpPr/>
          <p:nvPr/>
        </p:nvSpPr>
        <p:spPr>
          <a:xfrm xmlns:a="http://schemas.openxmlformats.org/drawingml/2006/main">
            <a:off x="7192800" y="1962000"/>
            <a:ext cx="2048400" cy="329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Sheet</a:t>
            </a:r>
          </a:p>
        </p:txBody>
      </p:sp>
      <p:sp>
        <p:nvSpPr>
          <p:cNvPr id="100088" name="Stair5"/>
          <p:cNvSpPr/>
          <p:nvPr/>
        </p:nvSpPr>
        <p:spPr>
          <a:xfrm xmlns:a="http://schemas.openxmlformats.org/drawingml/2006/main">
            <a:off x="9316800" y="1436400"/>
            <a:ext cx="2048400" cy="381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89" name="Chec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</a:t>
            </a:r>
          </a:p>
        </p:txBody>
      </p:sp>
      <p:sp>
        <p:nvSpPr>
          <p:cNvPr id="100090" name="CheckRow1"/>
          <p:cNvSpPr/>
          <p:nvPr/>
        </p:nvSpPr>
        <p:spPr>
          <a:xfrm xmlns:a="http://schemas.openxmlformats.org/drawingml/2006/main">
            <a:off x="792000" y="1533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91" name="CheckRow2"/>
          <p:cNvSpPr/>
          <p:nvPr/>
        </p:nvSpPr>
        <p:spPr>
          <a:xfrm xmlns:a="http://schemas.openxmlformats.org/drawingml/2006/main">
            <a:off x="792000" y="22500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</a:t>
            </a:r>
          </a:p>
        </p:txBody>
      </p:sp>
      <p:sp>
        <p:nvSpPr>
          <p:cNvPr id="100092" name="CheckRow3"/>
          <p:cNvSpPr/>
          <p:nvPr/>
        </p:nvSpPr>
        <p:spPr>
          <a:xfrm xmlns:a="http://schemas.openxmlformats.org/drawingml/2006/main">
            <a:off x="792000" y="29628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Body height follows content</a:t>
            </a:r>
          </a:p>
        </p:txBody>
      </p:sp>
      <p:sp>
        <p:nvSpPr>
          <p:cNvPr id="100093" name="CheckRow4"/>
          <p:cNvSpPr/>
          <p:nvPr/>
        </p:nvSpPr>
        <p:spPr>
          <a:xfrm xmlns:a="http://schemas.openxmlformats.org/drawingml/2006/main">
            <a:off x="792000" y="36792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No vendor shapes or icons</a:t>
            </a:r>
          </a:p>
        </p:txBody>
      </p:sp>
      <p:sp>
        <p:nvSpPr>
          <p:cNvPr id="100094" name="CheckRow5"/>
          <p:cNvSpPr/>
          <p:nvPr/>
        </p:nvSpPr>
        <p:spPr>
          <a:xfrm xmlns:a="http://schemas.openxmlformats.org/drawingml/2006/main">
            <a:off x="792000" y="4395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95" name="CloseTitle"/>
          <p:cNvSpPr txBox="1"/>
          <p:nvPr/>
        </p:nvSpPr>
        <p:spPr>
          <a:xfrm xmlns:a="http://schemas.openxmlformats.org/drawingml/2006/main">
            <a:off x="792000" y="1796400"/>
            <a:ext cx="10609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96" name="CloseBody"/>
          <p:cNvSpPr txBox="1"/>
          <p:nvPr/>
        </p:nvSpPr>
        <p:spPr>
          <a:xfrm xmlns:a="http://schemas.openxmlformats.org/drawingml/2006/main">
            <a:off x="1188000" y="2952000"/>
            <a:ext cx="9817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· scaffold · apply --screenshot</a:t>
            </a:r>
          </a:p>
        </p:txBody>
      </p:sp>
      <p:sp>
        <p:nvSpPr>
          <p:cNvPr id="100097" name="CloseCta"/>
          <p:cNvSpPr/>
          <p:nvPr/>
        </p:nvSpPr>
        <p:spPr>
          <a:xfrm xmlns:a="http://schemas.openxmlformats.org/drawingml/2006/main">
            <a:off x="4294800" y="4068000"/>
            <a:ext cx="3600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2026-07-15T14:44:25Z</dcterms:created>
  <cp:lastModifiedBy>OfficeCLI</cp:lastModifiedBy>
  <dcterms:modified xsi:type="dcterms:W3CDTF">2026-07-15T14:44:25Z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2026-07-15T14:44:26Z</vt:lpwstr>
  </op:property>
</op:Properties>
</file>