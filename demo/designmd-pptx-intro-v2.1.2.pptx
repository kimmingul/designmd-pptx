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10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23de179afde4e42" /><Relationship Type="http://schemas.openxmlformats.org/package/2006/relationships/metadata/core-properties" Target="/docProps/core.xml" Id="R74c3117271684b6a" /><Relationship Type="http://schemas.openxmlformats.org/officeDocument/2006/relationships/extended-properties" Target="/docProps/app.xml" Id="Rf96604a3259b47d9" /><Relationship Type="http://schemas.openxmlformats.org/officeDocument/2006/relationships/custom-properties" Target="/docProps/custom.xml" Id="R91e80d394ee5432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6b46372f504b4d80"/>
    <p:sldId id="257" r:id="R997e9c6f95ce4c46"/>
    <p:sldId id="258" r:id="R684bcc2dfca94c9c"/>
    <p:sldId id="259" r:id="R0d5be0d5002f4f1d"/>
    <p:sldId id="260" r:id="R986857ca3c254c61"/>
    <p:sldId id="261" r:id="R6dca5c91185a48a9"/>
    <p:sldId id="262" r:id="Rc85c0cafdf3745db"/>
    <p:sldId id="263" r:id="R5aac87b4b07148c9"/>
    <p:sldId id="264" r:id="R4be03f64042e4ea7"/>
    <p:sldId id="265" r:id="Rd3765a694baa402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6b46372f504b4d80" /><Relationship Type="http://schemas.openxmlformats.org/officeDocument/2006/relationships/slide" Target="/ppt/slides/slide2.xml" Id="R997e9c6f95ce4c46" /><Relationship Type="http://schemas.openxmlformats.org/officeDocument/2006/relationships/slide" Target="/ppt/slides/slide3.xml" Id="R684bcc2dfca94c9c" /><Relationship Type="http://schemas.openxmlformats.org/officeDocument/2006/relationships/slide" Target="/ppt/slides/slide4.xml" Id="R0d5be0d5002f4f1d" /><Relationship Type="http://schemas.openxmlformats.org/officeDocument/2006/relationships/slide" Target="/ppt/slides/slide5.xml" Id="R986857ca3c254c61" /><Relationship Type="http://schemas.openxmlformats.org/officeDocument/2006/relationships/slide" Target="/ppt/slides/slide6.xml" Id="R6dca5c91185a48a9" /><Relationship Type="http://schemas.openxmlformats.org/officeDocument/2006/relationships/slide" Target="/ppt/slides/slide7.xml" Id="Rc85c0cafdf3745db" /><Relationship Type="http://schemas.openxmlformats.org/officeDocument/2006/relationships/slide" Target="/ppt/slides/slide8.xml" Id="R5aac87b4b07148c9" /><Relationship Type="http://schemas.openxmlformats.org/officeDocument/2006/relationships/slide" Target="/ppt/slides/slide9.xml" Id="R4be03f64042e4ea7" /><Relationship Type="http://schemas.openxmlformats.org/officeDocument/2006/relationships/slide" Target="/ppt/slides/slide10.xml" Id="Rd3765a694baa402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Everything else is a derivative of this file.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Call the single metric that proves the after state.</a:t>
            </a:r>
          </a:p>
        </p:txBody>
      </p:sp>
    </p:spTree>
  </p:cSld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Five steps. One owner each. Gate 3 is not optional.</a:t>
            </a:r>
          </a:p>
        </p:txBody>
      </p:sp>
    </p:spTree>
  </p:cSld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Three cards max on a hero slide; cut copy first.</a:t>
            </a:r>
          </a:p>
        </p:txBody>
      </p:sp>
    </p:spTree>
  </p:cSld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Pillars are non-negotiable investments, not initiatives.</a:t>
            </a:r>
          </a:p>
        </p:txBody>
      </p:sp>
    </p:spTree>
  </p:cSld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Mission is timeless; vision is dated and measurable.</a:t>
            </a:r>
          </a:p>
        </p:txBody>
      </p:sp>
    </p:spTree>
  </p:cSld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You cannot skip a stair — name the exit criteria.</a:t>
            </a:r>
          </a:p>
        </p:txBody>
      </p:sp>
    </p:spTree>
  </p:cSld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Open items need an owner before the meeting ends.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1d42cf8329410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09293ca14f41b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25a8af1f9c45a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fe4e7fb8fe499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aab05992db4d29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4780d67796164c09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01c07cfc0945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7b4214516c460b" /><Relationship Type="http://schemas.openxmlformats.org/officeDocument/2006/relationships/notesSlide" Target="/ppt/notesSlides/notesSlide1.xml" Id="Rc3462f253ef34ac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d794c2ca674a5b" /><Relationship Type="http://schemas.openxmlformats.org/officeDocument/2006/relationships/notesSlide" Target="/ppt/notesSlides/notesSlide2.xml" Id="R94e44c64de4c4cd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bab48be6e64619" /><Relationship Type="http://schemas.openxmlformats.org/officeDocument/2006/relationships/notesSlide" Target="/ppt/notesSlides/notesSlide3.xml" Id="Re79918a48b434ae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b903be4bc471f" /><Relationship Type="http://schemas.openxmlformats.org/officeDocument/2006/relationships/notesSlide" Target="/ppt/notesSlides/notesSlide4.xml" Id="R69a8326440b541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58d4f521b34b6d" /><Relationship Type="http://schemas.openxmlformats.org/officeDocument/2006/relationships/notesSlide" Target="/ppt/notesSlides/notesSlide5.xml" Id="R44557f6d76de48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f12b2bc3134e09" /><Relationship Type="http://schemas.openxmlformats.org/officeDocument/2006/relationships/notesSlide" Target="/ppt/notesSlides/notesSlide6.xml" Id="Rdd7bd6e35cf54bd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2035382f864ca2" /><Relationship Type="http://schemas.openxmlformats.org/officeDocument/2006/relationships/notesSlide" Target="/ppt/notesSlides/notesSlide7.xml" Id="R08ce6fea00b94e3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c2350750e54d8b" /><Relationship Type="http://schemas.openxmlformats.org/officeDocument/2006/relationships/notesSlide" Target="/ppt/notesSlides/notesSlide8.xml" Id="Rf31a7755beb4424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7d646c50144e7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0" name="CoverEdge"/>
          <p:cNvSpPr/>
          <p:nvPr/>
        </p:nvSpPr>
        <p:spPr>
          <a:xfrm xmlns:a="http://schemas.openxmlformats.org/drawingml/2006/main">
            <a:off x="0" y="0"/>
            <a:ext cx="12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1" name="CoverTitle"/>
          <p:cNvSpPr txBox="1"/>
          <p:nvPr/>
        </p:nvSpPr>
        <p:spPr>
          <a:xfrm xmlns:a="http://schemas.openxmlformats.org/drawingml/2006/main">
            <a:off x="792000" y="1872000"/>
            <a:ext cx="10609200" cy="151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/>
            <a:r>
              <a:rPr lang="en-US" sz="4800" b="1">
                <a:solidFill>
                  <a:srgbClr val="F5F5F7"/>
                </a:solidFill>
                <a:latin typeface="Arial"/>
                <a:ea typeface="Arial"/>
              </a:rPr>
              <a:t>designmd-pptx</a:t>
            </a:r>
          </a:p>
        </p:txBody>
      </p:sp>
      <p:sp>
        <p:nvSpPr>
          <p:cNvPr id="100002" name="CoverAccent"/>
          <p:cNvSpPr/>
          <p:nvPr/>
        </p:nvSpPr>
        <p:spPr>
          <a:xfrm xmlns:a="http://schemas.openxmlformats.org/drawingml/2006/main">
            <a:off x="792000" y="3420000"/>
            <a:ext cx="1620000" cy="5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3" name="CoverSubtitle"/>
          <p:cNvSpPr txBox="1"/>
          <p:nvPr/>
        </p:nvSpPr>
        <p:spPr>
          <a:xfrm xmlns:a="http://schemas.openxmlformats.org/drawingml/2006/main">
            <a:off x="792000" y="3564000"/>
            <a:ext cx="936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Brand design that becomes a real deck</a:t>
            </a:r>
          </a:p>
        </p:txBody>
      </p:sp>
      <p:sp>
        <p:nvSpPr>
          <p:cNvPr id="100004" name="CoverMeta"/>
          <p:cNvSpPr txBox="1"/>
          <p:nvPr/>
        </p:nvSpPr>
        <p:spPr>
          <a:xfrm xmlns:a="http://schemas.openxmlformats.org/drawingml/2006/main">
            <a:off x="792000" y="6048000"/>
            <a:ext cx="10609200" cy="32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/>
            <a:r>
              <a:rPr lang="en-US" sz="1200">
                <a:solidFill>
                  <a:srgbClr val="A0A6B0"/>
                </a:solidFill>
                <a:latin typeface="Arial"/>
                <a:ea typeface="Arial"/>
              </a:rPr>
              <a:t>v2.1.2  ·  English  ·  Precision pipeline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5" name="BigValue"/>
          <p:cNvSpPr txBox="1"/>
          <p:nvPr/>
        </p:nvSpPr>
        <p:spPr>
          <a:xfrm xmlns:a="http://schemas.openxmlformats.org/drawingml/2006/main">
            <a:off x="792000" y="1180800"/>
            <a:ext cx="10609200" cy="230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8100" b="1">
                <a:solidFill>
                  <a:srgbClr val="0B5FFF"/>
                </a:solidFill>
                <a:latin typeface="Arial"/>
                <a:ea typeface="Arial"/>
              </a:rPr>
              <a:t>DESIGN.md</a:t>
            </a:r>
          </a:p>
        </p:txBody>
      </p:sp>
      <p:sp>
        <p:nvSpPr>
          <p:cNvPr id="100006" name="BigLabel"/>
          <p:cNvSpPr txBox="1"/>
          <p:nvPr/>
        </p:nvSpPr>
        <p:spPr>
          <a:xfrm xmlns:a="http://schemas.openxmlformats.org/drawingml/2006/main">
            <a:off x="792000" y="3704400"/>
            <a:ext cx="10609200" cy="61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The brand is the contract</a:t>
            </a:r>
          </a:p>
        </p:txBody>
      </p:sp>
      <p:sp>
        <p:nvSpPr>
          <p:cNvPr id="100007" name="BigContext"/>
          <p:cNvSpPr txBox="1"/>
          <p:nvPr/>
        </p:nvSpPr>
        <p:spPr>
          <a:xfrm xmlns:a="http://schemas.openxmlformats.org/drawingml/2006/main">
            <a:off x="1188000" y="4514400"/>
            <a:ext cx="9817200" cy="79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Tokens, recipes, staging-safe apply — not a blank slide and a prayer.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08" name="Ba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What changes</a:t>
            </a:r>
          </a:p>
        </p:txBody>
      </p:sp>
      <p:sp>
        <p:nvSpPr>
          <p:cNvPr id="100009" name="BaPanel1"/>
          <p:cNvSpPr/>
          <p:nvPr/>
        </p:nvSpPr>
        <p:spPr>
          <a:xfrm xmlns:a="http://schemas.openxmlformats.org/drawingml/2006/main">
            <a:off x="792000" y="1980000"/>
            <a:ext cx="5104800" cy="302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0" name="BaHead1"/>
          <p:cNvSpPr txBox="1"/>
          <p:nvPr/>
        </p:nvSpPr>
        <p:spPr>
          <a:xfrm xmlns:a="http://schemas.openxmlformats.org/drawingml/2006/main">
            <a:off x="1188000" y="2376000"/>
            <a:ext cx="43128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Before</a:t>
            </a:r>
          </a:p>
        </p:txBody>
      </p:sp>
      <p:sp>
        <p:nvSpPr>
          <p:cNvPr id="100011" name="BaBody1"/>
          <p:cNvSpPr txBox="1"/>
          <p:nvPr/>
        </p:nvSpPr>
        <p:spPr>
          <a:xfrm xmlns:a="http://schemas.openxmlformats.org/drawingml/2006/main">
            <a:off x="1188000" y="3135600"/>
            <a:ext cx="4312800" cy="146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Decks drift from the brand file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Agents invent one-off layouts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No floors, no screenshot gate</a:t>
            </a:r>
          </a:p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• Overwrite risk on every save</a:t>
            </a:r>
          </a:p>
        </p:txBody>
      </p:sp>
      <p:sp>
        <p:nvSpPr>
          <p:cNvPr id="100012" name="BaPanel2"/>
          <p:cNvSpPr/>
          <p:nvPr/>
        </p:nvSpPr>
        <p:spPr>
          <a:xfrm xmlns:a="http://schemas.openxmlformats.org/drawingml/2006/main">
            <a:off x="6292800" y="1980000"/>
            <a:ext cx="5104800" cy="302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3" name="BaHead2"/>
          <p:cNvSpPr txBox="1"/>
          <p:nvPr/>
        </p:nvSpPr>
        <p:spPr>
          <a:xfrm xmlns:a="http://schemas.openxmlformats.org/drawingml/2006/main">
            <a:off x="6692400" y="2376000"/>
            <a:ext cx="43128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FFFFF"/>
                </a:solidFill>
                <a:latin typeface="Arial"/>
                <a:ea typeface="Arial"/>
              </a:rPr>
              <a:t>After</a:t>
            </a:r>
          </a:p>
        </p:txBody>
      </p:sp>
      <p:sp>
        <p:nvSpPr>
          <p:cNvPr id="100014" name="BaBody2"/>
          <p:cNvSpPr txBox="1"/>
          <p:nvPr/>
        </p:nvSpPr>
        <p:spPr>
          <a:xfrm xmlns:a="http://schemas.openxmlformats.org/drawingml/2006/main">
            <a:off x="6692400" y="3135600"/>
            <a:ext cx="4312800" cy="146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Tokens compiled from DESIGN.md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Recipes with real text budgets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Gate 3 contact sheet before ship</a:t>
            </a:r>
          </a:p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• Staging-safe apply with --force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15" name="Proc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One pipeline</a:t>
            </a:r>
          </a:p>
        </p:txBody>
      </p:sp>
      <p:sp>
        <p:nvSpPr>
          <p:cNvPr id="100016" name="Proc1"/>
          <p:cNvSpPr/>
          <p:nvPr/>
        </p:nvSpPr>
        <p:spPr>
          <a:xfrm xmlns:a="http://schemas.openxmlformats.org/drawingml/2006/main">
            <a:off x="7920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Markdown</a:t>
            </a:r>
          </a:p>
        </p:txBody>
      </p:sp>
      <p:sp>
        <p:nvSpPr>
          <p:cNvPr id="100017" name="Proc2"/>
          <p:cNvSpPr/>
          <p:nvPr/>
        </p:nvSpPr>
        <p:spPr>
          <a:xfrm xmlns:a="http://schemas.openxmlformats.org/drawingml/2006/main">
            <a:off x="29916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Compose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Deck-spec</a:t>
            </a:r>
          </a:p>
        </p:txBody>
      </p:sp>
      <p:sp>
        <p:nvSpPr>
          <p:cNvPr id="100018" name="Proc3"/>
          <p:cNvSpPr/>
          <p:nvPr/>
        </p:nvSpPr>
        <p:spPr>
          <a:xfrm xmlns:a="http://schemas.openxmlformats.org/drawingml/2006/main">
            <a:off x="51948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Scaffold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Tokens</a:t>
            </a:r>
          </a:p>
        </p:txBody>
      </p:sp>
      <p:sp>
        <p:nvSpPr>
          <p:cNvPr id="100019" name="Proc4"/>
          <p:cNvSpPr/>
          <p:nvPr/>
        </p:nvSpPr>
        <p:spPr>
          <a:xfrm xmlns:a="http://schemas.openxmlformats.org/drawingml/2006/main">
            <a:off x="73944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4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Apply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Legacy</a:t>
            </a:r>
          </a:p>
        </p:txBody>
      </p:sp>
      <p:sp>
        <p:nvSpPr>
          <p:cNvPr id="100020" name="Proc5"/>
          <p:cNvSpPr/>
          <p:nvPr/>
        </p:nvSpPr>
        <p:spPr>
          <a:xfrm xmlns:a="http://schemas.openxmlformats.org/drawingml/2006/main">
            <a:off x="9597600" y="2332800"/>
            <a:ext cx="1803600" cy="180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Gate 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QA</a:t>
            </a:r>
          </a:p>
        </p:txBody>
      </p:sp>
      <p:cxnSp>
        <p:nvCxnSpPr>
          <p:cNvPr id="100021" name="Connector 1"/>
          <p:cNvCxnSpPr>
            <a:stCxn xmlns:a="http://schemas.openxmlformats.org/drawingml/2006/main" id="100016" idx="0"/>
            <a:endCxn xmlns:a="http://schemas.openxmlformats.org/drawingml/2006/main" id="100017" idx="0"/>
          </p:cNvCxnSpPr>
          <p:nvPr/>
        </p:nvCxnSpPr>
        <p:spPr>
          <a:xfrm xmlns:a="http://schemas.openxmlformats.org/drawingml/2006/main">
            <a:off x="2595600" y="3232800"/>
            <a:ext cx="396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22" name="Connector 2"/>
          <p:cNvCxnSpPr>
            <a:stCxn xmlns:a="http://schemas.openxmlformats.org/drawingml/2006/main" id="100017" idx="0"/>
            <a:endCxn xmlns:a="http://schemas.openxmlformats.org/drawingml/2006/main" id="100018" idx="0"/>
          </p:cNvCxnSpPr>
          <p:nvPr/>
        </p:nvCxnSpPr>
        <p:spPr>
          <a:xfrm xmlns:a="http://schemas.openxmlformats.org/drawingml/2006/main">
            <a:off x="4795200" y="3232800"/>
            <a:ext cx="399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23" name="Connector 3"/>
          <p:cNvCxnSpPr>
            <a:stCxn xmlns:a="http://schemas.openxmlformats.org/drawingml/2006/main" id="100018" idx="0"/>
            <a:endCxn xmlns:a="http://schemas.openxmlformats.org/drawingml/2006/main" id="100019" idx="0"/>
          </p:cNvCxnSpPr>
          <p:nvPr/>
        </p:nvCxnSpPr>
        <p:spPr>
          <a:xfrm xmlns:a="http://schemas.openxmlformats.org/drawingml/2006/main">
            <a:off x="6998400" y="3232800"/>
            <a:ext cx="3960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  <p:cxnSp>
        <p:nvCxnSpPr>
          <p:cNvPr id="100024" name="Connector 4"/>
          <p:cNvCxnSpPr>
            <a:stCxn xmlns:a="http://schemas.openxmlformats.org/drawingml/2006/main" id="100019" idx="0"/>
            <a:endCxn xmlns:a="http://schemas.openxmlformats.org/drawingml/2006/main" id="100020" idx="0"/>
          </p:cNvCxnSpPr>
          <p:nvPr/>
        </p:nvCxnSpPr>
        <p:spPr>
          <a:xfrm xmlns:a="http://schemas.openxmlformats.org/drawingml/2006/main">
            <a:off x="9198000" y="3232800"/>
            <a:ext cx="399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A0A6B0"/>
            </a:solidFill>
            <a:tailEnd type="triangle"/>
          </a:ln>
        </p:spPr>
      </p:cxn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25" name="FeatTitle"/>
          <p:cNvSpPr txBox="1"/>
          <p:nvPr/>
        </p:nvSpPr>
        <p:spPr>
          <a:xfrm xmlns:a="http://schemas.openxmlformats.org/drawingml/2006/main">
            <a:off x="792000" y="435600"/>
            <a:ext cx="10609200" cy="662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Three promises</a:t>
            </a:r>
          </a:p>
        </p:txBody>
      </p:sp>
      <p:sp>
        <p:nvSpPr>
          <p:cNvPr id="100026" name="Card1Bg"/>
          <p:cNvSpPr/>
          <p:nvPr/>
        </p:nvSpPr>
        <p:spPr>
          <a:xfrm xmlns:a="http://schemas.openxmlformats.org/drawingml/2006/main">
            <a:off x="7920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27" name="Card1Num"/>
          <p:cNvSpPr txBox="1"/>
          <p:nvPr/>
        </p:nvSpPr>
        <p:spPr>
          <a:xfrm xmlns:a="http://schemas.openxmlformats.org/drawingml/2006/main">
            <a:off x="11880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01</a:t>
            </a:r>
          </a:p>
        </p:txBody>
      </p:sp>
      <p:sp>
        <p:nvSpPr>
          <p:cNvPr id="100028" name="Card1Title"/>
          <p:cNvSpPr txBox="1"/>
          <p:nvPr/>
        </p:nvSpPr>
        <p:spPr>
          <a:xfrm xmlns:a="http://schemas.openxmlformats.org/drawingml/2006/main">
            <a:off x="11880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Exact geometry</a:t>
            </a:r>
          </a:p>
        </p:txBody>
      </p:sp>
      <p:sp>
        <p:nvSpPr>
          <p:cNvPr id="100029" name="Card1Body"/>
          <p:cNvSpPr txBox="1"/>
          <p:nvPr/>
        </p:nvSpPr>
        <p:spPr>
          <a:xfrm xmlns:a="http://schemas.openxmlformats.org/drawingml/2006/main">
            <a:off x="11880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Centimeters. Glued connectors. Type floors that hold.</a:t>
            </a:r>
          </a:p>
        </p:txBody>
      </p:sp>
      <p:sp>
        <p:nvSpPr>
          <p:cNvPr id="100030" name="Card2Bg"/>
          <p:cNvSpPr/>
          <p:nvPr/>
        </p:nvSpPr>
        <p:spPr>
          <a:xfrm xmlns:a="http://schemas.openxmlformats.org/drawingml/2006/main">
            <a:off x="44604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1" name="Card2Num"/>
          <p:cNvSpPr txBox="1"/>
          <p:nvPr/>
        </p:nvSpPr>
        <p:spPr>
          <a:xfrm xmlns:a="http://schemas.openxmlformats.org/drawingml/2006/main">
            <a:off x="48564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100032" name="Card2Title"/>
          <p:cNvSpPr txBox="1"/>
          <p:nvPr/>
        </p:nvSpPr>
        <p:spPr>
          <a:xfrm xmlns:a="http://schemas.openxmlformats.org/drawingml/2006/main">
            <a:off x="48564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Hard gates</a:t>
            </a:r>
          </a:p>
        </p:txBody>
      </p:sp>
      <p:sp>
        <p:nvSpPr>
          <p:cNvPr id="100033" name="Card2Body"/>
          <p:cNvSpPr txBox="1"/>
          <p:nvPr/>
        </p:nvSpPr>
        <p:spPr>
          <a:xfrm xmlns:a="http://schemas.openxmlformats.org/drawingml/2006/main">
            <a:off x="48564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Budgets, contrast, issues — then a contact sheet.</a:t>
            </a:r>
          </a:p>
        </p:txBody>
      </p:sp>
      <p:sp>
        <p:nvSpPr>
          <p:cNvPr id="100034" name="Card3Bg"/>
          <p:cNvSpPr/>
          <p:nvPr/>
        </p:nvSpPr>
        <p:spPr>
          <a:xfrm xmlns:a="http://schemas.openxmlformats.org/drawingml/2006/main">
            <a:off x="8128800" y="1414800"/>
            <a:ext cx="3272400" cy="4651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35" name="Card3Num"/>
          <p:cNvSpPr txBox="1"/>
          <p:nvPr/>
        </p:nvSpPr>
        <p:spPr>
          <a:xfrm xmlns:a="http://schemas.openxmlformats.org/drawingml/2006/main">
            <a:off x="8524800" y="1810800"/>
            <a:ext cx="2480400" cy="66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0B5FFF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100036" name="Card3Title"/>
          <p:cNvSpPr txBox="1"/>
          <p:nvPr/>
        </p:nvSpPr>
        <p:spPr>
          <a:xfrm xmlns:a="http://schemas.openxmlformats.org/drawingml/2006/main">
            <a:off x="8524800" y="2696400"/>
            <a:ext cx="2480400" cy="77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F5F5F7"/>
                </a:solidFill>
                <a:latin typeface="Arial"/>
                <a:ea typeface="Arial"/>
              </a:rPr>
              <a:t>Agent-safe</a:t>
            </a:r>
          </a:p>
        </p:txBody>
      </p:sp>
      <p:sp>
        <p:nvSpPr>
          <p:cNvPr id="100037" name="Card3Body"/>
          <p:cNvSpPr txBox="1"/>
          <p:nvPr/>
        </p:nvSpPr>
        <p:spPr>
          <a:xfrm xmlns:a="http://schemas.openxmlformats.org/drawingml/2006/main">
            <a:off x="8524800" y="3693600"/>
            <a:ext cx="2480400" cy="946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A0A6B0"/>
                </a:solidFill>
                <a:latin typeface="Arial"/>
                <a:ea typeface="Arial"/>
              </a:rPr>
              <a:t>Claude, Codex, Grok. Install only after you say yes.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38" name="Pillar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Two backends, one contract</a:t>
            </a:r>
          </a:p>
        </p:txBody>
      </p:sp>
      <p:sp>
        <p:nvSpPr>
          <p:cNvPr id="100039" name="Pillar1"/>
          <p:cNvSpPr/>
          <p:nvPr/>
        </p:nvSpPr>
        <p:spPr>
          <a:xfrm xmlns:a="http://schemas.openxmlformats.org/drawingml/2006/main">
            <a:off x="792000" y="2545200"/>
            <a:ext cx="3272400" cy="2678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Legacy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FFFFF"/>
                </a:solidFill>
                <a:latin typeface="Arial"/>
                <a:ea typeface="Arial"/>
              </a:rPr>
              <a:t>Shape-level precision for DESIGN.md decks</a:t>
            </a:r>
          </a:p>
        </p:txBody>
      </p:sp>
      <p:sp>
        <p:nvSpPr>
          <p:cNvPr id="100040" name="Pillar2"/>
          <p:cNvSpPr/>
          <p:nvPr/>
        </p:nvSpPr>
        <p:spPr>
          <a:xfrm xmlns:a="http://schemas.openxmlformats.org/drawingml/2006/main">
            <a:off x="4460400" y="2026800"/>
            <a:ext cx="3272400" cy="3200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Official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Agent-bridge drafts via office.render</a:t>
            </a:r>
          </a:p>
        </p:txBody>
      </p:sp>
      <p:sp>
        <p:nvSpPr>
          <p:cNvPr id="100041" name="Pillar3"/>
          <p:cNvSpPr/>
          <p:nvPr/>
        </p:nvSpPr>
        <p:spPr>
          <a:xfrm xmlns:a="http://schemas.openxmlformats.org/drawingml/2006/main">
            <a:off x="8128800" y="1504800"/>
            <a:ext cx="3272400" cy="3722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Offline</a:t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/>
            </a:r>
          </a:p>
          <a:p xmlns:a="http://schemas.openxmlformats.org/drawingml/2006/main">
            <a:pPr algn="ctr"/>
            <a:r>
              <a:rPr lang="en-US" sz="2400" b="1">
                <a:solidFill>
                  <a:srgbClr val="F5F5F7"/>
                </a:solidFill>
                <a:latin typeface="Arial"/>
                <a:ea typeface="Arial"/>
              </a:rPr>
              <a:t>Compose, a11y, refine, animate without a binary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42" name="MV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North star</a:t>
            </a:r>
          </a:p>
        </p:txBody>
      </p:sp>
      <p:sp>
        <p:nvSpPr>
          <p:cNvPr id="100043" name="MVPanel1"/>
          <p:cNvSpPr/>
          <p:nvPr/>
        </p:nvSpPr>
        <p:spPr>
          <a:xfrm xmlns:a="http://schemas.openxmlformats.org/drawingml/2006/main">
            <a:off x="792000" y="2196000"/>
            <a:ext cx="5104800" cy="244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4" name="MVLab1"/>
          <p:cNvSpPr txBox="1"/>
          <p:nvPr/>
        </p:nvSpPr>
        <p:spPr>
          <a:xfrm xmlns:a="http://schemas.openxmlformats.org/drawingml/2006/main">
            <a:off x="1188000" y="2592000"/>
            <a:ext cx="43128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5F5F7"/>
                </a:solidFill>
                <a:latin typeface="Arial"/>
                <a:ea typeface="Arial"/>
              </a:rPr>
              <a:t>Mission</a:t>
            </a:r>
          </a:p>
        </p:txBody>
      </p:sp>
      <p:sp>
        <p:nvSpPr>
          <p:cNvPr id="100045" name="MVBody1"/>
          <p:cNvSpPr txBox="1"/>
          <p:nvPr/>
        </p:nvSpPr>
        <p:spPr>
          <a:xfrm xmlns:a="http://schemas.openxmlformats.org/drawingml/2006/main">
            <a:off x="1188000" y="3355200"/>
            <a:ext cx="4312800" cy="89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Make every brand deck as sharp as the product it sells.</a:t>
            </a:r>
          </a:p>
        </p:txBody>
      </p:sp>
      <p:sp>
        <p:nvSpPr>
          <p:cNvPr id="100046" name="MVPanel2"/>
          <p:cNvSpPr/>
          <p:nvPr/>
        </p:nvSpPr>
        <p:spPr>
          <a:xfrm xmlns:a="http://schemas.openxmlformats.org/drawingml/2006/main">
            <a:off x="6292800" y="2196000"/>
            <a:ext cx="5104800" cy="2448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47" name="MVLab2"/>
          <p:cNvSpPr txBox="1"/>
          <p:nvPr/>
        </p:nvSpPr>
        <p:spPr>
          <a:xfrm xmlns:a="http://schemas.openxmlformats.org/drawingml/2006/main">
            <a:off x="6692400" y="2592000"/>
            <a:ext cx="4312800" cy="54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FFFFFF"/>
                </a:solidFill>
                <a:latin typeface="Arial"/>
                <a:ea typeface="Arial"/>
              </a:rPr>
              <a:t>Vision</a:t>
            </a:r>
          </a:p>
        </p:txBody>
      </p:sp>
      <p:sp>
        <p:nvSpPr>
          <p:cNvPr id="100048" name="MVBody2"/>
          <p:cNvSpPr txBox="1"/>
          <p:nvPr/>
        </p:nvSpPr>
        <p:spPr>
          <a:xfrm xmlns:a="http://schemas.openxmlformats.org/drawingml/2006/main">
            <a:off x="6692400" y="3355200"/>
            <a:ext cx="4312800" cy="896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FFFFF"/>
                </a:solidFill>
                <a:latin typeface="Arial"/>
                <a:ea typeface="Arial"/>
              </a:rPr>
              <a:t>Ship DESIGN.md-native slides without designers in the pixel loop.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49" name="Stairs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Quality is a staircase</a:t>
            </a:r>
          </a:p>
        </p:txBody>
      </p:sp>
      <p:sp>
        <p:nvSpPr>
          <p:cNvPr id="100050" name="Stair1"/>
          <p:cNvSpPr/>
          <p:nvPr/>
        </p:nvSpPr>
        <p:spPr>
          <a:xfrm xmlns:a="http://schemas.openxmlformats.org/drawingml/2006/main">
            <a:off x="828000" y="3538800"/>
            <a:ext cx="2048400" cy="17172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1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Tokens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Brand floors</a:t>
            </a:r>
          </a:p>
        </p:txBody>
      </p:sp>
      <p:sp>
        <p:nvSpPr>
          <p:cNvPr id="100051" name="Stair2"/>
          <p:cNvSpPr/>
          <p:nvPr/>
        </p:nvSpPr>
        <p:spPr>
          <a:xfrm xmlns:a="http://schemas.openxmlformats.org/drawingml/2006/main">
            <a:off x="2948400" y="3013200"/>
            <a:ext cx="2048400" cy="2242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2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Fit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CJK budgets</a:t>
            </a:r>
          </a:p>
        </p:txBody>
      </p:sp>
      <p:sp>
        <p:nvSpPr>
          <p:cNvPr id="100052" name="Stair3"/>
          <p:cNvSpPr/>
          <p:nvPr/>
        </p:nvSpPr>
        <p:spPr>
          <a:xfrm xmlns:a="http://schemas.openxmlformats.org/drawingml/2006/main">
            <a:off x="5072400" y="2487600"/>
            <a:ext cx="2048400" cy="27684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Issues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Overlap gate</a:t>
            </a:r>
          </a:p>
        </p:txBody>
      </p:sp>
      <p:sp>
        <p:nvSpPr>
          <p:cNvPr id="100053" name="Stair4"/>
          <p:cNvSpPr/>
          <p:nvPr/>
        </p:nvSpPr>
        <p:spPr>
          <a:xfrm xmlns:a="http://schemas.openxmlformats.org/drawingml/2006/main">
            <a:off x="7192800" y="1962000"/>
            <a:ext cx="2048400" cy="3294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4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Gate 3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5F5F7"/>
                </a:solidFill>
                <a:latin typeface="Arial"/>
                <a:ea typeface="Arial"/>
              </a:rPr>
              <a:t>Contact sheet</a:t>
            </a:r>
          </a:p>
        </p:txBody>
      </p:sp>
      <p:sp>
        <p:nvSpPr>
          <p:cNvPr id="100054" name="Stair5"/>
          <p:cNvSpPr/>
          <p:nvPr/>
        </p:nvSpPr>
        <p:spPr>
          <a:xfrm xmlns:a="http://schemas.openxmlformats.org/drawingml/2006/main">
            <a:off x="9316800" y="1436400"/>
            <a:ext cx="2048400" cy="3816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Ship</a:t>
            </a:r>
          </a:p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Human check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55" name="CheckTitle"/>
          <p:cNvSpPr txBox="1"/>
          <p:nvPr/>
        </p:nvSpPr>
        <p:spPr>
          <a:xfrm xmlns:a="http://schemas.openxmlformats.org/drawingml/2006/main">
            <a:off x="792000" y="435600"/>
            <a:ext cx="10609200" cy="558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5F5F7"/>
                </a:solidFill>
                <a:latin typeface="Arial"/>
                <a:ea typeface="Arial"/>
              </a:rPr>
              <a:t>Hard rules</a:t>
            </a:r>
          </a:p>
        </p:txBody>
      </p:sp>
      <p:sp>
        <p:nvSpPr>
          <p:cNvPr id="100056" name="CheckRow1"/>
          <p:cNvSpPr/>
          <p:nvPr/>
        </p:nvSpPr>
        <p:spPr>
          <a:xfrm xmlns:a="http://schemas.openxmlformats.org/drawingml/2006/main">
            <a:off x="792000" y="15336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Title ≥ 36pt · body ≥ 18pt</a:t>
            </a:r>
          </a:p>
        </p:txBody>
      </p:sp>
      <p:sp>
        <p:nvSpPr>
          <p:cNvPr id="100057" name="CheckRow2"/>
          <p:cNvSpPr/>
          <p:nvPr/>
        </p:nvSpPr>
        <p:spPr>
          <a:xfrm xmlns:a="http://schemas.openxmlformats.org/drawingml/2006/main">
            <a:off x="792000" y="22500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Never shrink fonts to fit — split or cut</a:t>
            </a:r>
          </a:p>
        </p:txBody>
      </p:sp>
      <p:sp>
        <p:nvSpPr>
          <p:cNvPr id="100058" name="CheckRow3"/>
          <p:cNvSpPr/>
          <p:nvPr/>
        </p:nvSpPr>
        <p:spPr>
          <a:xfrm xmlns:a="http://schemas.openxmlformats.org/drawingml/2006/main">
            <a:off x="792000" y="29628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Body height follows content, not free space</a:t>
            </a:r>
          </a:p>
        </p:txBody>
      </p:sp>
      <p:sp>
        <p:nvSpPr>
          <p:cNvPr id="100059" name="CheckRow4"/>
          <p:cNvSpPr/>
          <p:nvPr/>
        </p:nvSpPr>
        <p:spPr>
          <a:xfrm xmlns:a="http://schemas.openxmlformats.org/drawingml/2006/main">
            <a:off x="792000" y="36792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Overwrite only with --force</a:t>
            </a:r>
          </a:p>
        </p:txBody>
      </p:sp>
      <p:sp>
        <p:nvSpPr>
          <p:cNvPr id="100060" name="CheckRow5"/>
          <p:cNvSpPr/>
          <p:nvPr/>
        </p:nvSpPr>
        <p:spPr>
          <a:xfrm xmlns:a="http://schemas.openxmlformats.org/drawingml/2006/main">
            <a:off x="792000" y="4395600"/>
            <a:ext cx="10609200" cy="651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C1C1E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F5F5F7"/>
                </a:solidFill>
                <a:latin typeface="Arial"/>
                <a:ea typeface="Arial"/>
              </a:rPr>
              <a:t>✓  Finish apply with --screenshot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/>
      <p:sp>
        <p:nvSpPr>
          <p:cNvPr id="100061" name="CloseTitle"/>
          <p:cNvSpPr txBox="1"/>
          <p:nvPr/>
        </p:nvSpPr>
        <p:spPr>
          <a:xfrm xmlns:a="http://schemas.openxmlformats.org/drawingml/2006/main">
            <a:off x="792000" y="1796400"/>
            <a:ext cx="10609200" cy="93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4400" b="1">
                <a:solidFill>
                  <a:srgbClr val="F5F5F7"/>
                </a:solidFill>
                <a:latin typeface="Arial"/>
                <a:ea typeface="Arial"/>
              </a:rPr>
              <a:t>Start with the brand file</a:t>
            </a:r>
          </a:p>
        </p:txBody>
      </p:sp>
      <p:sp>
        <p:nvSpPr>
          <p:cNvPr id="100062" name="CloseBody"/>
          <p:cNvSpPr txBox="1"/>
          <p:nvPr/>
        </p:nvSpPr>
        <p:spPr>
          <a:xfrm xmlns:a="http://schemas.openxmlformats.org/drawingml/2006/main">
            <a:off x="1188000" y="2952000"/>
            <a:ext cx="9817200" cy="720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/>
            <a:r>
              <a:rPr lang="en-US" sz="1800">
                <a:solidFill>
                  <a:srgbClr val="A0A6B0"/>
                </a:solidFill>
                <a:latin typeface="Arial"/>
                <a:ea typeface="Arial"/>
              </a:rPr>
              <a:t>doctor --ensure · compose · scaffold · apply --screenshot</a:t>
            </a:r>
          </a:p>
        </p:txBody>
      </p:sp>
      <p:sp>
        <p:nvSpPr>
          <p:cNvPr id="100063" name="CloseCta"/>
          <p:cNvSpPr/>
          <p:nvPr/>
        </p:nvSpPr>
        <p:spPr>
          <a:xfrm xmlns:a="http://schemas.openxmlformats.org/drawingml/2006/main">
            <a:off x="4294800" y="4068000"/>
            <a:ext cx="3600000" cy="612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FFF"/>
          </a:solidFill>
          <a:ln xmlns:a="http://schemas.openxmlformats.org/drawingml/2006/main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/>
            <a:r>
              <a:rPr lang="en-US" sz="1800" b="1">
                <a:solidFill>
                  <a:srgbClr val="FFFFFF"/>
                </a:solidFill>
                <a:latin typeface="Arial"/>
                <a:ea typeface="Arial"/>
              </a:rPr>
              <a:t>doctor --ensure</a:t>
            </a:r>
          </a:p>
        </p:txBody>
      </p:sp>
    </p:spTree>
  </p:cSld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1000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0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0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OfficeCLI/1.0.136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2026-07-15T13:03:48Z</dcterms:created>
  <cp:lastModifiedBy>OfficeCLI</cp:lastModifiedBy>
  <dcterms:modified xsi:type="dcterms:W3CDTF">2026-07-15T13:03:48Z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1.0.136</vt:lpwstr>
  </op:property>
  <op:property fmtid="{D5CDD505-2E9C-101B-9397-08002B2CF9AE}" pid="3" name="OfficeCLI.LastModified">
    <vt:lpwstr xmlns:vt="http://schemas.openxmlformats.org/officeDocument/2006/docPropsVTypes">2026-07-15T13:03:50Z</vt:lpwstr>
  </op:property>
</op:Properties>
</file>