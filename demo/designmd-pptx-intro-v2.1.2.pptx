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fa54dd7d5ed431d" /><Relationship Type="http://schemas.openxmlformats.org/package/2006/relationships/metadata/core-properties" Target="/docProps/core.xml" Id="R46797fdc96a84382" /><Relationship Type="http://schemas.openxmlformats.org/officeDocument/2006/relationships/extended-properties" Target="/docProps/app.xml" Id="R1e286c7d7d93441a" /><Relationship Type="http://schemas.openxmlformats.org/officeDocument/2006/relationships/custom-properties" Target="/docProps/custom.xml" Id="Rd9c5dbc4c9e048e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8de47c23f4cd437f"/>
    <p:sldId id="257" r:id="R4753ea1be7bf4830"/>
    <p:sldId id="258" r:id="R2c742daa40674f2c"/>
    <p:sldId id="259" r:id="R9c2f86182d6a4502"/>
    <p:sldId id="260" r:id="R6f2d2bc561644c29"/>
    <p:sldId id="261" r:id="R37934be00e2d4dbf"/>
    <p:sldId id="262" r:id="R1e8d55fed5d54793"/>
    <p:sldId id="263" r:id="Rc198e7811a8c44cf"/>
    <p:sldId id="264" r:id="Ref0423f086cd4876"/>
    <p:sldId id="265" r:id="Rc2541192e8844696"/>
    <p:sldId id="266" r:id="R9bb0e96e7eee452b"/>
    <p:sldId id="267" r:id="R13e9eff22d524f7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de47c23f4cd437f" /><Relationship Type="http://schemas.openxmlformats.org/officeDocument/2006/relationships/slide" Target="/ppt/slides/slide2.xml" Id="R4753ea1be7bf4830" /><Relationship Type="http://schemas.openxmlformats.org/officeDocument/2006/relationships/slide" Target="/ppt/slides/slide3.xml" Id="R2c742daa40674f2c" /><Relationship Type="http://schemas.openxmlformats.org/officeDocument/2006/relationships/slide" Target="/ppt/slides/slide4.xml" Id="R9c2f86182d6a4502" /><Relationship Type="http://schemas.openxmlformats.org/officeDocument/2006/relationships/slide" Target="/ppt/slides/slide5.xml" Id="R6f2d2bc561644c29" /><Relationship Type="http://schemas.openxmlformats.org/officeDocument/2006/relationships/slide" Target="/ppt/slides/slide6.xml" Id="R37934be00e2d4dbf" /><Relationship Type="http://schemas.openxmlformats.org/officeDocument/2006/relationships/slide" Target="/ppt/slides/slide7.xml" Id="R1e8d55fed5d54793" /><Relationship Type="http://schemas.openxmlformats.org/officeDocument/2006/relationships/slide" Target="/ppt/slides/slide8.xml" Id="Rc198e7811a8c44cf" /><Relationship Type="http://schemas.openxmlformats.org/officeDocument/2006/relationships/slide" Target="/ppt/slides/slide9.xml" Id="Ref0423f086cd4876" /><Relationship Type="http://schemas.openxmlformats.org/officeDocument/2006/relationships/slide" Target="/ppt/slides/slide10.xml" Id="Rc2541192e8844696" /><Relationship Type="http://schemas.openxmlformats.org/officeDocument/2006/relationships/slide" Target="/ppt/slides/slide11.xml" Id="R9bb0e96e7eee452b" /><Relationship Type="http://schemas.openxmlformats.org/officeDocument/2006/relationships/slide" Target="/ppt/slides/slide12.xml" Id="R13e9eff22d524f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Hold the name.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Pause on the section number before the title.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KPIs left to right; pause on any watch metric.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brand file is the contract.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the after state.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left to right; stop on the bottleneck.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Three cards max on a hero slide; cut copy first.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 the drop-off between the two biggest deltas.</a:t>
            </a:r>
          </a:p>
        </p:txBody>
      </p:sp>
    </p:spTree>
  </p:cSld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 the quadrant that needs a decision this quarter.</a:t>
            </a:r>
          </a:p>
        </p:txBody>
      </p:sp>
    </p:spTree>
  </p:cSld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You cannot skip a stair — name the exit criteria.</a:t>
            </a:r>
          </a:p>
        </p:txBody>
      </p:sp>
    </p:spTree>
  </p:cSld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111e5fddbd460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bb9e0fd8fa49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74a83a3b7944d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949aebb03a4c8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39fed5af974cec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ff78ed3d64884f98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17837b3ec4993" /><Relationship Type="http://schemas.openxmlformats.org/officeDocument/2006/relationships/notesSlide" Target="/ppt/notesSlides/notesSlide1.xml" Id="Red5572262ea54f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76bbbd89c4338" /><Relationship Type="http://schemas.openxmlformats.org/officeDocument/2006/relationships/notesSlide" Target="/ppt/notesSlides/notesSlide2.xml" Id="Rebdc8ddc463e43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6bc8208ce441c" /><Relationship Type="http://schemas.openxmlformats.org/officeDocument/2006/relationships/notesSlide" Target="/ppt/notesSlides/notesSlide3.xml" Id="R997257c1ba8a4d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5283e736d4168" /><Relationship Type="http://schemas.openxmlformats.org/officeDocument/2006/relationships/notesSlide" Target="/ppt/notesSlides/notesSlide4.xml" Id="R04c6c9f2d77e47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0bb20f07d342c2" /><Relationship Type="http://schemas.openxmlformats.org/officeDocument/2006/relationships/notesSlide" Target="/ppt/notesSlides/notesSlide5.xml" Id="Rd88c77c766d04a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b6af1eb04849d9" /><Relationship Type="http://schemas.openxmlformats.org/officeDocument/2006/relationships/notesSlide" Target="/ppt/notesSlides/notesSlide6.xml" Id="R3967e1d75f084b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cdaba5d8747a7" /><Relationship Type="http://schemas.openxmlformats.org/officeDocument/2006/relationships/notesSlide" Target="/ppt/notesSlides/notesSlide7.xml" Id="Rd5d2dff3053b49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1a669109244a3" /><Relationship Type="http://schemas.openxmlformats.org/officeDocument/2006/relationships/notesSlide" Target="/ppt/notesSlides/notesSlide8.xml" Id="R2558d7dfc69a4c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f758a0f67a4a0e" /><Relationship Type="http://schemas.openxmlformats.org/officeDocument/2006/relationships/notesSlide" Target="/ppt/notesSlides/notesSlide9.xml" Id="R21ac6594e7da4d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b3e58e587e4c74" /><Relationship Type="http://schemas.openxmlformats.org/officeDocument/2006/relationships/notesSlide" Target="/ppt/notesSlides/notesSlide10.xml" Id="R1361bc6da69b48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e3ea2593a42f6" /><Relationship Type="http://schemas.openxmlformats.org/officeDocument/2006/relationships/notesSlide" Target="/ppt/notesSlides/notesSlide11.xml" Id="R0436fa6834584c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2445802884a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00000"/>
            <a:ext cx="10609200" cy="14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5F5F7"/>
                </a:solidFill>
                <a:latin typeface="Arial"/>
                <a:ea typeface="Arial"/>
              </a:rPr>
              <a:t>designmd-pptx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276000"/>
            <a:ext cx="1728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420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Motifs from structure — original chrome, brand from DESIGN.md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5742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v2.1.2  ·  motif library  ·  English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5" name="OpenerAccentBar"/>
          <p:cNvSpPr/>
          <p:nvPr/>
        </p:nvSpPr>
        <p:spPr>
          <a:xfrm xmlns:a="http://schemas.openxmlformats.org/drawingml/2006/main">
            <a:off x="792000" y="2232000"/>
            <a:ext cx="396000" cy="22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6" name="OpenerNumber"/>
          <p:cNvSpPr txBox="1"/>
          <p:nvPr/>
        </p:nvSpPr>
        <p:spPr>
          <a:xfrm xmlns:a="http://schemas.openxmlformats.org/drawingml/2006/main">
            <a:off x="1368000" y="2016000"/>
            <a:ext cx="288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07" name="OpenerTitle"/>
          <p:cNvSpPr txBox="1"/>
          <p:nvPr/>
        </p:nvSpPr>
        <p:spPr>
          <a:xfrm xmlns:a="http://schemas.openxmlformats.org/drawingml/2006/main">
            <a:off x="1368000" y="2952000"/>
            <a:ext cx="10033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The contract</a:t>
            </a:r>
          </a:p>
        </p:txBody>
      </p:sp>
      <p:sp>
        <p:nvSpPr>
          <p:cNvPr id="100008" name="OpenerBlurb"/>
          <p:cNvSpPr txBox="1"/>
          <p:nvPr/>
        </p:nvSpPr>
        <p:spPr>
          <a:xfrm xmlns:a="http://schemas.openxmlformats.org/drawingml/2006/main">
            <a:off x="1368000" y="3960000"/>
            <a:ext cx="792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Brand lives in DESIGN.md. Motifs carry layout chrome.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9" name="Kpi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At a glance</a:t>
            </a:r>
          </a:p>
        </p:txBody>
      </p:sp>
      <p:sp>
        <p:nvSpPr>
          <p:cNvPr id="100010" name="Kpi1Bg"/>
          <p:cNvSpPr/>
          <p:nvPr/>
        </p:nvSpPr>
        <p:spPr>
          <a:xfrm xmlns:a="http://schemas.openxmlformats.org/drawingml/2006/main">
            <a:off x="7920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1" name="Kpi1Value"/>
          <p:cNvSpPr txBox="1"/>
          <p:nvPr/>
        </p:nvSpPr>
        <p:spPr>
          <a:xfrm xmlns:a="http://schemas.openxmlformats.org/drawingml/2006/main">
            <a:off x="9180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12</a:t>
            </a:r>
          </a:p>
        </p:txBody>
      </p:sp>
      <p:sp>
        <p:nvSpPr>
          <p:cNvPr id="100012" name="Kpi1Label"/>
          <p:cNvSpPr txBox="1"/>
          <p:nvPr/>
        </p:nvSpPr>
        <p:spPr>
          <a:xfrm xmlns:a="http://schemas.openxmlformats.org/drawingml/2006/main">
            <a:off x="9180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Motifs</a:t>
            </a:r>
          </a:p>
        </p:txBody>
      </p:sp>
      <p:sp>
        <p:nvSpPr>
          <p:cNvPr id="100013" name="Kpi1Chip"/>
          <p:cNvSpPr txBox="1"/>
          <p:nvPr/>
        </p:nvSpPr>
        <p:spPr>
          <a:xfrm xmlns:a="http://schemas.openxmlformats.org/drawingml/2006/main">
            <a:off x="9180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0B5FFF"/>
                </a:solidFill>
                <a:latin typeface="Arial"/>
                <a:ea typeface="Arial"/>
              </a:rPr>
              <a:t>v1</a:t>
            </a:r>
          </a:p>
        </p:txBody>
      </p:sp>
      <p:sp>
        <p:nvSpPr>
          <p:cNvPr id="100014" name="Kpi2Bg"/>
          <p:cNvSpPr/>
          <p:nvPr/>
        </p:nvSpPr>
        <p:spPr>
          <a:xfrm xmlns:a="http://schemas.openxmlformats.org/drawingml/2006/main">
            <a:off x="35424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Kpi2Value"/>
          <p:cNvSpPr txBox="1"/>
          <p:nvPr/>
        </p:nvSpPr>
        <p:spPr>
          <a:xfrm xmlns:a="http://schemas.openxmlformats.org/drawingml/2006/main">
            <a:off x="36684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75</a:t>
            </a:r>
          </a:p>
        </p:txBody>
      </p:sp>
      <p:sp>
        <p:nvSpPr>
          <p:cNvPr id="100016" name="Kpi2Label"/>
          <p:cNvSpPr txBox="1"/>
          <p:nvPr/>
        </p:nvSpPr>
        <p:spPr>
          <a:xfrm xmlns:a="http://schemas.openxmlformats.org/drawingml/2006/main">
            <a:off x="36684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Recipes</a:t>
            </a:r>
          </a:p>
        </p:txBody>
      </p:sp>
      <p:sp>
        <p:nvSpPr>
          <p:cNvPr id="100017" name="Kpi2Chip"/>
          <p:cNvSpPr txBox="1"/>
          <p:nvPr/>
        </p:nvSpPr>
        <p:spPr>
          <a:xfrm xmlns:a="http://schemas.openxmlformats.org/drawingml/2006/main">
            <a:off x="36684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200" b="1">
              <a:solidFill>
                <a:srgbClr val="0B5FFF"/>
              </a:solidFill>
              <a:latin typeface="Arial"/>
              <a:ea typeface="Arial"/>
            </a:endParaRPr>
          </a:p>
        </p:txBody>
      </p:sp>
      <p:sp>
        <p:nvSpPr>
          <p:cNvPr id="100018" name="Kpi3Bg"/>
          <p:cNvSpPr/>
          <p:nvPr/>
        </p:nvSpPr>
        <p:spPr>
          <a:xfrm xmlns:a="http://schemas.openxmlformats.org/drawingml/2006/main">
            <a:off x="62928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9" name="Kpi3Value"/>
          <p:cNvSpPr txBox="1"/>
          <p:nvPr/>
        </p:nvSpPr>
        <p:spPr>
          <a:xfrm xmlns:a="http://schemas.openxmlformats.org/drawingml/2006/main">
            <a:off x="64224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20" name="Kpi3Label"/>
          <p:cNvSpPr txBox="1"/>
          <p:nvPr/>
        </p:nvSpPr>
        <p:spPr>
          <a:xfrm xmlns:a="http://schemas.openxmlformats.org/drawingml/2006/main">
            <a:off x="64224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Backends</a:t>
            </a:r>
          </a:p>
        </p:txBody>
      </p:sp>
      <p:sp>
        <p:nvSpPr>
          <p:cNvPr id="100021" name="Kpi3Chip"/>
          <p:cNvSpPr txBox="1"/>
          <p:nvPr/>
        </p:nvSpPr>
        <p:spPr>
          <a:xfrm xmlns:a="http://schemas.openxmlformats.org/drawingml/2006/main">
            <a:off x="64224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200" b="1">
              <a:solidFill>
                <a:srgbClr val="0B5FFF"/>
              </a:solidFill>
              <a:latin typeface="Arial"/>
              <a:ea typeface="Arial"/>
            </a:endParaRPr>
          </a:p>
        </p:txBody>
      </p:sp>
      <p:sp>
        <p:nvSpPr>
          <p:cNvPr id="100022" name="Kpi4Bg"/>
          <p:cNvSpPr/>
          <p:nvPr/>
        </p:nvSpPr>
        <p:spPr>
          <a:xfrm xmlns:a="http://schemas.openxmlformats.org/drawingml/2006/main">
            <a:off x="90468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3" name="Kpi4Value"/>
          <p:cNvSpPr txBox="1"/>
          <p:nvPr/>
        </p:nvSpPr>
        <p:spPr>
          <a:xfrm xmlns:a="http://schemas.openxmlformats.org/drawingml/2006/main">
            <a:off x="91728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0</a:t>
            </a:r>
          </a:p>
        </p:txBody>
      </p:sp>
      <p:sp>
        <p:nvSpPr>
          <p:cNvPr id="100024" name="Kpi4Label"/>
          <p:cNvSpPr txBox="1"/>
          <p:nvPr/>
        </p:nvSpPr>
        <p:spPr>
          <a:xfrm xmlns:a="http://schemas.openxmlformats.org/drawingml/2006/main">
            <a:off x="91728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Vendor bytes</a:t>
            </a:r>
          </a:p>
        </p:txBody>
      </p:sp>
      <p:sp>
        <p:nvSpPr>
          <p:cNvPr id="100025" name="Kpi4Chip"/>
          <p:cNvSpPr txBox="1"/>
          <p:nvPr/>
        </p:nvSpPr>
        <p:spPr>
          <a:xfrm xmlns:a="http://schemas.openxmlformats.org/drawingml/2006/main">
            <a:off x="91728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0B5FFF"/>
                </a:solidFill>
                <a:latin typeface="Arial"/>
                <a:ea typeface="Arial"/>
              </a:rPr>
              <a:t>safe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6" name="BigValue"/>
          <p:cNvSpPr txBox="1"/>
          <p:nvPr/>
        </p:nvSpPr>
        <p:spPr>
          <a:xfrm xmlns:a="http://schemas.openxmlformats.org/drawingml/2006/main">
            <a:off x="792000" y="1180800"/>
            <a:ext cx="10609200" cy="23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0B5FFF"/>
                </a:solidFill>
                <a:latin typeface="Arial"/>
                <a:ea typeface="Arial"/>
              </a:rPr>
              <a:t>DESIGN.md</a:t>
            </a:r>
          </a:p>
        </p:txBody>
      </p:sp>
      <p:sp>
        <p:nvSpPr>
          <p:cNvPr id="100027" name="BigLabel"/>
          <p:cNvSpPr txBox="1"/>
          <p:nvPr/>
        </p:nvSpPr>
        <p:spPr>
          <a:xfrm xmlns:a="http://schemas.openxmlformats.org/drawingml/2006/main">
            <a:off x="792000" y="3704400"/>
            <a:ext cx="10609200" cy="6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One brand source of truth</a:t>
            </a:r>
          </a:p>
        </p:txBody>
      </p:sp>
      <p:sp>
        <p:nvSpPr>
          <p:cNvPr id="100028" name="BigContext"/>
          <p:cNvSpPr txBox="1"/>
          <p:nvPr/>
        </p:nvSpPr>
        <p:spPr>
          <a:xfrm xmlns:a="http://schemas.openxmlformats.org/drawingml/2006/main">
            <a:off x="1188000" y="4514400"/>
            <a:ext cx="98172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Tokens and floors compile once — decks inherit the contract.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9" name="Ba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changes</a:t>
            </a:r>
          </a:p>
        </p:txBody>
      </p:sp>
      <p:sp>
        <p:nvSpPr>
          <p:cNvPr id="100030" name="BaPanel1"/>
          <p:cNvSpPr/>
          <p:nvPr/>
        </p:nvSpPr>
        <p:spPr>
          <a:xfrm xmlns:a="http://schemas.openxmlformats.org/drawingml/2006/main">
            <a:off x="7920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BaHead1"/>
          <p:cNvSpPr txBox="1"/>
          <p:nvPr/>
        </p:nvSpPr>
        <p:spPr>
          <a:xfrm xmlns:a="http://schemas.openxmlformats.org/drawingml/2006/main">
            <a:off x="11880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Before</a:t>
            </a:r>
          </a:p>
        </p:txBody>
      </p:sp>
      <p:sp>
        <p:nvSpPr>
          <p:cNvPr id="100032" name="BaBody1"/>
          <p:cNvSpPr txBox="1"/>
          <p:nvPr/>
        </p:nvSpPr>
        <p:spPr>
          <a:xfrm xmlns:a="http://schemas.openxmlformats.org/drawingml/2006/main">
            <a:off x="11880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Decks drift from brand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Agents invent layouts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No screenshot gate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Overwrite risk</a:t>
            </a:r>
          </a:p>
        </p:txBody>
      </p:sp>
      <p:sp>
        <p:nvSpPr>
          <p:cNvPr id="100033" name="BaPanel2"/>
          <p:cNvSpPr/>
          <p:nvPr/>
        </p:nvSpPr>
        <p:spPr>
          <a:xfrm xmlns:a="http://schemas.openxmlformats.org/drawingml/2006/main">
            <a:off x="62928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4" name="BaHead2"/>
          <p:cNvSpPr txBox="1"/>
          <p:nvPr/>
        </p:nvSpPr>
        <p:spPr>
          <a:xfrm xmlns:a="http://schemas.openxmlformats.org/drawingml/2006/main">
            <a:off x="66924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After</a:t>
            </a:r>
          </a:p>
        </p:txBody>
      </p:sp>
      <p:sp>
        <p:nvSpPr>
          <p:cNvPr id="100035" name="BaBody2"/>
          <p:cNvSpPr txBox="1"/>
          <p:nvPr/>
        </p:nvSpPr>
        <p:spPr>
          <a:xfrm xmlns:a="http://schemas.openxmlformats.org/drawingml/2006/main">
            <a:off x="66924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Tokens from DESIGN.md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Motif chrome + budgets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3 contact sheet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Staging-safe --force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36" name="Proc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Authoring pipeline</a:t>
            </a:r>
          </a:p>
        </p:txBody>
      </p:sp>
      <p:sp>
        <p:nvSpPr>
          <p:cNvPr id="100037" name="Proc1"/>
          <p:cNvSpPr/>
          <p:nvPr/>
        </p:nvSpPr>
        <p:spPr>
          <a:xfrm xmlns:a="http://schemas.openxmlformats.org/drawingml/2006/main">
            <a:off x="7920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Markdown</a:t>
            </a:r>
          </a:p>
        </p:txBody>
      </p:sp>
      <p:sp>
        <p:nvSpPr>
          <p:cNvPr id="100038" name="Proc2"/>
          <p:cNvSpPr/>
          <p:nvPr/>
        </p:nvSpPr>
        <p:spPr>
          <a:xfrm xmlns:a="http://schemas.openxmlformats.org/drawingml/2006/main">
            <a:off x="2991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Compose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Deck-spec</a:t>
            </a:r>
          </a:p>
        </p:txBody>
      </p:sp>
      <p:sp>
        <p:nvSpPr>
          <p:cNvPr id="100039" name="Proc3"/>
          <p:cNvSpPr/>
          <p:nvPr/>
        </p:nvSpPr>
        <p:spPr>
          <a:xfrm xmlns:a="http://schemas.openxmlformats.org/drawingml/2006/main">
            <a:off x="51948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Scaffold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Motifs</a:t>
            </a:r>
          </a:p>
        </p:txBody>
      </p:sp>
      <p:sp>
        <p:nvSpPr>
          <p:cNvPr id="100040" name="Proc4"/>
          <p:cNvSpPr/>
          <p:nvPr/>
        </p:nvSpPr>
        <p:spPr>
          <a:xfrm xmlns:a="http://schemas.openxmlformats.org/drawingml/2006/main">
            <a:off x="73944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Apply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Legacy</a:t>
            </a:r>
          </a:p>
        </p:txBody>
      </p:sp>
      <p:sp>
        <p:nvSpPr>
          <p:cNvPr id="100041" name="Proc5"/>
          <p:cNvSpPr/>
          <p:nvPr/>
        </p:nvSpPr>
        <p:spPr>
          <a:xfrm xmlns:a="http://schemas.openxmlformats.org/drawingml/2006/main">
            <a:off x="9597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QA</a:t>
            </a:r>
          </a:p>
        </p:txBody>
      </p:sp>
      <p:cxnSp>
        <p:nvCxnSpPr>
          <p:cNvPr id="100042" name="Connector 1"/>
          <p:cNvCxnSpPr>
            <a:stCxn xmlns:a="http://schemas.openxmlformats.org/drawingml/2006/main" id="100037" idx="0"/>
            <a:endCxn xmlns:a="http://schemas.openxmlformats.org/drawingml/2006/main" id="100038" idx="0"/>
          </p:cNvCxnSpPr>
          <p:nvPr/>
        </p:nvCxnSpPr>
        <p:spPr>
          <a:xfrm xmlns:a="http://schemas.openxmlformats.org/drawingml/2006/main">
            <a:off x="25956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43" name="Connector 2"/>
          <p:cNvCxnSpPr>
            <a:stCxn xmlns:a="http://schemas.openxmlformats.org/drawingml/2006/main" id="100038" idx="0"/>
            <a:endCxn xmlns:a="http://schemas.openxmlformats.org/drawingml/2006/main" id="100039" idx="0"/>
          </p:cNvCxnSpPr>
          <p:nvPr/>
        </p:nvCxnSpPr>
        <p:spPr>
          <a:xfrm xmlns:a="http://schemas.openxmlformats.org/drawingml/2006/main">
            <a:off x="47952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44" name="Connector 3"/>
          <p:cNvCxnSpPr>
            <a:stCxn xmlns:a="http://schemas.openxmlformats.org/drawingml/2006/main" id="100039" idx="0"/>
            <a:endCxn xmlns:a="http://schemas.openxmlformats.org/drawingml/2006/main" id="100040" idx="0"/>
          </p:cNvCxnSpPr>
          <p:nvPr/>
        </p:nvCxnSpPr>
        <p:spPr>
          <a:xfrm xmlns:a="http://schemas.openxmlformats.org/drawingml/2006/main">
            <a:off x="69984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45" name="Connector 4"/>
          <p:cNvCxnSpPr>
            <a:stCxn xmlns:a="http://schemas.openxmlformats.org/drawingml/2006/main" id="100040" idx="0"/>
            <a:endCxn xmlns:a="http://schemas.openxmlformats.org/drawingml/2006/main" id="100041" idx="0"/>
          </p:cNvCxnSpPr>
          <p:nvPr/>
        </p:nvCxnSpPr>
        <p:spPr>
          <a:xfrm xmlns:a="http://schemas.openxmlformats.org/drawingml/2006/main">
            <a:off x="91980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6" name="Feat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Three promises</a:t>
            </a:r>
          </a:p>
        </p:txBody>
      </p:sp>
      <p:sp>
        <p:nvSpPr>
          <p:cNvPr id="100047" name="Card1Bg"/>
          <p:cNvSpPr/>
          <p:nvPr/>
        </p:nvSpPr>
        <p:spPr>
          <a:xfrm xmlns:a="http://schemas.openxmlformats.org/drawingml/2006/main">
            <a:off x="7920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8" name="Card1Num"/>
          <p:cNvSpPr txBox="1"/>
          <p:nvPr/>
        </p:nvSpPr>
        <p:spPr>
          <a:xfrm xmlns:a="http://schemas.openxmlformats.org/drawingml/2006/main">
            <a:off x="11880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49" name="Card1Title"/>
          <p:cNvSpPr txBox="1"/>
          <p:nvPr/>
        </p:nvSpPr>
        <p:spPr>
          <a:xfrm xmlns:a="http://schemas.openxmlformats.org/drawingml/2006/main">
            <a:off x="11880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Exact geometry</a:t>
            </a:r>
          </a:p>
        </p:txBody>
      </p:sp>
      <p:sp>
        <p:nvSpPr>
          <p:cNvPr id="100050" name="Card1Body"/>
          <p:cNvSpPr txBox="1"/>
          <p:nvPr/>
        </p:nvSpPr>
        <p:spPr>
          <a:xfrm xmlns:a="http://schemas.openxmlformats.org/drawingml/2006/main">
            <a:off x="11880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Centimeters. Connectors. Type floors that hold.</a:t>
            </a:r>
          </a:p>
        </p:txBody>
      </p:sp>
      <p:sp>
        <p:nvSpPr>
          <p:cNvPr id="100051" name="Card2Bg"/>
          <p:cNvSpPr/>
          <p:nvPr/>
        </p:nvSpPr>
        <p:spPr>
          <a:xfrm xmlns:a="http://schemas.openxmlformats.org/drawingml/2006/main">
            <a:off x="44604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2" name="Card2Num"/>
          <p:cNvSpPr txBox="1"/>
          <p:nvPr/>
        </p:nvSpPr>
        <p:spPr>
          <a:xfrm xmlns:a="http://schemas.openxmlformats.org/drawingml/2006/main">
            <a:off x="48564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53" name="Card2Title"/>
          <p:cNvSpPr txBox="1"/>
          <p:nvPr/>
        </p:nvSpPr>
        <p:spPr>
          <a:xfrm xmlns:a="http://schemas.openxmlformats.org/drawingml/2006/main">
            <a:off x="48564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Hard gates</a:t>
            </a:r>
          </a:p>
        </p:txBody>
      </p:sp>
      <p:sp>
        <p:nvSpPr>
          <p:cNvPr id="100054" name="Card2Body"/>
          <p:cNvSpPr txBox="1"/>
          <p:nvPr/>
        </p:nvSpPr>
        <p:spPr>
          <a:xfrm xmlns:a="http://schemas.openxmlformats.org/drawingml/2006/main">
            <a:off x="48564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Budgets, contrast, issues — then a contact sheet.</a:t>
            </a:r>
          </a:p>
        </p:txBody>
      </p:sp>
      <p:sp>
        <p:nvSpPr>
          <p:cNvPr id="100055" name="Card3Bg"/>
          <p:cNvSpPr/>
          <p:nvPr/>
        </p:nvSpPr>
        <p:spPr>
          <a:xfrm xmlns:a="http://schemas.openxmlformats.org/drawingml/2006/main">
            <a:off x="81288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6" name="Card3Num"/>
          <p:cNvSpPr txBox="1"/>
          <p:nvPr/>
        </p:nvSpPr>
        <p:spPr>
          <a:xfrm xmlns:a="http://schemas.openxmlformats.org/drawingml/2006/main">
            <a:off x="85248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57" name="Card3Title"/>
          <p:cNvSpPr txBox="1"/>
          <p:nvPr/>
        </p:nvSpPr>
        <p:spPr>
          <a:xfrm xmlns:a="http://schemas.openxmlformats.org/drawingml/2006/main">
            <a:off x="85248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License-safe</a:t>
            </a:r>
          </a:p>
        </p:txBody>
      </p:sp>
      <p:sp>
        <p:nvSpPr>
          <p:cNvPr id="100058" name="Card3Body"/>
          <p:cNvSpPr txBox="1"/>
          <p:nvPr/>
        </p:nvSpPr>
        <p:spPr>
          <a:xfrm xmlns:a="http://schemas.openxmlformats.org/drawingml/2006/main">
            <a:off x="85248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Infograpify is reference only. Motifs are original.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59" name="Funnel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Adoption funnel</a:t>
            </a:r>
          </a:p>
        </p:txBody>
      </p:sp>
      <p:sp>
        <p:nvSpPr>
          <p:cNvPr id="100060" name="FunnelBand1"/>
          <p:cNvSpPr/>
          <p:nvPr/>
        </p:nvSpPr>
        <p:spPr>
          <a:xfrm xmlns:a="http://schemas.openxmlformats.org/drawingml/2006/main">
            <a:off x="792000" y="1396800"/>
            <a:ext cx="106092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1" name="FunnelLabel1"/>
          <p:cNvSpPr txBox="1"/>
          <p:nvPr/>
        </p:nvSpPr>
        <p:spPr>
          <a:xfrm xmlns:a="http://schemas.openxmlformats.org/drawingml/2006/main">
            <a:off x="990000" y="1594800"/>
            <a:ext cx="102132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5F5F7"/>
                </a:solidFill>
                <a:latin typeface="Arial"/>
                <a:ea typeface="Arial"/>
              </a:rPr>
              <a:t>Discover  ·  100%</a:t>
            </a:r>
          </a:p>
        </p:txBody>
      </p:sp>
      <p:sp>
        <p:nvSpPr>
          <p:cNvPr id="100062" name="FunnelBand2"/>
          <p:cNvSpPr/>
          <p:nvPr/>
        </p:nvSpPr>
        <p:spPr>
          <a:xfrm xmlns:a="http://schemas.openxmlformats.org/drawingml/2006/main">
            <a:off x="1764000" y="2401200"/>
            <a:ext cx="86652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3" name="FunnelLabel2"/>
          <p:cNvSpPr txBox="1"/>
          <p:nvPr/>
        </p:nvSpPr>
        <p:spPr>
          <a:xfrm xmlns:a="http://schemas.openxmlformats.org/drawingml/2006/main">
            <a:off x="1962000" y="2599200"/>
            <a:ext cx="82692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5F5F7"/>
                </a:solidFill>
                <a:latin typeface="Arial"/>
                <a:ea typeface="Arial"/>
              </a:rPr>
              <a:t>Try doctor  ·  42%</a:t>
            </a:r>
          </a:p>
        </p:txBody>
      </p:sp>
      <p:sp>
        <p:nvSpPr>
          <p:cNvPr id="100064" name="FunnelBand3"/>
          <p:cNvSpPr/>
          <p:nvPr/>
        </p:nvSpPr>
        <p:spPr>
          <a:xfrm xmlns:a="http://schemas.openxmlformats.org/drawingml/2006/main">
            <a:off x="2736000" y="3402000"/>
            <a:ext cx="67176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5" name="FunnelLabel3"/>
          <p:cNvSpPr txBox="1"/>
          <p:nvPr/>
        </p:nvSpPr>
        <p:spPr>
          <a:xfrm xmlns:a="http://schemas.openxmlformats.org/drawingml/2006/main">
            <a:off x="2934000" y="3603600"/>
            <a:ext cx="63216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5F5F7"/>
                </a:solidFill>
                <a:latin typeface="Arial"/>
                <a:ea typeface="Arial"/>
              </a:rPr>
              <a:t>Scaffold  ·  19%</a:t>
            </a:r>
          </a:p>
        </p:txBody>
      </p:sp>
      <p:sp>
        <p:nvSpPr>
          <p:cNvPr id="100066" name="FunnelBand4"/>
          <p:cNvSpPr/>
          <p:nvPr/>
        </p:nvSpPr>
        <p:spPr>
          <a:xfrm xmlns:a="http://schemas.openxmlformats.org/drawingml/2006/main">
            <a:off x="3708000" y="4406400"/>
            <a:ext cx="47736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7" name="FunnelLabel4"/>
          <p:cNvSpPr txBox="1"/>
          <p:nvPr/>
        </p:nvSpPr>
        <p:spPr>
          <a:xfrm xmlns:a="http://schemas.openxmlformats.org/drawingml/2006/main">
            <a:off x="3906000" y="4604400"/>
            <a:ext cx="43776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Ship  ·  8%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68" name="Matrix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Where motifs play</a:t>
            </a:r>
          </a:p>
        </p:txBody>
      </p:sp>
      <p:sp>
        <p:nvSpPr>
          <p:cNvPr id="100069" name="Quad1Bg"/>
          <p:cNvSpPr/>
          <p:nvPr/>
        </p:nvSpPr>
        <p:spPr>
          <a:xfrm xmlns:a="http://schemas.openxmlformats.org/drawingml/2006/main">
            <a:off x="792000" y="1404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0" name="Quad1Title"/>
          <p:cNvSpPr txBox="1"/>
          <p:nvPr/>
        </p:nvSpPr>
        <p:spPr>
          <a:xfrm xmlns:a="http://schemas.openxmlformats.org/drawingml/2006/main">
            <a:off x="1090800" y="1681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Hero</a:t>
            </a:r>
          </a:p>
        </p:txBody>
      </p:sp>
      <p:sp>
        <p:nvSpPr>
          <p:cNvPr id="100071" name="Quad1Body"/>
          <p:cNvSpPr txBox="1"/>
          <p:nvPr/>
        </p:nvSpPr>
        <p:spPr>
          <a:xfrm xmlns:a="http://schemas.openxmlformats.org/drawingml/2006/main">
            <a:off x="1090800" y="2278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sparse_hero · kpi_hero</a:t>
            </a:r>
          </a:p>
        </p:txBody>
      </p:sp>
      <p:sp>
        <p:nvSpPr>
          <p:cNvPr id="100072" name="Quad2Bg"/>
          <p:cNvSpPr/>
          <p:nvPr/>
        </p:nvSpPr>
        <p:spPr>
          <a:xfrm xmlns:a="http://schemas.openxmlformats.org/drawingml/2006/main">
            <a:off x="6292800" y="1404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3" name="Quad2Title"/>
          <p:cNvSpPr txBox="1"/>
          <p:nvPr/>
        </p:nvSpPr>
        <p:spPr>
          <a:xfrm xmlns:a="http://schemas.openxmlformats.org/drawingml/2006/main">
            <a:off x="6591600" y="1681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Compare</a:t>
            </a:r>
          </a:p>
        </p:txBody>
      </p:sp>
      <p:sp>
        <p:nvSpPr>
          <p:cNvPr id="100074" name="Quad2Body"/>
          <p:cNvSpPr txBox="1"/>
          <p:nvPr/>
        </p:nvSpPr>
        <p:spPr>
          <a:xfrm xmlns:a="http://schemas.openxmlformats.org/drawingml/2006/main">
            <a:off x="6591600" y="2278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split_hero · matrix_quad</a:t>
            </a:r>
          </a:p>
        </p:txBody>
      </p:sp>
      <p:sp>
        <p:nvSpPr>
          <p:cNvPr id="100075" name="Quad3Bg"/>
          <p:cNvSpPr/>
          <p:nvPr/>
        </p:nvSpPr>
        <p:spPr>
          <a:xfrm xmlns:a="http://schemas.openxmlformats.org/drawingml/2006/main">
            <a:off x="792000" y="3960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6" name="Quad3Title"/>
          <p:cNvSpPr txBox="1"/>
          <p:nvPr/>
        </p:nvSpPr>
        <p:spPr>
          <a:xfrm xmlns:a="http://schemas.openxmlformats.org/drawingml/2006/main">
            <a:off x="1090800" y="4237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Flow</a:t>
            </a:r>
          </a:p>
        </p:txBody>
      </p:sp>
      <p:sp>
        <p:nvSpPr>
          <p:cNvPr id="100077" name="Quad3Body"/>
          <p:cNvSpPr txBox="1"/>
          <p:nvPr/>
        </p:nvSpPr>
        <p:spPr>
          <a:xfrm xmlns:a="http://schemas.openxmlformats.org/drawingml/2006/main">
            <a:off x="1090800" y="4834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step_rail · funnel_cascade</a:t>
            </a:r>
          </a:p>
        </p:txBody>
      </p:sp>
      <p:sp>
        <p:nvSpPr>
          <p:cNvPr id="100078" name="Quad4Bg"/>
          <p:cNvSpPr/>
          <p:nvPr/>
        </p:nvSpPr>
        <p:spPr>
          <a:xfrm xmlns:a="http://schemas.openxmlformats.org/drawingml/2006/main">
            <a:off x="6292800" y="3960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9" name="Quad4Title"/>
          <p:cNvSpPr txBox="1"/>
          <p:nvPr/>
        </p:nvSpPr>
        <p:spPr>
          <a:xfrm xmlns:a="http://schemas.openxmlformats.org/drawingml/2006/main">
            <a:off x="6591600" y="4237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Grid</a:t>
            </a:r>
          </a:p>
        </p:txBody>
      </p:sp>
      <p:sp>
        <p:nvSpPr>
          <p:cNvPr id="100080" name="Quad4Body"/>
          <p:cNvSpPr txBox="1"/>
          <p:nvPr/>
        </p:nvSpPr>
        <p:spPr>
          <a:xfrm xmlns:a="http://schemas.openxmlformats.org/drawingml/2006/main">
            <a:off x="6591600" y="4834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card_row · kpi_band · tile_row</a:t>
            </a:r>
          </a:p>
        </p:txBody>
      </p:sp>
      <p:sp>
        <p:nvSpPr>
          <p:cNvPr id="100081" name="AxisX"/>
          <p:cNvSpPr txBox="1"/>
          <p:nvPr/>
        </p:nvSpPr>
        <p:spPr>
          <a:xfrm xmlns:a="http://schemas.openxmlformats.org/drawingml/2006/main">
            <a:off x="792000" y="6300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→ Structure →</a:t>
            </a:r>
          </a:p>
        </p:txBody>
      </p:sp>
      <p:sp>
        <p:nvSpPr>
          <p:cNvPr id="100082" name="AxisY"/>
          <p:cNvSpPr txBox="1"/>
          <p:nvPr/>
        </p:nvSpPr>
        <p:spPr>
          <a:xfrm xmlns:a="http://schemas.openxmlformats.org/drawingml/2006/main">
            <a:off x="792000" y="1080000"/>
            <a:ext cx="43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↑ Narrative ↑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83" name="Stairs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Quality staircase</a:t>
            </a:r>
          </a:p>
        </p:txBody>
      </p:sp>
      <p:sp>
        <p:nvSpPr>
          <p:cNvPr id="100084" name="Stair1"/>
          <p:cNvSpPr/>
          <p:nvPr/>
        </p:nvSpPr>
        <p:spPr>
          <a:xfrm xmlns:a="http://schemas.openxmlformats.org/drawingml/2006/main">
            <a:off x="828000" y="3538800"/>
            <a:ext cx="2048400" cy="171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Floors</a:t>
            </a:r>
          </a:p>
        </p:txBody>
      </p:sp>
      <p:sp>
        <p:nvSpPr>
          <p:cNvPr id="100085" name="Stair2"/>
          <p:cNvSpPr/>
          <p:nvPr/>
        </p:nvSpPr>
        <p:spPr>
          <a:xfrm xmlns:a="http://schemas.openxmlformats.org/drawingml/2006/main">
            <a:off x="2948400" y="3013200"/>
            <a:ext cx="2048400" cy="224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Motif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Chrome</a:t>
            </a:r>
          </a:p>
        </p:txBody>
      </p:sp>
      <p:sp>
        <p:nvSpPr>
          <p:cNvPr id="100086" name="Stair3"/>
          <p:cNvSpPr/>
          <p:nvPr/>
        </p:nvSpPr>
        <p:spPr>
          <a:xfrm xmlns:a="http://schemas.openxmlformats.org/drawingml/2006/main">
            <a:off x="5072400" y="2487600"/>
            <a:ext cx="2048400" cy="276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Issues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</a:t>
            </a:r>
          </a:p>
        </p:txBody>
      </p:sp>
      <p:sp>
        <p:nvSpPr>
          <p:cNvPr id="100087" name="Stair4"/>
          <p:cNvSpPr/>
          <p:nvPr/>
        </p:nvSpPr>
        <p:spPr>
          <a:xfrm xmlns:a="http://schemas.openxmlformats.org/drawingml/2006/main">
            <a:off x="7192800" y="1962000"/>
            <a:ext cx="2048400" cy="329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Sheet</a:t>
            </a:r>
          </a:p>
        </p:txBody>
      </p:sp>
      <p:sp>
        <p:nvSpPr>
          <p:cNvPr id="100088" name="Stair5"/>
          <p:cNvSpPr/>
          <p:nvPr/>
        </p:nvSpPr>
        <p:spPr>
          <a:xfrm xmlns:a="http://schemas.openxmlformats.org/drawingml/2006/main">
            <a:off x="9316800" y="1436400"/>
            <a:ext cx="2048400" cy="381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Human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89" name="Check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Hard rules</a:t>
            </a:r>
          </a:p>
        </p:txBody>
      </p:sp>
      <p:sp>
        <p:nvSpPr>
          <p:cNvPr id="100090" name="CheckRow1"/>
          <p:cNvSpPr/>
          <p:nvPr/>
        </p:nvSpPr>
        <p:spPr>
          <a:xfrm xmlns:a="http://schemas.openxmlformats.org/drawingml/2006/main">
            <a:off x="792000" y="1533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Title ≥ 36pt · body ≥ 18pt</a:t>
            </a:r>
          </a:p>
        </p:txBody>
      </p:sp>
      <p:sp>
        <p:nvSpPr>
          <p:cNvPr id="100091" name="CheckRow2"/>
          <p:cNvSpPr/>
          <p:nvPr/>
        </p:nvSpPr>
        <p:spPr>
          <a:xfrm xmlns:a="http://schemas.openxmlformats.org/drawingml/2006/main">
            <a:off x="792000" y="22500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Never shrink fonts to fit</a:t>
            </a:r>
          </a:p>
        </p:txBody>
      </p:sp>
      <p:sp>
        <p:nvSpPr>
          <p:cNvPr id="100092" name="CheckRow3"/>
          <p:cNvSpPr/>
          <p:nvPr/>
        </p:nvSpPr>
        <p:spPr>
          <a:xfrm xmlns:a="http://schemas.openxmlformats.org/drawingml/2006/main">
            <a:off x="792000" y="29628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Body height follows content</a:t>
            </a:r>
          </a:p>
        </p:txBody>
      </p:sp>
      <p:sp>
        <p:nvSpPr>
          <p:cNvPr id="100093" name="CheckRow4"/>
          <p:cNvSpPr/>
          <p:nvPr/>
        </p:nvSpPr>
        <p:spPr>
          <a:xfrm xmlns:a="http://schemas.openxmlformats.org/drawingml/2006/main">
            <a:off x="792000" y="36792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No vendor shapes or icons</a:t>
            </a:r>
          </a:p>
        </p:txBody>
      </p:sp>
      <p:sp>
        <p:nvSpPr>
          <p:cNvPr id="100094" name="CheckRow5"/>
          <p:cNvSpPr/>
          <p:nvPr/>
        </p:nvSpPr>
        <p:spPr>
          <a:xfrm xmlns:a="http://schemas.openxmlformats.org/drawingml/2006/main">
            <a:off x="792000" y="4395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Finish apply with --screenshot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95" name="CloseTitle"/>
          <p:cNvSpPr txBox="1"/>
          <p:nvPr/>
        </p:nvSpPr>
        <p:spPr>
          <a:xfrm xmlns:a="http://schemas.openxmlformats.org/drawingml/2006/main">
            <a:off x="792000" y="1796400"/>
            <a:ext cx="10609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5F5F7"/>
                </a:solidFill>
                <a:latin typeface="Arial"/>
                <a:ea typeface="Arial"/>
              </a:rPr>
              <a:t>Start with the brand file</a:t>
            </a:r>
          </a:p>
        </p:txBody>
      </p:sp>
      <p:sp>
        <p:nvSpPr>
          <p:cNvPr id="100096" name="CloseBody"/>
          <p:cNvSpPr txBox="1"/>
          <p:nvPr/>
        </p:nvSpPr>
        <p:spPr>
          <a:xfrm xmlns:a="http://schemas.openxmlformats.org/drawingml/2006/main">
            <a:off x="1188000" y="2952000"/>
            <a:ext cx="9817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doctor --ensure · compose · scaffold · apply --screenshot</a:t>
            </a:r>
          </a:p>
        </p:txBody>
      </p:sp>
      <p:sp>
        <p:nvSpPr>
          <p:cNvPr id="100097" name="CloseCta"/>
          <p:cNvSpPr/>
          <p:nvPr/>
        </p:nvSpPr>
        <p:spPr>
          <a:xfrm xmlns:a="http://schemas.openxmlformats.org/drawingml/2006/main">
            <a:off x="4294800" y="4068000"/>
            <a:ext cx="3600000" cy="61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doctor --ensure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2026-07-15T14:28:27Z</dcterms:created>
  <cp:lastModifiedBy>OfficeCLI</cp:lastModifiedBy>
  <dcterms:modified xsi:type="dcterms:W3CDTF">2026-07-15T14:28:27Z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2026-07-15T14:28:29Z</vt:lpwstr>
  </op:property>
</op:Properties>
</file>