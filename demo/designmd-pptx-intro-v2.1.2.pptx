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9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b94aec28c50c4834" /><Relationship Type="http://schemas.openxmlformats.org/package/2006/relationships/metadata/core-properties" Target="/docProps/core.xml" Id="R35461d42a0624f30" /><Relationship Type="http://schemas.openxmlformats.org/officeDocument/2006/relationships/extended-properties" Target="/docProps/app.xml" Id="R71fd33283aa44df8" /><Relationship Type="http://schemas.openxmlformats.org/officeDocument/2006/relationships/custom-properties" Target="/docProps/custom.xml" Id="Raacca91f3fb446f9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Id1"/>
  </p:sldMasterIdLst>
  <p:sldIdLst>
    <p:sldId id="256" r:id="R5a02e6953f0e4e5b"/>
    <p:sldId id="257" r:id="R288a9a25afe74a19"/>
    <p:sldId id="258" r:id="R818dc887d0a94d87"/>
    <p:sldId id="259" r:id="R0428f946ec5d4104"/>
    <p:sldId id="260" r:id="Rd6f003f1943b4529"/>
    <p:sldId id="261" r:id="R71e29f74ef3f4955"/>
    <p:sldId id="262" r:id="Rd5b2638803654ce2"/>
    <p:sldId id="263" r:id="R526b9d7a584d4b61"/>
    <p:sldId id="264" r:id="R1978b9a3fdf04e2e"/>
  </p:sldIdLst>
  <p:sldSz cx="12192000" cy="6858000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1" /><Relationship Type="http://schemas.openxmlformats.org/officeDocument/2006/relationships/theme" Target="/ppt/theme/theme1.xml" Id="rId2" /><Relationship Type="http://schemas.openxmlformats.org/officeDocument/2006/relationships/slide" Target="/ppt/slides/slide1.xml" Id="R5a02e6953f0e4e5b" /><Relationship Type="http://schemas.openxmlformats.org/officeDocument/2006/relationships/slide" Target="/ppt/slides/slide2.xml" Id="R288a9a25afe74a19" /><Relationship Type="http://schemas.openxmlformats.org/officeDocument/2006/relationships/slide" Target="/ppt/slides/slide3.xml" Id="R818dc887d0a94d87" /><Relationship Type="http://schemas.openxmlformats.org/officeDocument/2006/relationships/slide" Target="/ppt/slides/slide4.xml" Id="R0428f946ec5d4104" /><Relationship Type="http://schemas.openxmlformats.org/officeDocument/2006/relationships/slide" Target="/ppt/slides/slide5.xml" Id="Rd6f003f1943b4529" /><Relationship Type="http://schemas.openxmlformats.org/officeDocument/2006/relationships/slide" Target="/ppt/slides/slide6.xml" Id="R71e29f74ef3f4955" /><Relationship Type="http://schemas.openxmlformats.org/officeDocument/2006/relationships/slide" Target="/ppt/slides/slide7.xml" Id="Rd5b2638803654ce2" /><Relationship Type="http://schemas.openxmlformats.org/officeDocument/2006/relationships/slide" Target="/ppt/slides/slide8.xml" Id="R526b9d7a584d4b61" /><Relationship Type="http://schemas.openxmlformats.org/officeDocument/2006/relationships/slide" Target="/ppt/slides/slide9.xml" Id="R1978b9a3fdf04e2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The contract is the brand file — not the agent improvising layout.</a:t>
            </a:r>
          </a:p>
        </p:txBody>
      </p:sp>
    </p:spTree>
  </p:cSld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Call the single metric that proves the after state.</a:t>
            </a:r>
          </a:p>
        </p:txBody>
      </p:sp>
    </p:spTree>
  </p:cSld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Five steps, one owner each. Gate 3 is not optional for ship.</a:t>
            </a:r>
          </a:p>
        </p:txBody>
      </p:sp>
    </p:spTree>
  </p:cSld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Pillars are non-negotiable investments, not initiatives.</a:t>
            </a:r>
          </a:p>
        </p:txBody>
      </p:sp>
    </p:spTree>
  </p:cSld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You cannot skip a stair — name the exit criteria per step.</a:t>
            </a:r>
          </a:p>
        </p:txBody>
      </p:sp>
    </p:spTree>
  </p:cSld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Open items need an owner before the meeting ends.</a:t>
            </a:r>
          </a:p>
        </p:txBody>
      </p:sp>
    </p:spTree>
  </p:cSld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5e64a5aaefe4ba9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9b994ca6281405f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cc391c3341a4e3e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449f171afbe4e5d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a31070f52b34056" /></Relationships>
</file>

<file path=ppt/slideLayouts/slideLayout1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/>
    </p:spTree>
  </p:cSld>
</p:sldLayout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ctrTitle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Subtitle"/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3.xml><?xml version="1.0" encoding="utf-8"?>
<p:sldLayout xmlns:p="http://schemas.openxmlformats.org/presentationml/2006/main" type="objTx">
  <p:cSld name="Title and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ColTx">
  <p:cSld name="Two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 Lef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4" name="Content Right"/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5.xml><?xml version="1.0" encoding="utf-8"?>
<p:sldLayout xmlns:p="http://schemas.openxmlformats.org/presentationml/2006/main" type="titleOnly">
  <p:cSld name="Title Only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Relationship Type="http://schemas.openxmlformats.org/officeDocument/2006/relationships/theme" Target="/ppt/theme/theme1.xml" Id="Rf3414433d8da44c2" /><Relationship Type="http://schemas.openxmlformats.org/officeDocument/2006/relationships/slideLayout" Target="/ppt/slideLayouts/slideLayout2.xml" Id="rId2" /><Relationship Type="http://schemas.openxmlformats.org/officeDocument/2006/relationships/slideLayout" Target="/ppt/slideLayouts/slideLayout3.xml" Id="rId3" /><Relationship Type="http://schemas.openxmlformats.org/officeDocument/2006/relationships/slideLayout" Target="/ppt/slideLayouts/slideLayout4.xml" Id="rId4" /><Relationship Type="http://schemas.openxmlformats.org/officeDocument/2006/relationships/slideLayout" Target="/ppt/slideLayouts/slideLayout5.xml" Id="rId5" /></Relationships>
</file>

<file path=ppt/slideMasters/slideMaster1.xml><?xml version="1.0" encoding="utf-8"?>
<p:sldMaster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1"/>
    <p:sldLayoutId xmlns:r="http://schemas.openxmlformats.org/officeDocument/2006/relationships" id="2147483650" r:id="rId2"/>
    <p:sldLayoutId xmlns:r="http://schemas.openxmlformats.org/officeDocument/2006/relationships" id="2147483651" r:id="rId3"/>
    <p:sldLayoutId xmlns:r="http://schemas.openxmlformats.org/officeDocument/2006/relationships" id="2147483652" r:id="rId4"/>
    <p:sldLayoutId xmlns:r="http://schemas.openxmlformats.org/officeDocument/2006/relationships" id="2147483653" r:id="rId5"/>
  </p:sldLayoutIdLst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a5dd1eac0314b6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533c842dec24091" /><Relationship Type="http://schemas.openxmlformats.org/officeDocument/2006/relationships/notesSlide" Target="/ppt/notesSlides/notesSlide1.xml" Id="R0af92a2152fc43c7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d76e80d0eca4a87" /><Relationship Type="http://schemas.openxmlformats.org/officeDocument/2006/relationships/notesSlide" Target="/ppt/notesSlides/notesSlide2.xml" Id="R3623df4adfd64a13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37fb9b24b514872" /><Relationship Type="http://schemas.openxmlformats.org/officeDocument/2006/relationships/notesSlide" Target="/ppt/notesSlides/notesSlide3.xml" Id="R805c5c45c8d9476f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ccbe486bb4a4eca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8c3836ca4e04db3" /><Relationship Type="http://schemas.openxmlformats.org/officeDocument/2006/relationships/notesSlide" Target="/ppt/notesSlides/notesSlide4.xml" Id="R151e3c2b364c48a8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48c6455e9f04f06" /><Relationship Type="http://schemas.openxmlformats.org/officeDocument/2006/relationships/notesSlide" Target="/ppt/notesSlides/notesSlide5.xml" Id="Ra6ed4ac5115f4d73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ab1919fd0cb4132" /><Relationship Type="http://schemas.openxmlformats.org/officeDocument/2006/relationships/notesSlide" Target="/ppt/notesSlides/notesSlide6.xml" Id="Ra888c7dcf43c413b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bb09f20943c4fe6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00000"/>
        </a:solidFill>
      </p:bgPr>
    </p:bg>
    <p:spTree>
      <p:nvGrpSpPr>
        <p:cNvPr id="1" name=""/>
        <p:cNvGrpSpPr/>
        <p:nvPr/>
      </p:nvGrpSpPr>
      <p:grpSpPr/>
      <p:sp>
        <p:nvSpPr>
          <p:cNvPr id="100000" name="CoverEdge"/>
          <p:cNvSpPr/>
          <p:nvPr/>
        </p:nvSpPr>
        <p:spPr>
          <a:xfrm xmlns:a="http://schemas.openxmlformats.org/drawingml/2006/main">
            <a:off x="0" y="0"/>
            <a:ext cx="126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5FFF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01" name="CoverTitle"/>
          <p:cNvSpPr txBox="1"/>
          <p:nvPr/>
        </p:nvSpPr>
        <p:spPr>
          <a:xfrm xmlns:a="http://schemas.openxmlformats.org/drawingml/2006/main">
            <a:off x="792000" y="1872000"/>
            <a:ext cx="10609200" cy="1512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anchor="b"/>
          <a:lstStyle xmlns:a="http://schemas.openxmlformats.org/drawingml/2006/main"/>
          <a:p xmlns:a="http://schemas.openxmlformats.org/drawingml/2006/main">
            <a:pPr algn="l"/>
            <a:r>
              <a:rPr lang="en-US" sz="4800" b="1">
                <a:solidFill>
                  <a:srgbClr val="F5F5F7"/>
                </a:solidFill>
                <a:latin typeface="Arial"/>
                <a:ea typeface="Arial"/>
              </a:rPr>
              <a:t>designmd-pptx</a:t>
            </a:r>
          </a:p>
        </p:txBody>
      </p:sp>
      <p:sp>
        <p:nvSpPr>
          <p:cNvPr id="100002" name="CoverAccent"/>
          <p:cNvSpPr/>
          <p:nvPr/>
        </p:nvSpPr>
        <p:spPr>
          <a:xfrm xmlns:a="http://schemas.openxmlformats.org/drawingml/2006/main">
            <a:off x="792000" y="3420000"/>
            <a:ext cx="1620000" cy="50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5FFF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03" name="CoverSubtitle"/>
          <p:cNvSpPr txBox="1"/>
          <p:nvPr/>
        </p:nvSpPr>
        <p:spPr>
          <a:xfrm xmlns:a="http://schemas.openxmlformats.org/drawingml/2006/main">
            <a:off x="792000" y="3564000"/>
            <a:ext cx="9360000" cy="576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1800">
                <a:solidFill>
                  <a:srgbClr val="A0A6B0"/>
                </a:solidFill>
                <a:latin typeface="Arial"/>
                <a:ea typeface="Arial"/>
              </a:rPr>
              <a:t>Brand design that becomes a real PowerPoint deck</a:t>
            </a:r>
          </a:p>
        </p:txBody>
      </p:sp>
      <p:sp>
        <p:nvSpPr>
          <p:cNvPr id="100004" name="CoverMeta"/>
          <p:cNvSpPr txBox="1"/>
          <p:nvPr/>
        </p:nvSpPr>
        <p:spPr>
          <a:xfrm xmlns:a="http://schemas.openxmlformats.org/drawingml/2006/main">
            <a:off x="792000" y="6048000"/>
            <a:ext cx="10609200" cy="32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1200">
                <a:solidFill>
                  <a:srgbClr val="A0A6B0"/>
                </a:solidFill>
                <a:latin typeface="Arial"/>
                <a:ea typeface="Arial"/>
              </a:rPr>
              <a:t>v2.1.2  ·  Flagship intro  ·  English</a:t>
            </a:r>
          </a:p>
        </p:txBody>
      </p:sp>
    </p:spTree>
  </p:cSld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1000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000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00000"/>
        </a:solidFill>
      </p:bgPr>
    </p:bg>
    <p:spTree>
      <p:nvGrpSpPr>
        <p:cNvPr id="1" name=""/>
        <p:cNvGrpSpPr/>
        <p:nvPr/>
      </p:nvGrpSpPr>
      <p:grpSpPr/>
      <p:sp>
        <p:nvSpPr>
          <p:cNvPr id="100005" name="BigValue"/>
          <p:cNvSpPr txBox="1"/>
          <p:nvPr/>
        </p:nvSpPr>
        <p:spPr>
          <a:xfrm xmlns:a="http://schemas.openxmlformats.org/drawingml/2006/main">
            <a:off x="792000" y="1368000"/>
            <a:ext cx="10609200" cy="2592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/>
            <a:r>
              <a:rPr lang="en-US" sz="8100" b="1">
                <a:solidFill>
                  <a:srgbClr val="0B5FFF"/>
                </a:solidFill>
                <a:latin typeface="Arial"/>
                <a:ea typeface="Arial"/>
              </a:rPr>
              <a:t>DESIGN.md</a:t>
            </a:r>
          </a:p>
        </p:txBody>
      </p:sp>
      <p:sp>
        <p:nvSpPr>
          <p:cNvPr id="100006" name="BigLabel"/>
          <p:cNvSpPr txBox="1"/>
          <p:nvPr/>
        </p:nvSpPr>
        <p:spPr>
          <a:xfrm xmlns:a="http://schemas.openxmlformats.org/drawingml/2006/main">
            <a:off x="792000" y="4104000"/>
            <a:ext cx="10609200" cy="64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lang="en-US" sz="2800" b="1">
                <a:solidFill>
                  <a:srgbClr val="F5F5F7"/>
                </a:solidFill>
                <a:latin typeface="Arial"/>
                <a:ea typeface="Arial"/>
              </a:rPr>
              <a:t>One brand source of truth</a:t>
            </a:r>
          </a:p>
        </p:txBody>
      </p:sp>
      <p:sp>
        <p:nvSpPr>
          <p:cNvPr id="100007" name="BigContext"/>
          <p:cNvSpPr txBox="1"/>
          <p:nvPr/>
        </p:nvSpPr>
        <p:spPr>
          <a:xfrm xmlns:a="http://schemas.openxmlformats.org/drawingml/2006/main">
            <a:off x="1512000" y="4824000"/>
            <a:ext cx="9169200" cy="86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lang="en-US" sz="1800">
                <a:solidFill>
                  <a:srgbClr val="A0A6B0"/>
                </a:solidFill>
                <a:latin typeface="Arial"/>
                <a:ea typeface="Arial"/>
              </a:rPr>
              <a:t>Tokens, recipes, and staging-safe apply — not a blank slide and a prayer.</a:t>
            </a:r>
          </a:p>
        </p:txBody>
      </p:sp>
    </p:spTree>
  </p:cSld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1000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000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00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00000"/>
        </a:solidFill>
      </p:bgPr>
    </p:bg>
    <p:spTree>
      <p:nvGrpSpPr>
        <p:cNvPr id="1" name=""/>
        <p:cNvGrpSpPr/>
        <p:nvPr/>
      </p:nvGrpSpPr>
      <p:grpSpPr/>
      <p:sp>
        <p:nvSpPr>
          <p:cNvPr id="100008" name="BaTitle"/>
          <p:cNvSpPr txBox="1"/>
          <p:nvPr/>
        </p:nvSpPr>
        <p:spPr>
          <a:xfrm xmlns:a="http://schemas.openxmlformats.org/drawingml/2006/main">
            <a:off x="792000" y="435600"/>
            <a:ext cx="10609200" cy="59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600" b="1">
                <a:solidFill>
                  <a:srgbClr val="F5F5F7"/>
                </a:solidFill>
                <a:latin typeface="Arial"/>
                <a:ea typeface="Arial"/>
              </a:rPr>
              <a:t>What changes</a:t>
            </a:r>
          </a:p>
        </p:txBody>
      </p:sp>
      <p:sp>
        <p:nvSpPr>
          <p:cNvPr id="100009" name="BaPanel1"/>
          <p:cNvSpPr/>
          <p:nvPr/>
        </p:nvSpPr>
        <p:spPr>
          <a:xfrm xmlns:a="http://schemas.openxmlformats.org/drawingml/2006/main">
            <a:off x="792000" y="1965600"/>
            <a:ext cx="5104800" cy="31536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C1C1E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10" name="BaHead1"/>
          <p:cNvSpPr txBox="1"/>
          <p:nvPr/>
        </p:nvSpPr>
        <p:spPr>
          <a:xfrm xmlns:a="http://schemas.openxmlformats.org/drawingml/2006/main">
            <a:off x="1227600" y="2401200"/>
            <a:ext cx="4233600" cy="55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800" b="1">
                <a:solidFill>
                  <a:srgbClr val="F5F5F7"/>
                </a:solidFill>
                <a:latin typeface="Arial"/>
                <a:ea typeface="Arial"/>
              </a:rPr>
              <a:t>Before</a:t>
            </a:r>
          </a:p>
        </p:txBody>
      </p:sp>
      <p:sp>
        <p:nvSpPr>
          <p:cNvPr id="100011" name="BaBody1"/>
          <p:cNvSpPr txBox="1"/>
          <p:nvPr/>
        </p:nvSpPr>
        <p:spPr>
          <a:xfrm xmlns:a="http://schemas.openxmlformats.org/drawingml/2006/main">
            <a:off x="1227600" y="3157200"/>
            <a:ext cx="4233600" cy="1526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800">
                <a:solidFill>
                  <a:srgbClr val="A0A6B0"/>
                </a:solidFill>
                <a:latin typeface="Arial"/>
                <a:ea typeface="Arial"/>
              </a:rPr>
              <a:t>• Decks drift from the brand file</a:t>
            </a:r>
          </a:p>
          <a:p xmlns:a="http://schemas.openxmlformats.org/drawingml/2006/main">
            <a:r>
              <a:rPr lang="en-US" sz="1800">
                <a:solidFill>
                  <a:srgbClr val="A0A6B0"/>
                </a:solidFill>
                <a:latin typeface="Arial"/>
                <a:ea typeface="Arial"/>
              </a:rPr>
              <a:t>• Agents invent one-off layouts</a:t>
            </a:r>
          </a:p>
          <a:p xmlns:a="http://schemas.openxmlformats.org/drawingml/2006/main">
            <a:r>
              <a:rPr lang="en-US" sz="1800">
                <a:solidFill>
                  <a:srgbClr val="A0A6B0"/>
                </a:solidFill>
                <a:latin typeface="Arial"/>
                <a:ea typeface="Arial"/>
              </a:rPr>
              <a:t>• No floors, no screenshot gate</a:t>
            </a:r>
          </a:p>
          <a:p xmlns:a="http://schemas.openxmlformats.org/drawingml/2006/main">
            <a:r>
              <a:rPr lang="en-US" sz="1800">
                <a:solidFill>
                  <a:srgbClr val="A0A6B0"/>
                </a:solidFill>
                <a:latin typeface="Arial"/>
                <a:ea typeface="Arial"/>
              </a:rPr>
              <a:t>• Overwrite risk on every save</a:t>
            </a:r>
          </a:p>
        </p:txBody>
      </p:sp>
      <p:sp>
        <p:nvSpPr>
          <p:cNvPr id="100012" name="BaPanel2"/>
          <p:cNvSpPr/>
          <p:nvPr/>
        </p:nvSpPr>
        <p:spPr>
          <a:xfrm xmlns:a="http://schemas.openxmlformats.org/drawingml/2006/main">
            <a:off x="6292800" y="1965600"/>
            <a:ext cx="5104800" cy="31536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B5FFF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13" name="BaHead2"/>
          <p:cNvSpPr txBox="1"/>
          <p:nvPr/>
        </p:nvSpPr>
        <p:spPr>
          <a:xfrm xmlns:a="http://schemas.openxmlformats.org/drawingml/2006/main">
            <a:off x="6732000" y="2401200"/>
            <a:ext cx="4233600" cy="55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800" b="1">
                <a:solidFill>
                  <a:srgbClr val="FFFFFF"/>
                </a:solidFill>
                <a:latin typeface="Arial"/>
                <a:ea typeface="Arial"/>
              </a:rPr>
              <a:t>After</a:t>
            </a:r>
          </a:p>
        </p:txBody>
      </p:sp>
      <p:sp>
        <p:nvSpPr>
          <p:cNvPr id="100014" name="BaBody2"/>
          <p:cNvSpPr txBox="1"/>
          <p:nvPr/>
        </p:nvSpPr>
        <p:spPr>
          <a:xfrm xmlns:a="http://schemas.openxmlformats.org/drawingml/2006/main">
            <a:off x="6732000" y="3157200"/>
            <a:ext cx="4233600" cy="1526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800">
                <a:solidFill>
                  <a:srgbClr val="FFFFFF"/>
                </a:solidFill>
                <a:latin typeface="Arial"/>
                <a:ea typeface="Arial"/>
              </a:rPr>
              <a:t>• Tokens compiled from DESIGN.md</a:t>
            </a:r>
          </a:p>
          <a:p xmlns:a="http://schemas.openxmlformats.org/drawingml/2006/main">
            <a:r>
              <a:rPr lang="en-US" sz="1800">
                <a:solidFill>
                  <a:srgbClr val="FFFFFF"/>
                </a:solidFill>
                <a:latin typeface="Arial"/>
                <a:ea typeface="Arial"/>
              </a:rPr>
              <a:t>• Recipes with real text budgets</a:t>
            </a:r>
          </a:p>
          <a:p xmlns:a="http://schemas.openxmlformats.org/drawingml/2006/main">
            <a:r>
              <a:rPr lang="en-US" sz="1800">
                <a:solidFill>
                  <a:srgbClr val="FFFFFF"/>
                </a:solidFill>
                <a:latin typeface="Arial"/>
                <a:ea typeface="Arial"/>
              </a:rPr>
              <a:t>• Gate 3 contact sheet before ship</a:t>
            </a:r>
          </a:p>
          <a:p xmlns:a="http://schemas.openxmlformats.org/drawingml/2006/main">
            <a:r>
              <a:rPr lang="en-US" sz="1800">
                <a:solidFill>
                  <a:srgbClr val="FFFFFF"/>
                </a:solidFill>
                <a:latin typeface="Arial"/>
                <a:ea typeface="Arial"/>
              </a:rPr>
              <a:t>• Staging-safe apply with --force</a:t>
            </a:r>
          </a:p>
        </p:txBody>
      </p:sp>
    </p:spTree>
  </p:cSld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1000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000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00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00000"/>
        </a:solidFill>
      </p:bgPr>
    </p:bg>
    <p:spTree>
      <p:nvGrpSpPr>
        <p:cNvPr id="1" name=""/>
        <p:cNvGrpSpPr/>
        <p:nvPr/>
      </p:nvGrpSpPr>
      <p:grpSpPr/>
      <p:sp>
        <p:nvSpPr>
          <p:cNvPr id="100015" name="ProcTitle"/>
          <p:cNvSpPr txBox="1"/>
          <p:nvPr/>
        </p:nvSpPr>
        <p:spPr>
          <a:xfrm xmlns:a="http://schemas.openxmlformats.org/drawingml/2006/main">
            <a:off x="792000" y="504000"/>
            <a:ext cx="10609200" cy="64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600" b="1">
                <a:solidFill>
                  <a:srgbClr val="F5F5F7"/>
                </a:solidFill>
                <a:latin typeface="Arial"/>
                <a:ea typeface="Arial"/>
              </a:rPr>
              <a:t>Authoring pipeline</a:t>
            </a:r>
          </a:p>
        </p:txBody>
      </p:sp>
      <p:sp>
        <p:nvSpPr>
          <p:cNvPr id="100016" name="Proc1"/>
          <p:cNvSpPr/>
          <p:nvPr/>
        </p:nvSpPr>
        <p:spPr>
          <a:xfrm xmlns:a="http://schemas.openxmlformats.org/drawingml/2006/main">
            <a:off x="792000" y="2592000"/>
            <a:ext cx="1803600" cy="1656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B5FFF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/>
            <a:r>
              <a:rPr lang="en-US" sz="1800" b="1">
                <a:solidFill>
                  <a:srgbClr val="FFFFFF"/>
                </a:solidFill>
                <a:latin typeface="Arial"/>
                <a:ea typeface="Arial"/>
              </a:rPr>
              <a:t>1</a:t>
            </a:r>
          </a:p>
          <a:p xmlns:a="http://schemas.openxmlformats.org/drawingml/2006/main">
            <a:pPr algn="ctr"/>
            <a:r>
              <a:rPr lang="en-US" sz="1800" b="1">
                <a:solidFill>
                  <a:srgbClr val="FFFFFF"/>
                </a:solidFill>
                <a:latin typeface="Arial"/>
                <a:ea typeface="Arial"/>
              </a:rPr>
              <a:t>Brief</a:t>
            </a:r>
          </a:p>
          <a:p xmlns:a="http://schemas.openxmlformats.org/drawingml/2006/main">
            <a:pPr algn="ctr"/>
            <a:r>
              <a:rPr lang="en-US" sz="1800" b="1">
                <a:solidFill>
                  <a:srgbClr val="FFFFFF"/>
                </a:solidFill>
                <a:latin typeface="Arial"/>
                <a:ea typeface="Arial"/>
              </a:rPr>
              <a:t>Markdown</a:t>
            </a:r>
          </a:p>
        </p:txBody>
      </p:sp>
      <p:sp>
        <p:nvSpPr>
          <p:cNvPr id="100017" name="Proc2"/>
          <p:cNvSpPr/>
          <p:nvPr/>
        </p:nvSpPr>
        <p:spPr>
          <a:xfrm xmlns:a="http://schemas.openxmlformats.org/drawingml/2006/main">
            <a:off x="2991600" y="2592000"/>
            <a:ext cx="1803600" cy="1656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C1C1E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/>
            <a:r>
              <a:rPr lang="en-US" sz="1800" b="1">
                <a:solidFill>
                  <a:srgbClr val="F5F5F7"/>
                </a:solidFill>
                <a:latin typeface="Arial"/>
                <a:ea typeface="Arial"/>
              </a:rPr>
              <a:t>2</a:t>
            </a:r>
          </a:p>
          <a:p xmlns:a="http://schemas.openxmlformats.org/drawingml/2006/main">
            <a:pPr algn="ctr"/>
            <a:r>
              <a:rPr lang="en-US" sz="1800" b="1">
                <a:solidFill>
                  <a:srgbClr val="F5F5F7"/>
                </a:solidFill>
                <a:latin typeface="Arial"/>
                <a:ea typeface="Arial"/>
              </a:rPr>
              <a:t>Compose</a:t>
            </a:r>
          </a:p>
          <a:p xmlns:a="http://schemas.openxmlformats.org/drawingml/2006/main">
            <a:pPr algn="ctr"/>
            <a:r>
              <a:rPr lang="en-US" sz="1800" b="1">
                <a:solidFill>
                  <a:srgbClr val="F5F5F7"/>
                </a:solidFill>
                <a:latin typeface="Arial"/>
                <a:ea typeface="Arial"/>
              </a:rPr>
              <a:t>Deck-spec</a:t>
            </a:r>
          </a:p>
        </p:txBody>
      </p:sp>
      <p:sp>
        <p:nvSpPr>
          <p:cNvPr id="100018" name="Proc3"/>
          <p:cNvSpPr/>
          <p:nvPr/>
        </p:nvSpPr>
        <p:spPr>
          <a:xfrm xmlns:a="http://schemas.openxmlformats.org/drawingml/2006/main">
            <a:off x="5194800" y="2592000"/>
            <a:ext cx="1803600" cy="1656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C1C1E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/>
            <a:r>
              <a:rPr lang="en-US" sz="1800" b="1">
                <a:solidFill>
                  <a:srgbClr val="F5F5F7"/>
                </a:solidFill>
                <a:latin typeface="Arial"/>
                <a:ea typeface="Arial"/>
              </a:rPr>
              <a:t>3</a:t>
            </a:r>
          </a:p>
          <a:p xmlns:a="http://schemas.openxmlformats.org/drawingml/2006/main">
            <a:pPr algn="ctr"/>
            <a:r>
              <a:rPr lang="en-US" sz="1800" b="1">
                <a:solidFill>
                  <a:srgbClr val="F5F5F7"/>
                </a:solidFill>
                <a:latin typeface="Arial"/>
                <a:ea typeface="Arial"/>
              </a:rPr>
              <a:t>Scaffold</a:t>
            </a:r>
          </a:p>
          <a:p xmlns:a="http://schemas.openxmlformats.org/drawingml/2006/main">
            <a:pPr algn="ctr"/>
            <a:r>
              <a:rPr lang="en-US" sz="1800" b="1">
                <a:solidFill>
                  <a:srgbClr val="F5F5F7"/>
                </a:solidFill>
                <a:latin typeface="Arial"/>
                <a:ea typeface="Arial"/>
              </a:rPr>
              <a:t>Tokens</a:t>
            </a:r>
          </a:p>
        </p:txBody>
      </p:sp>
      <p:sp>
        <p:nvSpPr>
          <p:cNvPr id="100019" name="Proc4"/>
          <p:cNvSpPr/>
          <p:nvPr/>
        </p:nvSpPr>
        <p:spPr>
          <a:xfrm xmlns:a="http://schemas.openxmlformats.org/drawingml/2006/main">
            <a:off x="7394400" y="2592000"/>
            <a:ext cx="1803600" cy="1656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C1C1E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/>
            <a:r>
              <a:rPr lang="en-US" sz="1800" b="1">
                <a:solidFill>
                  <a:srgbClr val="F5F5F7"/>
                </a:solidFill>
                <a:latin typeface="Arial"/>
                <a:ea typeface="Arial"/>
              </a:rPr>
              <a:t>4</a:t>
            </a:r>
          </a:p>
          <a:p xmlns:a="http://schemas.openxmlformats.org/drawingml/2006/main">
            <a:pPr algn="ctr"/>
            <a:r>
              <a:rPr lang="en-US" sz="1800" b="1">
                <a:solidFill>
                  <a:srgbClr val="F5F5F7"/>
                </a:solidFill>
                <a:latin typeface="Arial"/>
                <a:ea typeface="Arial"/>
              </a:rPr>
              <a:t>Apply</a:t>
            </a:r>
          </a:p>
          <a:p xmlns:a="http://schemas.openxmlformats.org/drawingml/2006/main">
            <a:pPr algn="ctr"/>
            <a:r>
              <a:rPr lang="en-US" sz="1800" b="1">
                <a:solidFill>
                  <a:srgbClr val="F5F5F7"/>
                </a:solidFill>
                <a:latin typeface="Arial"/>
                <a:ea typeface="Arial"/>
              </a:rPr>
              <a:t>Legacy</a:t>
            </a:r>
          </a:p>
        </p:txBody>
      </p:sp>
      <p:sp>
        <p:nvSpPr>
          <p:cNvPr id="100020" name="Proc5"/>
          <p:cNvSpPr/>
          <p:nvPr/>
        </p:nvSpPr>
        <p:spPr>
          <a:xfrm xmlns:a="http://schemas.openxmlformats.org/drawingml/2006/main">
            <a:off x="9597600" y="2592000"/>
            <a:ext cx="1803600" cy="1656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B5FFF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/>
            <a:r>
              <a:rPr lang="en-US" sz="1800" b="1">
                <a:solidFill>
                  <a:srgbClr val="FFFFFF"/>
                </a:solidFill>
                <a:latin typeface="Arial"/>
                <a:ea typeface="Arial"/>
              </a:rPr>
              <a:t>5</a:t>
            </a:r>
          </a:p>
          <a:p xmlns:a="http://schemas.openxmlformats.org/drawingml/2006/main">
            <a:pPr algn="ctr"/>
            <a:r>
              <a:rPr lang="en-US" sz="1800" b="1">
                <a:solidFill>
                  <a:srgbClr val="FFFFFF"/>
                </a:solidFill>
                <a:latin typeface="Arial"/>
                <a:ea typeface="Arial"/>
              </a:rPr>
              <a:t>Gate 3</a:t>
            </a:r>
          </a:p>
          <a:p xmlns:a="http://schemas.openxmlformats.org/drawingml/2006/main">
            <a:pPr algn="ctr"/>
            <a:r>
              <a:rPr lang="en-US" sz="1800" b="1">
                <a:solidFill>
                  <a:srgbClr val="FFFFFF"/>
                </a:solidFill>
                <a:latin typeface="Arial"/>
                <a:ea typeface="Arial"/>
              </a:rPr>
              <a:t>QA</a:t>
            </a:r>
          </a:p>
        </p:txBody>
      </p:sp>
      <p:cxnSp>
        <p:nvCxnSpPr>
          <p:cNvPr id="100021" name="Connector 1"/>
          <p:cNvCxnSpPr>
            <a:stCxn xmlns:a="http://schemas.openxmlformats.org/drawingml/2006/main" id="100016" idx="0"/>
            <a:endCxn xmlns:a="http://schemas.openxmlformats.org/drawingml/2006/main" id="100017" idx="0"/>
          </p:cNvCxnSpPr>
          <p:nvPr/>
        </p:nvCxnSpPr>
        <p:spPr>
          <a:xfrm xmlns:a="http://schemas.openxmlformats.org/drawingml/2006/main">
            <a:off x="2595600" y="3420000"/>
            <a:ext cx="396000" cy="0"/>
          </a:xfrm>
          <a:prstGeom xmlns:a="http://schemas.openxmlformats.org/drawingml/2006/main" prst="straightConnector1">
            <a:avLst/>
          </a:prstGeom>
          <a:ln xmlns:a="http://schemas.openxmlformats.org/drawingml/2006/main" w="12700">
            <a:solidFill>
              <a:srgbClr val="A0A6B0"/>
            </a:solidFill>
            <a:tailEnd type="triangle"/>
          </a:ln>
        </p:spPr>
      </p:cxnSp>
      <p:cxnSp>
        <p:nvCxnSpPr>
          <p:cNvPr id="100022" name="Connector 2"/>
          <p:cNvCxnSpPr>
            <a:stCxn xmlns:a="http://schemas.openxmlformats.org/drawingml/2006/main" id="100017" idx="0"/>
            <a:endCxn xmlns:a="http://schemas.openxmlformats.org/drawingml/2006/main" id="100018" idx="0"/>
          </p:cNvCxnSpPr>
          <p:nvPr/>
        </p:nvCxnSpPr>
        <p:spPr>
          <a:xfrm xmlns:a="http://schemas.openxmlformats.org/drawingml/2006/main">
            <a:off x="4795200" y="3420000"/>
            <a:ext cx="399600" cy="0"/>
          </a:xfrm>
          <a:prstGeom xmlns:a="http://schemas.openxmlformats.org/drawingml/2006/main" prst="straightConnector1">
            <a:avLst/>
          </a:prstGeom>
          <a:ln xmlns:a="http://schemas.openxmlformats.org/drawingml/2006/main" w="12700">
            <a:solidFill>
              <a:srgbClr val="A0A6B0"/>
            </a:solidFill>
            <a:tailEnd type="triangle"/>
          </a:ln>
        </p:spPr>
      </p:cxnSp>
      <p:cxnSp>
        <p:nvCxnSpPr>
          <p:cNvPr id="100023" name="Connector 3"/>
          <p:cNvCxnSpPr>
            <a:stCxn xmlns:a="http://schemas.openxmlformats.org/drawingml/2006/main" id="100018" idx="0"/>
            <a:endCxn xmlns:a="http://schemas.openxmlformats.org/drawingml/2006/main" id="100019" idx="0"/>
          </p:cNvCxnSpPr>
          <p:nvPr/>
        </p:nvCxnSpPr>
        <p:spPr>
          <a:xfrm xmlns:a="http://schemas.openxmlformats.org/drawingml/2006/main">
            <a:off x="6998400" y="3420000"/>
            <a:ext cx="396000" cy="0"/>
          </a:xfrm>
          <a:prstGeom xmlns:a="http://schemas.openxmlformats.org/drawingml/2006/main" prst="straightConnector1">
            <a:avLst/>
          </a:prstGeom>
          <a:ln xmlns:a="http://schemas.openxmlformats.org/drawingml/2006/main" w="12700">
            <a:solidFill>
              <a:srgbClr val="A0A6B0"/>
            </a:solidFill>
            <a:tailEnd type="triangle"/>
          </a:ln>
        </p:spPr>
      </p:cxnSp>
      <p:cxnSp>
        <p:nvCxnSpPr>
          <p:cNvPr id="100024" name="Connector 4"/>
          <p:cNvCxnSpPr>
            <a:stCxn xmlns:a="http://schemas.openxmlformats.org/drawingml/2006/main" id="100019" idx="0"/>
            <a:endCxn xmlns:a="http://schemas.openxmlformats.org/drawingml/2006/main" id="100020" idx="0"/>
          </p:cNvCxnSpPr>
          <p:nvPr/>
        </p:nvCxnSpPr>
        <p:spPr>
          <a:xfrm xmlns:a="http://schemas.openxmlformats.org/drawingml/2006/main">
            <a:off x="9198000" y="3420000"/>
            <a:ext cx="399600" cy="0"/>
          </a:xfrm>
          <a:prstGeom xmlns:a="http://schemas.openxmlformats.org/drawingml/2006/main" prst="straightConnector1">
            <a:avLst/>
          </a:prstGeom>
          <a:ln xmlns:a="http://schemas.openxmlformats.org/drawingml/2006/main" w="12700">
            <a:solidFill>
              <a:srgbClr val="A0A6B0"/>
            </a:solidFill>
            <a:tailEnd type="triangle"/>
          </a:ln>
        </p:spPr>
      </p:cxnSp>
    </p:spTree>
  </p:cSld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1000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000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00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00000"/>
        </a:solidFill>
      </p:bgPr>
    </p:bg>
    <p:spTree>
      <p:nvGrpSpPr>
        <p:cNvPr id="1" name=""/>
        <p:cNvGrpSpPr/>
        <p:nvPr/>
      </p:nvGrpSpPr>
      <p:grpSpPr/>
      <p:sp>
        <p:nvSpPr>
          <p:cNvPr id="100025" name="FeatTitle"/>
          <p:cNvSpPr txBox="1"/>
          <p:nvPr/>
        </p:nvSpPr>
        <p:spPr>
          <a:xfrm xmlns:a="http://schemas.openxmlformats.org/drawingml/2006/main">
            <a:off x="792000" y="486000"/>
            <a:ext cx="10609200" cy="662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600" b="1">
                <a:solidFill>
                  <a:srgbClr val="F5F5F7"/>
                </a:solidFill>
                <a:latin typeface="Arial"/>
                <a:ea typeface="Arial"/>
              </a:rPr>
              <a:t>Three promises</a:t>
            </a:r>
          </a:p>
        </p:txBody>
      </p:sp>
      <p:sp>
        <p:nvSpPr>
          <p:cNvPr id="100026" name="Card1Bg"/>
          <p:cNvSpPr/>
          <p:nvPr/>
        </p:nvSpPr>
        <p:spPr>
          <a:xfrm xmlns:a="http://schemas.openxmlformats.org/drawingml/2006/main">
            <a:off x="792000" y="1490400"/>
            <a:ext cx="3272400" cy="49356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C1C1E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27" name="Card1Num"/>
          <p:cNvSpPr txBox="1"/>
          <p:nvPr/>
        </p:nvSpPr>
        <p:spPr>
          <a:xfrm xmlns:a="http://schemas.openxmlformats.org/drawingml/2006/main">
            <a:off x="1098000" y="1958400"/>
            <a:ext cx="2660400" cy="68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400" b="1">
                <a:solidFill>
                  <a:srgbClr val="0B5FFF"/>
                </a:solidFill>
                <a:latin typeface="Arial"/>
                <a:ea typeface="Arial"/>
              </a:rPr>
              <a:t>01</a:t>
            </a:r>
          </a:p>
        </p:txBody>
      </p:sp>
      <p:sp>
        <p:nvSpPr>
          <p:cNvPr id="100028" name="Card1Title"/>
          <p:cNvSpPr txBox="1"/>
          <p:nvPr/>
        </p:nvSpPr>
        <p:spPr>
          <a:xfrm xmlns:a="http://schemas.openxmlformats.org/drawingml/2006/main">
            <a:off x="1098000" y="2804400"/>
            <a:ext cx="2660400" cy="100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600" b="1">
                <a:solidFill>
                  <a:srgbClr val="F5F5F7"/>
                </a:solidFill>
                <a:latin typeface="Arial"/>
                <a:ea typeface="Arial"/>
              </a:rPr>
              <a:t>Exact geometry</a:t>
            </a:r>
          </a:p>
        </p:txBody>
      </p:sp>
      <p:sp>
        <p:nvSpPr>
          <p:cNvPr id="100029" name="Card1Body"/>
          <p:cNvSpPr txBox="1"/>
          <p:nvPr/>
        </p:nvSpPr>
        <p:spPr>
          <a:xfrm xmlns:a="http://schemas.openxmlformats.org/drawingml/2006/main">
            <a:off x="1098000" y="3974400"/>
            <a:ext cx="2660400" cy="946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800">
                <a:solidFill>
                  <a:srgbClr val="A0A6B0"/>
                </a:solidFill>
                <a:latin typeface="Arial"/>
                <a:ea typeface="Arial"/>
              </a:rPr>
              <a:t>Centimeters. Glued connectors. Type floors that hold.</a:t>
            </a:r>
          </a:p>
        </p:txBody>
      </p:sp>
      <p:sp>
        <p:nvSpPr>
          <p:cNvPr id="100030" name="Card2Bg"/>
          <p:cNvSpPr/>
          <p:nvPr/>
        </p:nvSpPr>
        <p:spPr>
          <a:xfrm xmlns:a="http://schemas.openxmlformats.org/drawingml/2006/main">
            <a:off x="4460400" y="1490400"/>
            <a:ext cx="3272400" cy="49356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C1C1E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31" name="Card2Num"/>
          <p:cNvSpPr txBox="1"/>
          <p:nvPr/>
        </p:nvSpPr>
        <p:spPr>
          <a:xfrm xmlns:a="http://schemas.openxmlformats.org/drawingml/2006/main">
            <a:off x="4766400" y="1958400"/>
            <a:ext cx="2660400" cy="68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400" b="1">
                <a:solidFill>
                  <a:srgbClr val="0B5FFF"/>
                </a:solidFill>
                <a:latin typeface="Arial"/>
                <a:ea typeface="Arial"/>
              </a:rPr>
              <a:t>02</a:t>
            </a:r>
          </a:p>
        </p:txBody>
      </p:sp>
      <p:sp>
        <p:nvSpPr>
          <p:cNvPr id="100032" name="Card2Title"/>
          <p:cNvSpPr txBox="1"/>
          <p:nvPr/>
        </p:nvSpPr>
        <p:spPr>
          <a:xfrm xmlns:a="http://schemas.openxmlformats.org/drawingml/2006/main">
            <a:off x="4766400" y="2804400"/>
            <a:ext cx="2660400" cy="100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600" b="1">
                <a:solidFill>
                  <a:srgbClr val="F5F5F7"/>
                </a:solidFill>
                <a:latin typeface="Arial"/>
                <a:ea typeface="Arial"/>
              </a:rPr>
              <a:t>Hard gates</a:t>
            </a:r>
          </a:p>
        </p:txBody>
      </p:sp>
      <p:sp>
        <p:nvSpPr>
          <p:cNvPr id="100033" name="Card2Body"/>
          <p:cNvSpPr txBox="1"/>
          <p:nvPr/>
        </p:nvSpPr>
        <p:spPr>
          <a:xfrm xmlns:a="http://schemas.openxmlformats.org/drawingml/2006/main">
            <a:off x="4766400" y="3974400"/>
            <a:ext cx="2660400" cy="946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800">
                <a:solidFill>
                  <a:srgbClr val="A0A6B0"/>
                </a:solidFill>
                <a:latin typeface="Arial"/>
                <a:ea typeface="Arial"/>
              </a:rPr>
              <a:t>Budgets, contrast, issues — then a contact sheet.</a:t>
            </a:r>
          </a:p>
        </p:txBody>
      </p:sp>
      <p:sp>
        <p:nvSpPr>
          <p:cNvPr id="100034" name="Card3Bg"/>
          <p:cNvSpPr/>
          <p:nvPr/>
        </p:nvSpPr>
        <p:spPr>
          <a:xfrm xmlns:a="http://schemas.openxmlformats.org/drawingml/2006/main">
            <a:off x="8128800" y="1490400"/>
            <a:ext cx="3272400" cy="49356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C1C1E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35" name="Card3Num"/>
          <p:cNvSpPr txBox="1"/>
          <p:nvPr/>
        </p:nvSpPr>
        <p:spPr>
          <a:xfrm xmlns:a="http://schemas.openxmlformats.org/drawingml/2006/main">
            <a:off x="8434800" y="1958400"/>
            <a:ext cx="2660400" cy="68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400" b="1">
                <a:solidFill>
                  <a:srgbClr val="0B5FFF"/>
                </a:solidFill>
                <a:latin typeface="Arial"/>
                <a:ea typeface="Arial"/>
              </a:rPr>
              <a:t>03</a:t>
            </a:r>
          </a:p>
        </p:txBody>
      </p:sp>
      <p:sp>
        <p:nvSpPr>
          <p:cNvPr id="100036" name="Card3Title"/>
          <p:cNvSpPr txBox="1"/>
          <p:nvPr/>
        </p:nvSpPr>
        <p:spPr>
          <a:xfrm xmlns:a="http://schemas.openxmlformats.org/drawingml/2006/main">
            <a:off x="8434800" y="2804400"/>
            <a:ext cx="2660400" cy="100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600" b="1">
                <a:solidFill>
                  <a:srgbClr val="F5F5F7"/>
                </a:solidFill>
                <a:latin typeface="Arial"/>
                <a:ea typeface="Arial"/>
              </a:rPr>
              <a:t>Agent-safe</a:t>
            </a:r>
          </a:p>
        </p:txBody>
      </p:sp>
      <p:sp>
        <p:nvSpPr>
          <p:cNvPr id="100037" name="Card3Body"/>
          <p:cNvSpPr txBox="1"/>
          <p:nvPr/>
        </p:nvSpPr>
        <p:spPr>
          <a:xfrm xmlns:a="http://schemas.openxmlformats.org/drawingml/2006/main">
            <a:off x="8434800" y="3974400"/>
            <a:ext cx="2660400" cy="946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800">
                <a:solidFill>
                  <a:srgbClr val="A0A6B0"/>
                </a:solidFill>
                <a:latin typeface="Arial"/>
                <a:ea typeface="Arial"/>
              </a:rPr>
              <a:t>Claude, Codex, Grok. Install only after you say yes.</a:t>
            </a:r>
          </a:p>
        </p:txBody>
      </p:sp>
    </p:spTree>
  </p:cSld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1000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000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00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00000"/>
        </a:solidFill>
      </p:bgPr>
    </p:bg>
    <p:spTree>
      <p:nvGrpSpPr>
        <p:cNvPr id="1" name=""/>
        <p:cNvGrpSpPr/>
        <p:nvPr/>
      </p:nvGrpSpPr>
      <p:grpSpPr/>
      <p:sp>
        <p:nvSpPr>
          <p:cNvPr id="100038" name="PillarTitle"/>
          <p:cNvSpPr txBox="1"/>
          <p:nvPr/>
        </p:nvSpPr>
        <p:spPr>
          <a:xfrm xmlns:a="http://schemas.openxmlformats.org/drawingml/2006/main">
            <a:off x="792000" y="360000"/>
            <a:ext cx="10609200" cy="64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600" b="1">
                <a:solidFill>
                  <a:srgbClr val="F5F5F7"/>
                </a:solidFill>
                <a:latin typeface="Arial"/>
                <a:ea typeface="Arial"/>
              </a:rPr>
              <a:t>Two backends, one contract</a:t>
            </a:r>
          </a:p>
        </p:txBody>
      </p:sp>
      <p:sp>
        <p:nvSpPr>
          <p:cNvPr id="100039" name="Pillar1"/>
          <p:cNvSpPr/>
          <p:nvPr/>
        </p:nvSpPr>
        <p:spPr>
          <a:xfrm xmlns:a="http://schemas.openxmlformats.org/drawingml/2006/main">
            <a:off x="792000" y="1800000"/>
            <a:ext cx="3416400" cy="414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B5FFF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/>
            <a:r>
              <a:rPr lang="en-US" sz="2400" b="1">
                <a:solidFill>
                  <a:srgbClr val="FFFFFF"/>
                </a:solidFill>
                <a:latin typeface="Arial"/>
                <a:ea typeface="Arial"/>
              </a:rPr>
              <a:t>Legacy</a:t>
            </a:r>
          </a:p>
          <a:p xmlns:a="http://schemas.openxmlformats.org/drawingml/2006/main">
            <a:pPr algn="ctr"/>
            <a:r>
              <a:rPr lang="en-US" sz="2400" b="1">
                <a:solidFill>
                  <a:srgbClr val="FFFFFF"/>
                </a:solidFill>
                <a:latin typeface="Arial"/>
                <a:ea typeface="Arial"/>
              </a:rPr>
              <a:t/>
            </a:r>
          </a:p>
          <a:p xmlns:a="http://schemas.openxmlformats.org/drawingml/2006/main">
            <a:pPr algn="ctr"/>
            <a:r>
              <a:rPr lang="en-US" sz="2400" b="1">
                <a:solidFill>
                  <a:srgbClr val="FFFFFF"/>
                </a:solidFill>
                <a:latin typeface="Arial"/>
                <a:ea typeface="Arial"/>
              </a:rPr>
              <a:t>Shape-level batch for DESIGN.md-exact decks</a:t>
            </a:r>
          </a:p>
        </p:txBody>
      </p:sp>
      <p:sp>
        <p:nvSpPr>
          <p:cNvPr id="100040" name="Pillar2"/>
          <p:cNvSpPr/>
          <p:nvPr/>
        </p:nvSpPr>
        <p:spPr>
          <a:xfrm xmlns:a="http://schemas.openxmlformats.org/drawingml/2006/main">
            <a:off x="4388400" y="1944000"/>
            <a:ext cx="3416400" cy="3996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C1C1E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/>
            <a:r>
              <a:rPr lang="en-US" sz="2400" b="1">
                <a:solidFill>
                  <a:srgbClr val="F5F5F7"/>
                </a:solidFill>
                <a:latin typeface="Arial"/>
                <a:ea typeface="Arial"/>
              </a:rPr>
              <a:t>Official</a:t>
            </a:r>
          </a:p>
          <a:p xmlns:a="http://schemas.openxmlformats.org/drawingml/2006/main">
            <a:pPr algn="ctr"/>
            <a:r>
              <a:rPr lang="en-US" sz="2400" b="1">
                <a:solidFill>
                  <a:srgbClr val="F5F5F7"/>
                </a:solidFill>
                <a:latin typeface="Arial"/>
                <a:ea typeface="Arial"/>
              </a:rPr>
              <a:t/>
            </a:r>
          </a:p>
          <a:p xmlns:a="http://schemas.openxmlformats.org/drawingml/2006/main">
            <a:pPr algn="ctr"/>
            <a:r>
              <a:rPr lang="en-US" sz="2400" b="1">
                <a:solidFill>
                  <a:srgbClr val="F5F5F7"/>
                </a:solidFill>
                <a:latin typeface="Arial"/>
                <a:ea typeface="Arial"/>
              </a:rPr>
              <a:t>Agent-bridge drafts via office.render</a:t>
            </a:r>
          </a:p>
        </p:txBody>
      </p:sp>
      <p:sp>
        <p:nvSpPr>
          <p:cNvPr id="100041" name="Pillar3"/>
          <p:cNvSpPr/>
          <p:nvPr/>
        </p:nvSpPr>
        <p:spPr>
          <a:xfrm xmlns:a="http://schemas.openxmlformats.org/drawingml/2006/main">
            <a:off x="7984800" y="2088000"/>
            <a:ext cx="3416400" cy="3852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C1C1E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/>
            <a:r>
              <a:rPr lang="en-US" sz="2400" b="1">
                <a:solidFill>
                  <a:srgbClr val="F5F5F7"/>
                </a:solidFill>
                <a:latin typeface="Arial"/>
                <a:ea typeface="Arial"/>
              </a:rPr>
              <a:t>Offline</a:t>
            </a:r>
          </a:p>
          <a:p xmlns:a="http://schemas.openxmlformats.org/drawingml/2006/main">
            <a:pPr algn="ctr"/>
            <a:r>
              <a:rPr lang="en-US" sz="2400" b="1">
                <a:solidFill>
                  <a:srgbClr val="F5F5F7"/>
                </a:solidFill>
                <a:latin typeface="Arial"/>
                <a:ea typeface="Arial"/>
              </a:rPr>
              <a:t/>
            </a:r>
          </a:p>
          <a:p xmlns:a="http://schemas.openxmlformats.org/drawingml/2006/main">
            <a:pPr algn="ctr"/>
            <a:r>
              <a:rPr lang="en-US" sz="2400" b="1">
                <a:solidFill>
                  <a:srgbClr val="F5F5F7"/>
                </a:solidFill>
                <a:latin typeface="Arial"/>
                <a:ea typeface="Arial"/>
              </a:rPr>
              <a:t>Compose, a11y, refine, animate without a binary</a:t>
            </a:r>
          </a:p>
        </p:txBody>
      </p:sp>
    </p:spTree>
  </p:cSld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1000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000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00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00000"/>
        </a:solidFill>
      </p:bgPr>
    </p:bg>
    <p:spTree>
      <p:nvGrpSpPr>
        <p:cNvPr id="1" name=""/>
        <p:cNvGrpSpPr/>
        <p:nvPr/>
      </p:nvGrpSpPr>
      <p:grpSpPr/>
      <p:sp>
        <p:nvSpPr>
          <p:cNvPr id="100042" name="StairsTitle"/>
          <p:cNvSpPr txBox="1"/>
          <p:nvPr/>
        </p:nvSpPr>
        <p:spPr>
          <a:xfrm xmlns:a="http://schemas.openxmlformats.org/drawingml/2006/main">
            <a:off x="792000" y="360000"/>
            <a:ext cx="10609200" cy="64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600" b="1">
                <a:solidFill>
                  <a:srgbClr val="F5F5F7"/>
                </a:solidFill>
                <a:latin typeface="Arial"/>
                <a:ea typeface="Arial"/>
              </a:rPr>
              <a:t>Quality is a staircase</a:t>
            </a:r>
          </a:p>
        </p:txBody>
      </p:sp>
      <p:sp>
        <p:nvSpPr>
          <p:cNvPr id="100043" name="Stair1"/>
          <p:cNvSpPr/>
          <p:nvPr/>
        </p:nvSpPr>
        <p:spPr>
          <a:xfrm xmlns:a="http://schemas.openxmlformats.org/drawingml/2006/main">
            <a:off x="835200" y="4680000"/>
            <a:ext cx="2034000" cy="1368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C1C1E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/>
            <a:r>
              <a:rPr lang="en-US" sz="1800" b="1">
                <a:solidFill>
                  <a:srgbClr val="F5F5F7"/>
                </a:solidFill>
                <a:latin typeface="Arial"/>
                <a:ea typeface="Arial"/>
              </a:rPr>
              <a:t>1</a:t>
            </a:r>
          </a:p>
          <a:p xmlns:a="http://schemas.openxmlformats.org/drawingml/2006/main">
            <a:pPr algn="ctr"/>
            <a:r>
              <a:rPr lang="en-US" sz="1800" b="1">
                <a:solidFill>
                  <a:srgbClr val="F5F5F7"/>
                </a:solidFill>
                <a:latin typeface="Arial"/>
                <a:ea typeface="Arial"/>
              </a:rPr>
              <a:t>Tokens</a:t>
            </a:r>
          </a:p>
          <a:p xmlns:a="http://schemas.openxmlformats.org/drawingml/2006/main">
            <a:pPr algn="ctr"/>
            <a:r>
              <a:rPr lang="en-US" sz="1800" b="1">
                <a:solidFill>
                  <a:srgbClr val="F5F5F7"/>
                </a:solidFill>
                <a:latin typeface="Arial"/>
                <a:ea typeface="Arial"/>
              </a:rPr>
              <a:t>Brand floors</a:t>
            </a:r>
          </a:p>
        </p:txBody>
      </p:sp>
      <p:sp>
        <p:nvSpPr>
          <p:cNvPr id="100044" name="Stair2"/>
          <p:cNvSpPr/>
          <p:nvPr/>
        </p:nvSpPr>
        <p:spPr>
          <a:xfrm xmlns:a="http://schemas.openxmlformats.org/drawingml/2006/main">
            <a:off x="2955600" y="3852000"/>
            <a:ext cx="2034000" cy="2196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C1C1E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/>
            <a:r>
              <a:rPr lang="en-US" sz="1800" b="1">
                <a:solidFill>
                  <a:srgbClr val="F5F5F7"/>
                </a:solidFill>
                <a:latin typeface="Arial"/>
                <a:ea typeface="Arial"/>
              </a:rPr>
              <a:t>2</a:t>
            </a:r>
          </a:p>
          <a:p xmlns:a="http://schemas.openxmlformats.org/drawingml/2006/main">
            <a:pPr algn="ctr"/>
            <a:r>
              <a:rPr lang="en-US" sz="1800" b="1">
                <a:solidFill>
                  <a:srgbClr val="F5F5F7"/>
                </a:solidFill>
                <a:latin typeface="Arial"/>
                <a:ea typeface="Arial"/>
              </a:rPr>
              <a:t>Fit</a:t>
            </a:r>
          </a:p>
          <a:p xmlns:a="http://schemas.openxmlformats.org/drawingml/2006/main">
            <a:pPr algn="ctr"/>
            <a:r>
              <a:rPr lang="en-US" sz="1800" b="1">
                <a:solidFill>
                  <a:srgbClr val="F5F5F7"/>
                </a:solidFill>
                <a:latin typeface="Arial"/>
                <a:ea typeface="Arial"/>
              </a:rPr>
              <a:t>CJK budgets</a:t>
            </a:r>
          </a:p>
        </p:txBody>
      </p:sp>
      <p:sp>
        <p:nvSpPr>
          <p:cNvPr id="100045" name="Stair3"/>
          <p:cNvSpPr/>
          <p:nvPr/>
        </p:nvSpPr>
        <p:spPr>
          <a:xfrm xmlns:a="http://schemas.openxmlformats.org/drawingml/2006/main">
            <a:off x="5079600" y="3024000"/>
            <a:ext cx="2034000" cy="3024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C1C1E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/>
            <a:r>
              <a:rPr lang="en-US" sz="1800" b="1">
                <a:solidFill>
                  <a:srgbClr val="F5F5F7"/>
                </a:solidFill>
                <a:latin typeface="Arial"/>
                <a:ea typeface="Arial"/>
              </a:rPr>
              <a:t>3</a:t>
            </a:r>
          </a:p>
          <a:p xmlns:a="http://schemas.openxmlformats.org/drawingml/2006/main">
            <a:pPr algn="ctr"/>
            <a:r>
              <a:rPr lang="en-US" sz="1800" b="1">
                <a:solidFill>
                  <a:srgbClr val="F5F5F7"/>
                </a:solidFill>
                <a:latin typeface="Arial"/>
                <a:ea typeface="Arial"/>
              </a:rPr>
              <a:t>Issues</a:t>
            </a:r>
          </a:p>
          <a:p xmlns:a="http://schemas.openxmlformats.org/drawingml/2006/main">
            <a:pPr algn="ctr"/>
            <a:r>
              <a:rPr lang="en-US" sz="1800" b="1">
                <a:solidFill>
                  <a:srgbClr val="F5F5F7"/>
                </a:solidFill>
                <a:latin typeface="Arial"/>
                <a:ea typeface="Arial"/>
              </a:rPr>
              <a:t>Overlap gate</a:t>
            </a:r>
          </a:p>
        </p:txBody>
      </p:sp>
      <p:sp>
        <p:nvSpPr>
          <p:cNvPr id="100046" name="Stair4"/>
          <p:cNvSpPr/>
          <p:nvPr/>
        </p:nvSpPr>
        <p:spPr>
          <a:xfrm xmlns:a="http://schemas.openxmlformats.org/drawingml/2006/main">
            <a:off x="7200000" y="2196000"/>
            <a:ext cx="2034000" cy="3852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C1C1E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/>
            <a:r>
              <a:rPr lang="en-US" sz="1800" b="1">
                <a:solidFill>
                  <a:srgbClr val="F5F5F7"/>
                </a:solidFill>
                <a:latin typeface="Arial"/>
                <a:ea typeface="Arial"/>
              </a:rPr>
              <a:t>4</a:t>
            </a:r>
          </a:p>
          <a:p xmlns:a="http://schemas.openxmlformats.org/drawingml/2006/main">
            <a:pPr algn="ctr"/>
            <a:r>
              <a:rPr lang="en-US" sz="1800" b="1">
                <a:solidFill>
                  <a:srgbClr val="F5F5F7"/>
                </a:solidFill>
                <a:latin typeface="Arial"/>
                <a:ea typeface="Arial"/>
              </a:rPr>
              <a:t>Gate 3</a:t>
            </a:r>
          </a:p>
          <a:p xmlns:a="http://schemas.openxmlformats.org/drawingml/2006/main">
            <a:pPr algn="ctr"/>
            <a:r>
              <a:rPr lang="en-US" sz="1800" b="1">
                <a:solidFill>
                  <a:srgbClr val="F5F5F7"/>
                </a:solidFill>
                <a:latin typeface="Arial"/>
                <a:ea typeface="Arial"/>
              </a:rPr>
              <a:t>Contact sheet</a:t>
            </a:r>
          </a:p>
        </p:txBody>
      </p:sp>
      <p:sp>
        <p:nvSpPr>
          <p:cNvPr id="100047" name="Stair5"/>
          <p:cNvSpPr/>
          <p:nvPr/>
        </p:nvSpPr>
        <p:spPr>
          <a:xfrm xmlns:a="http://schemas.openxmlformats.org/drawingml/2006/main">
            <a:off x="9324000" y="1368000"/>
            <a:ext cx="2034000" cy="468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B5FFF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/>
            <a:r>
              <a:rPr lang="en-US" sz="1800" b="1">
                <a:solidFill>
                  <a:srgbClr val="FFFFFF"/>
                </a:solidFill>
                <a:latin typeface="Arial"/>
                <a:ea typeface="Arial"/>
              </a:rPr>
              <a:t>5</a:t>
            </a:r>
          </a:p>
          <a:p xmlns:a="http://schemas.openxmlformats.org/drawingml/2006/main">
            <a:pPr algn="ctr"/>
            <a:r>
              <a:rPr lang="en-US" sz="1800" b="1">
                <a:solidFill>
                  <a:srgbClr val="FFFFFF"/>
                </a:solidFill>
                <a:latin typeface="Arial"/>
                <a:ea typeface="Arial"/>
              </a:rPr>
              <a:t>Ship</a:t>
            </a:r>
          </a:p>
          <a:p xmlns:a="http://schemas.openxmlformats.org/drawingml/2006/main">
            <a:pPr algn="ctr"/>
            <a:r>
              <a:rPr lang="en-US" sz="1800" b="1">
                <a:solidFill>
                  <a:srgbClr val="FFFFFF"/>
                </a:solidFill>
                <a:latin typeface="Arial"/>
                <a:ea typeface="Arial"/>
              </a:rPr>
              <a:t>Human check</a:t>
            </a:r>
          </a:p>
        </p:txBody>
      </p:sp>
    </p:spTree>
  </p:cSld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1000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000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00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00000"/>
        </a:solidFill>
      </p:bgPr>
    </p:bg>
    <p:spTree>
      <p:nvGrpSpPr>
        <p:cNvPr id="1" name=""/>
        <p:cNvGrpSpPr/>
        <p:nvPr/>
      </p:nvGrpSpPr>
      <p:grpSpPr/>
      <p:sp>
        <p:nvSpPr>
          <p:cNvPr id="100048" name="CheckTitle"/>
          <p:cNvSpPr txBox="1"/>
          <p:nvPr/>
        </p:nvSpPr>
        <p:spPr>
          <a:xfrm xmlns:a="http://schemas.openxmlformats.org/drawingml/2006/main">
            <a:off x="792000" y="360000"/>
            <a:ext cx="10609200" cy="64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600" b="1">
                <a:solidFill>
                  <a:srgbClr val="F5F5F7"/>
                </a:solidFill>
                <a:latin typeface="Arial"/>
                <a:ea typeface="Arial"/>
              </a:rPr>
              <a:t>Hard rules we keep</a:t>
            </a:r>
          </a:p>
        </p:txBody>
      </p:sp>
      <p:sp>
        <p:nvSpPr>
          <p:cNvPr id="100049" name="CheckRow1"/>
          <p:cNvSpPr/>
          <p:nvPr/>
        </p:nvSpPr>
        <p:spPr>
          <a:xfrm xmlns:a="http://schemas.openxmlformats.org/drawingml/2006/main">
            <a:off x="792000" y="1296000"/>
            <a:ext cx="10609200" cy="63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C1C1E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r>
              <a:rPr lang="en-US" sz="1800" b="0">
                <a:solidFill>
                  <a:srgbClr val="F5F5F7"/>
                </a:solidFill>
                <a:latin typeface="Arial"/>
                <a:ea typeface="Arial"/>
              </a:rPr>
              <a:t>✓  Title ≥ 36pt · body ≥ 18pt</a:t>
            </a:r>
          </a:p>
        </p:txBody>
      </p:sp>
      <p:sp>
        <p:nvSpPr>
          <p:cNvPr id="100050" name="CheckRow2"/>
          <p:cNvSpPr/>
          <p:nvPr/>
        </p:nvSpPr>
        <p:spPr>
          <a:xfrm xmlns:a="http://schemas.openxmlformats.org/drawingml/2006/main">
            <a:off x="792000" y="1980000"/>
            <a:ext cx="10609200" cy="63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C1C1E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r>
              <a:rPr lang="en-US" sz="1800" b="0">
                <a:solidFill>
                  <a:srgbClr val="F5F5F7"/>
                </a:solidFill>
                <a:latin typeface="Arial"/>
                <a:ea typeface="Arial"/>
              </a:rPr>
              <a:t>✓  Never shrink fonts to fit — split or cut</a:t>
            </a:r>
          </a:p>
        </p:txBody>
      </p:sp>
      <p:sp>
        <p:nvSpPr>
          <p:cNvPr id="100051" name="CheckRow3"/>
          <p:cNvSpPr/>
          <p:nvPr/>
        </p:nvSpPr>
        <p:spPr>
          <a:xfrm xmlns:a="http://schemas.openxmlformats.org/drawingml/2006/main">
            <a:off x="792000" y="2664000"/>
            <a:ext cx="10609200" cy="63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C1C1E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r>
              <a:rPr lang="en-US" sz="1800" b="0">
                <a:solidFill>
                  <a:srgbClr val="F5F5F7"/>
                </a:solidFill>
                <a:latin typeface="Arial"/>
                <a:ea typeface="Arial"/>
              </a:rPr>
              <a:t>✓  Overwrite only with --force</a:t>
            </a:r>
          </a:p>
        </p:txBody>
      </p:sp>
      <p:sp>
        <p:nvSpPr>
          <p:cNvPr id="100052" name="CheckRow4"/>
          <p:cNvSpPr/>
          <p:nvPr/>
        </p:nvSpPr>
        <p:spPr>
          <a:xfrm xmlns:a="http://schemas.openxmlformats.org/drawingml/2006/main">
            <a:off x="792000" y="3348000"/>
            <a:ext cx="10609200" cy="63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C1C1E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r>
              <a:rPr lang="en-US" sz="1800" b="0">
                <a:solidFill>
                  <a:srgbClr val="F5F5F7"/>
                </a:solidFill>
                <a:latin typeface="Arial"/>
                <a:ea typeface="Arial"/>
              </a:rPr>
              <a:t>✓  Finish apply with --screenshot</a:t>
            </a:r>
          </a:p>
        </p:txBody>
      </p:sp>
      <p:sp>
        <p:nvSpPr>
          <p:cNvPr id="100053" name="CheckRow5"/>
          <p:cNvSpPr/>
          <p:nvPr/>
        </p:nvSpPr>
        <p:spPr>
          <a:xfrm xmlns:a="http://schemas.openxmlformats.org/drawingml/2006/main">
            <a:off x="792000" y="4032000"/>
            <a:ext cx="10609200" cy="63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C1C1E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r>
              <a:rPr lang="en-US" sz="1800" b="0">
                <a:solidFill>
                  <a:srgbClr val="F5F5F7"/>
                </a:solidFill>
                <a:latin typeface="Arial"/>
                <a:ea typeface="Arial"/>
              </a:rPr>
              <a:t>✓  Ask before installing OfficeCLI</a:t>
            </a:r>
          </a:p>
        </p:txBody>
      </p:sp>
    </p:spTree>
  </p:cSld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1000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000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00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00000"/>
        </a:solidFill>
      </p:bgPr>
    </p:bg>
    <p:spTree>
      <p:nvGrpSpPr>
        <p:cNvPr id="1" name=""/>
        <p:cNvGrpSpPr/>
        <p:nvPr/>
      </p:nvGrpSpPr>
      <p:grpSpPr/>
      <p:sp>
        <p:nvSpPr>
          <p:cNvPr id="100054" name="CloseTitle"/>
          <p:cNvSpPr txBox="1"/>
          <p:nvPr/>
        </p:nvSpPr>
        <p:spPr>
          <a:xfrm xmlns:a="http://schemas.openxmlformats.org/drawingml/2006/main">
            <a:off x="792000" y="1872000"/>
            <a:ext cx="10609200" cy="100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lang="en-US" sz="4400" b="1">
                <a:solidFill>
                  <a:srgbClr val="F5F5F7"/>
                </a:solidFill>
                <a:latin typeface="Arial"/>
                <a:ea typeface="Arial"/>
              </a:rPr>
              <a:t>Start with the brand file</a:t>
            </a:r>
          </a:p>
        </p:txBody>
      </p:sp>
      <p:sp>
        <p:nvSpPr>
          <p:cNvPr id="100055" name="CloseBody"/>
          <p:cNvSpPr txBox="1"/>
          <p:nvPr/>
        </p:nvSpPr>
        <p:spPr>
          <a:xfrm xmlns:a="http://schemas.openxmlformats.org/drawingml/2006/main">
            <a:off x="1512000" y="3024000"/>
            <a:ext cx="9169200" cy="72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lang="en-US" sz="1800">
                <a:solidFill>
                  <a:srgbClr val="A0A6B0"/>
                </a:solidFill>
                <a:latin typeface="Arial"/>
                <a:ea typeface="Arial"/>
              </a:rPr>
              <a:t>doctor --ensure · compose a brief · scaffold · apply --screenshot</a:t>
            </a:r>
          </a:p>
        </p:txBody>
      </p:sp>
      <p:sp>
        <p:nvSpPr>
          <p:cNvPr id="100056" name="CloseCta"/>
          <p:cNvSpPr/>
          <p:nvPr/>
        </p:nvSpPr>
        <p:spPr>
          <a:xfrm xmlns:a="http://schemas.openxmlformats.org/drawingml/2006/main">
            <a:off x="4294800" y="4248000"/>
            <a:ext cx="3600000" cy="648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B5FFF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/>
            <a:r>
              <a:rPr lang="en-US" sz="1800" b="1">
                <a:solidFill>
                  <a:srgbClr val="FFFFFF"/>
                </a:solidFill>
                <a:latin typeface="Arial"/>
                <a:ea typeface="Arial"/>
              </a:rPr>
              <a:t>doctor --ensure</a:t>
            </a:r>
          </a:p>
        </p:txBody>
      </p:sp>
    </p:spTree>
  </p:cSld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1000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000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00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ap:Properties xmlns:ap="http://schemas.openxmlformats.org/officeDocument/2006/extended-properties">
  <ap:Application>OfficeCLI/1.0.136</ap:Application>
</ap: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creator>OfficeCLI</dc:creator>
  <dcterms:created xsi:type="dcterms:W3CDTF">2026-07-15T01:12:36Z</dcterms:created>
  <cp:lastModifiedBy>OfficeCLI</cp:lastModifiedBy>
  <dcterms:modified xsi:type="dcterms:W3CDTF">2026-07-15T01:12:36Z</dcterms:modified>
</cp:coreProperties>
</file>

<file path=docProps/custom.xml><?xml version="1.0" encoding="utf-8"?>
<op:Properties xmlns:op="http://schemas.openxmlformats.org/officeDocument/2006/custom-properties">
  <op:property fmtid="{D5CDD505-2E9C-101B-9397-08002B2CF9AE}" pid="2" name="OfficeCLI.Version">
    <vt:lpwstr xmlns:vt="http://schemas.openxmlformats.org/officeDocument/2006/docPropsVTypes">1.0.136</vt:lpwstr>
  </op:property>
  <op:property fmtid="{D5CDD505-2E9C-101B-9397-08002B2CF9AE}" pid="3" name="OfficeCLI.LastModified">
    <vt:lpwstr xmlns:vt="http://schemas.openxmlformats.org/officeDocument/2006/docPropsVTypes">2026-07-15T01:12:38Z</vt:lpwstr>
  </op:property>
</op:Properties>
</file>