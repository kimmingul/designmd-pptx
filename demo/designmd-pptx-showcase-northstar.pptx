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0f573071983474d" /><Relationship Type="http://schemas.openxmlformats.org/package/2006/relationships/metadata/core-properties" Target="/docProps/core.xml" Id="R57a0793f96a84205" /><Relationship Type="http://schemas.openxmlformats.org/officeDocument/2006/relationships/extended-properties" Target="/docProps/app.xml" Id="R211defd47e7b4af3" /><Relationship Type="http://schemas.openxmlformats.org/officeDocument/2006/relationships/custom-properties" Target="/docProps/custom.xml" Id="R79021dd30b40495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241a62cdc11747c1"/>
    <p:sldId id="257" r:id="Rcc1e5886056c4d2f"/>
    <p:sldId id="258" r:id="R669e5fbeb3194298"/>
    <p:sldId id="259" r:id="R8c74fcf442db46e8"/>
    <p:sldId id="260" r:id="R2770eb1e4b254ceb"/>
    <p:sldId id="261" r:id="Rd04c8ac0c08c470a"/>
    <p:sldId id="262" r:id="R1d8c061868bd4dc0"/>
    <p:sldId id="263" r:id="Raeafd4775be8403b"/>
    <p:sldId id="264" r:id="Rd77d64224dfa433c"/>
    <p:sldId id="265" r:id="R03402697c5034427"/>
    <p:sldId id="266" r:id="R3d0810a22db04b08"/>
    <p:sldId id="267" r:id="Rdd4970ab97c9410a"/>
    <p:sldId id="268" r:id="Rc1daee5607b14fa5"/>
    <p:sldId id="269" r:id="R6fd3652fcf2a406f"/>
    <p:sldId id="270" r:id="Rcef0578298f943cd"/>
    <p:sldId id="271" r:id="R1ad9c8c4bb9b4ba7"/>
    <p:sldId id="272" r:id="R2cfd90aec3144880"/>
    <p:sldId id="273" r:id="Rf34844414dc8425a"/>
    <p:sldId id="274" r:id="R306ca5cd325b49a8"/>
    <p:sldId id="275" r:id="R406056d7b97c4296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41a62cdc11747c1" /><Relationship Type="http://schemas.openxmlformats.org/officeDocument/2006/relationships/slide" Target="/ppt/slides/slide2.xml" Id="Rcc1e5886056c4d2f" /><Relationship Type="http://schemas.openxmlformats.org/officeDocument/2006/relationships/slide" Target="/ppt/slides/slide3.xml" Id="R669e5fbeb3194298" /><Relationship Type="http://schemas.openxmlformats.org/officeDocument/2006/relationships/slide" Target="/ppt/slides/slide4.xml" Id="R8c74fcf442db46e8" /><Relationship Type="http://schemas.openxmlformats.org/officeDocument/2006/relationships/slide" Target="/ppt/slides/slide5.xml" Id="R2770eb1e4b254ceb" /><Relationship Type="http://schemas.openxmlformats.org/officeDocument/2006/relationships/slide" Target="/ppt/slides/slide6.xml" Id="Rd04c8ac0c08c470a" /><Relationship Type="http://schemas.openxmlformats.org/officeDocument/2006/relationships/slide" Target="/ppt/slides/slide7.xml" Id="R1d8c061868bd4dc0" /><Relationship Type="http://schemas.openxmlformats.org/officeDocument/2006/relationships/slide" Target="/ppt/slides/slide8.xml" Id="Raeafd4775be8403b" /><Relationship Type="http://schemas.openxmlformats.org/officeDocument/2006/relationships/slide" Target="/ppt/slides/slide9.xml" Id="Rd77d64224dfa433c" /><Relationship Type="http://schemas.openxmlformats.org/officeDocument/2006/relationships/slide" Target="/ppt/slides/slide10.xml" Id="R03402697c5034427" /><Relationship Type="http://schemas.openxmlformats.org/officeDocument/2006/relationships/slide" Target="/ppt/slides/slide11.xml" Id="R3d0810a22db04b08" /><Relationship Type="http://schemas.openxmlformats.org/officeDocument/2006/relationships/slide" Target="/ppt/slides/slide12.xml" Id="Rdd4970ab97c9410a" /><Relationship Type="http://schemas.openxmlformats.org/officeDocument/2006/relationships/slide" Target="/ppt/slides/slide13.xml" Id="Rc1daee5607b14fa5" /><Relationship Type="http://schemas.openxmlformats.org/officeDocument/2006/relationships/slide" Target="/ppt/slides/slide14.xml" Id="R6fd3652fcf2a406f" /><Relationship Type="http://schemas.openxmlformats.org/officeDocument/2006/relationships/slide" Target="/ppt/slides/slide15.xml" Id="Rcef0578298f943cd" /><Relationship Type="http://schemas.openxmlformats.org/officeDocument/2006/relationships/slide" Target="/ppt/slides/slide16.xml" Id="R1ad9c8c4bb9b4ba7" /><Relationship Type="http://schemas.openxmlformats.org/officeDocument/2006/relationships/slide" Target="/ppt/slides/slide17.xml" Id="R2cfd90aec3144880" /><Relationship Type="http://schemas.openxmlformats.org/officeDocument/2006/relationships/slide" Target="/ppt/slides/slide18.xml" Id="Rf34844414dc8425a" /><Relationship Type="http://schemas.openxmlformats.org/officeDocument/2006/relationships/slide" Target="/ppt/slides/slide19.xml" Id="R306ca5cd325b49a8" /><Relationship Type="http://schemas.openxmlformats.org/officeDocument/2006/relationships/slide" Target="/ppt/slides/slide20.xml" Id="R406056d7b97c42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Hold the name. Then the room.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Pause on the section number before the title.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Lead with ARR; NRR is the quality proof.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Let the multiple land before the story.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Call the single metric that proves After.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Stop on the bottleneck between Frame and Decide.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Name the drop-off between Eval and Commit.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Pick the promise that is still fragile.</a:t>
            </a:r>
          </a:p>
        </p:txBody>
      </p:sp>
    </p:spTree>
  </p:cSld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Pause on the section number before the title.</a:t>
            </a:r>
          </a:p>
        </p:txBody>
      </p:sp>
    </p:spTree>
  </p:cSld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State the decision right of the root.</a:t>
            </a:r>
          </a:p>
        </p:txBody>
      </p:sp>
    </p:spTree>
  </p:cSld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Name the handoff that breaks most often.</a:t>
            </a:r>
          </a:p>
        </p:txBody>
      </p:sp>
    </p:spTree>
  </p:cSld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Q3 is the only irreversible gate.</a:t>
            </a:r>
          </a:p>
        </p:txBody>
      </p:sp>
    </p:spTree>
  </p:cSld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tallest pillar is the strategic bet.</a:t>
            </a:r>
          </a:p>
        </p:txBody>
      </p:sp>
    </p:spTree>
  </p:cSld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Name the quadrant that needs a decision this quarter.</a:t>
            </a:r>
          </a:p>
        </p:txBody>
      </p:sp>
    </p:spTree>
  </p:cSld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Call the cross-lane dependency.</a:t>
            </a:r>
          </a:p>
        </p:txBody>
      </p:sp>
    </p:spTree>
  </p:cSld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Recommend Business; do not present a menu.</a:t>
            </a:r>
          </a:p>
        </p:txBody>
      </p:sp>
    </p:spTree>
  </p:cSld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Move one risk out of the red zone this quarter.</a:t>
            </a:r>
          </a:p>
        </p:txBody>
      </p:sp>
    </p:spTree>
  </p:cSld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Amber needs an owner before we leave.</a:t>
            </a:r>
          </a:p>
        </p:txBody>
      </p:sp>
    </p:spTree>
  </p:cSld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items need an owner before the meeting ends.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be5076d7ce40a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26ac71104b4b9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b44c63f0fa43d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3ef8b9f212469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a84552775f4c97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e5d589eeca748cb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08a73abf8465c" /><Relationship Type="http://schemas.openxmlformats.org/officeDocument/2006/relationships/notesSlide" Target="/ppt/notesSlides/notesSlide1.xml" Id="R9bb6d89de44842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98471ffff4962" /><Relationship Type="http://schemas.openxmlformats.org/officeDocument/2006/relationships/notesSlide" Target="/ppt/notesSlides/notesSlide2.xml" Id="Rfe70bd7cdcf04c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6a7d0f6344bb2" /><Relationship Type="http://schemas.openxmlformats.org/officeDocument/2006/relationships/notesSlide" Target="/ppt/notesSlides/notesSlide3.xml" Id="Rdf579d38f3ad49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efdd49af84103" /><Relationship Type="http://schemas.openxmlformats.org/officeDocument/2006/relationships/notesSlide" Target="/ppt/notesSlides/notesSlide4.xml" Id="R7f313effc91d48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523b2d15cd4d14" /><Relationship Type="http://schemas.openxmlformats.org/officeDocument/2006/relationships/notesSlide" Target="/ppt/notesSlides/notesSlide5.xml" Id="R86a1589676094f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9df578de824a9e" /><Relationship Type="http://schemas.openxmlformats.org/officeDocument/2006/relationships/notesSlide" Target="/ppt/notesSlides/notesSlide6.xml" Id="R67fffd1c088346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6ca66b6e147de" /><Relationship Type="http://schemas.openxmlformats.org/officeDocument/2006/relationships/notesSlide" Target="/ppt/notesSlides/notesSlide7.xml" Id="R01697f599d0b4f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4bdec9653e499d" /><Relationship Type="http://schemas.openxmlformats.org/officeDocument/2006/relationships/notesSlide" Target="/ppt/notesSlides/notesSlide8.xml" Id="Rfa603929caff4e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7712f56e649ce" /><Relationship Type="http://schemas.openxmlformats.org/officeDocument/2006/relationships/notesSlide" Target="/ppt/notesSlides/notesSlide9.xml" Id="Rfa80f3f80a1f42f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8ba13b6f3493a" /><Relationship Type="http://schemas.openxmlformats.org/officeDocument/2006/relationships/notesSlide" Target="/ppt/notesSlides/notesSlide10.xml" Id="R8668554f48f545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89b841dff64840" /><Relationship Type="http://schemas.openxmlformats.org/officeDocument/2006/relationships/notesSlide" Target="/ppt/notesSlides/notesSlide11.xml" Id="R6febca8ee8af4e3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a8f440f194d74" /><Relationship Type="http://schemas.openxmlformats.org/officeDocument/2006/relationships/notesSlide" Target="/ppt/notesSlides/notesSlide12.xml" Id="R31fef3982c40420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16e48cdb04b5b" /><Relationship Type="http://schemas.openxmlformats.org/officeDocument/2006/relationships/notesSlide" Target="/ppt/notesSlides/notesSlide13.xml" Id="R47e4732ab4a2456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3890a53384817" /><Relationship Type="http://schemas.openxmlformats.org/officeDocument/2006/relationships/notesSlide" Target="/ppt/notesSlides/notesSlide14.xml" Id="R26f4391b5073413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35a9a4b584efc" /><Relationship Type="http://schemas.openxmlformats.org/officeDocument/2006/relationships/notesSlide" Target="/ppt/notesSlides/notesSlide15.xml" Id="R1085f1b5e5b64ed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ab19789e04451" /><Relationship Type="http://schemas.openxmlformats.org/officeDocument/2006/relationships/notesSlide" Target="/ppt/notesSlides/notesSlide16.xml" Id="Rf658051f67cf49b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5e4e60a1041a7" /><Relationship Type="http://schemas.openxmlformats.org/officeDocument/2006/relationships/notesSlide" Target="/ppt/notesSlides/notesSlide17.xml" Id="Ra121ab796aa242f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f1a89666fe494c" /><Relationship Type="http://schemas.openxmlformats.org/officeDocument/2006/relationships/notesSlide" Target="/ppt/notesSlides/notesSlide18.xml" Id="R063ff37430c7453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1b0df09dc468b" /><Relationship Type="http://schemas.openxmlformats.org/officeDocument/2006/relationships/notesSlide" Target="/ppt/notesSlides/notesSlide19.xml" Id="Rc75e4019a33643a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32a5966f9d4366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0B1A"/>
            </a:gs>
            <a:gs pos="100000">
              <a:srgbClr val="2A145A"/>
            </a:gs>
          </a:gsLst>
          <a:lin ang="8100000" scaled="1"/>
        </a:gradFill>
      </p:bgPr>
    </p:bg>
    <p:spTree>
      <p:nvGrpSpPr>
        <p:cNvPr id="1" name=""/>
        <p:cNvGrpSpPr/>
        <p:nvPr/>
      </p:nvGrpSpPr>
      <p:grpSpPr/>
      <p:sp>
        <p:nvSpPr>
          <p:cNvPr id="100000" name="CoverEdge"/>
          <p:cNvSpPr/>
          <p:nvPr/>
        </p:nvSpPr>
        <p:spPr>
          <a:xfrm xmlns:a="http://schemas.openxmlformats.org/drawingml/2006/main">
            <a:off x="0" y="0"/>
            <a:ext cx="12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CoverTitle"/>
          <p:cNvSpPr txBox="1"/>
          <p:nvPr/>
        </p:nvSpPr>
        <p:spPr>
          <a:xfrm xmlns:a="http://schemas.openxmlformats.org/drawingml/2006/main">
            <a:off x="792000" y="1800000"/>
            <a:ext cx="10609200" cy="14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/>
            <a:r>
              <a:rPr lang="en-US" sz="4800" b="1">
                <a:solidFill>
                  <a:srgbClr val="F4F2FF"/>
                </a:solidFill>
                <a:latin typeface="Arial"/>
                <a:ea typeface="Arial"/>
              </a:rPr>
              <a:t>Northstar AI</a:t>
            </a:r>
          </a:p>
        </p:txBody>
      </p:sp>
      <p:sp>
        <p:nvSpPr>
          <p:cNvPr id="100002" name="CoverAccent"/>
          <p:cNvSpPr/>
          <p:nvPr/>
        </p:nvSpPr>
        <p:spPr>
          <a:xfrm xmlns:a="http://schemas.openxmlformats.org/drawingml/2006/main">
            <a:off x="792000" y="3276000"/>
            <a:ext cx="1728000" cy="5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CoverSubtitle"/>
          <p:cNvSpPr txBox="1"/>
          <p:nvPr/>
        </p:nvSpPr>
        <p:spPr>
          <a:xfrm xmlns:a="http://schemas.openxmlformats.org/drawingml/2006/main">
            <a:off x="792000" y="3420000"/>
            <a:ext cx="93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Board update · Series B readiness</a:t>
            </a:r>
          </a:p>
        </p:txBody>
      </p:sp>
      <p:sp>
        <p:nvSpPr>
          <p:cNvPr id="100004" name="CoverMeta"/>
          <p:cNvSpPr txBox="1"/>
          <p:nvPr/>
        </p:nvSpPr>
        <p:spPr>
          <a:xfrm xmlns:a="http://schemas.openxmlformats.org/drawingml/2006/main">
            <a:off x="792000" y="5742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Q2  ·  confidential  ·  20 min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005" name="OpenerAccentBar"/>
          <p:cNvSpPr/>
          <p:nvPr/>
        </p:nvSpPr>
        <p:spPr>
          <a:xfrm xmlns:a="http://schemas.openxmlformats.org/drawingml/2006/main">
            <a:off x="792000" y="2232000"/>
            <a:ext cx="396000" cy="22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6" name="OpenerNumber"/>
          <p:cNvSpPr txBox="1"/>
          <p:nvPr/>
        </p:nvSpPr>
        <p:spPr>
          <a:xfrm xmlns:a="http://schemas.openxmlformats.org/drawingml/2006/main">
            <a:off x="1368000" y="2016000"/>
            <a:ext cx="2880000" cy="86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7C5C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07" name="OpenerTitle"/>
          <p:cNvSpPr txBox="1"/>
          <p:nvPr/>
        </p:nvSpPr>
        <p:spPr>
          <a:xfrm xmlns:a="http://schemas.openxmlformats.org/drawingml/2006/main">
            <a:off x="1368000" y="2952000"/>
            <a:ext cx="100332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The bet</a:t>
            </a:r>
          </a:p>
        </p:txBody>
      </p:sp>
      <p:sp>
        <p:nvSpPr>
          <p:cNvPr id="100008" name="OpenerBlurb"/>
          <p:cNvSpPr txBox="1"/>
          <p:nvPr/>
        </p:nvSpPr>
        <p:spPr>
          <a:xfrm xmlns:a="http://schemas.openxmlformats.org/drawingml/2006/main">
            <a:off x="1368000" y="3960000"/>
            <a:ext cx="792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Own the decision layer between data noise and executive action.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009" name="KpiTitle"/>
          <p:cNvSpPr txBox="1"/>
          <p:nvPr/>
        </p:nvSpPr>
        <p:spPr>
          <a:xfrm xmlns:a="http://schemas.openxmlformats.org/drawingml/2006/main">
            <a:off x="792000" y="4356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At a glance</a:t>
            </a:r>
          </a:p>
        </p:txBody>
      </p:sp>
      <p:sp>
        <p:nvSpPr>
          <p:cNvPr id="100010" name="Kpi1Bg"/>
          <p:cNvSpPr/>
          <p:nvPr/>
        </p:nvSpPr>
        <p:spPr>
          <a:xfrm xmlns:a="http://schemas.openxmlformats.org/drawingml/2006/main">
            <a:off x="7920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1" name="Kpi1Value"/>
          <p:cNvSpPr txBox="1"/>
          <p:nvPr/>
        </p:nvSpPr>
        <p:spPr>
          <a:xfrm xmlns:a="http://schemas.openxmlformats.org/drawingml/2006/main">
            <a:off x="918000" y="2721600"/>
            <a:ext cx="30204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7C5CFF"/>
                </a:solidFill>
                <a:latin typeface="Arial"/>
                <a:ea typeface="Arial"/>
              </a:rPr>
              <a:t>$4.2M</a:t>
            </a:r>
          </a:p>
        </p:txBody>
      </p:sp>
      <p:sp>
        <p:nvSpPr>
          <p:cNvPr id="100012" name="Kpi1Label"/>
          <p:cNvSpPr txBox="1"/>
          <p:nvPr/>
        </p:nvSpPr>
        <p:spPr>
          <a:xfrm xmlns:a="http://schemas.openxmlformats.org/drawingml/2006/main">
            <a:off x="918000" y="4107600"/>
            <a:ext cx="3020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ARR</a:t>
            </a:r>
          </a:p>
        </p:txBody>
      </p:sp>
      <p:sp>
        <p:nvSpPr>
          <p:cNvPr id="100013" name="Kpi1Chip"/>
          <p:cNvSpPr txBox="1"/>
          <p:nvPr/>
        </p:nvSpPr>
        <p:spPr>
          <a:xfrm xmlns:a="http://schemas.openxmlformats.org/drawingml/2006/main">
            <a:off x="918000" y="4539600"/>
            <a:ext cx="3020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endParaRPr lang="en-US" sz="1200" b="1">
              <a:solidFill>
                <a:srgbClr val="7C5CFF"/>
              </a:solidFill>
              <a:latin typeface="Arial"/>
              <a:ea typeface="Arial"/>
            </a:endParaRPr>
          </a:p>
        </p:txBody>
      </p:sp>
      <p:sp>
        <p:nvSpPr>
          <p:cNvPr id="100014" name="Kpi2Bg"/>
          <p:cNvSpPr/>
          <p:nvPr/>
        </p:nvSpPr>
        <p:spPr>
          <a:xfrm xmlns:a="http://schemas.openxmlformats.org/drawingml/2006/main">
            <a:off x="44604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5" name="Kpi2Value"/>
          <p:cNvSpPr txBox="1"/>
          <p:nvPr/>
        </p:nvSpPr>
        <p:spPr>
          <a:xfrm xmlns:a="http://schemas.openxmlformats.org/drawingml/2006/main">
            <a:off x="4586400" y="2721600"/>
            <a:ext cx="30204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22D3EE"/>
                </a:solidFill>
                <a:latin typeface="Arial"/>
                <a:ea typeface="Arial"/>
              </a:rPr>
              <a:t>128%</a:t>
            </a:r>
          </a:p>
        </p:txBody>
      </p:sp>
      <p:sp>
        <p:nvSpPr>
          <p:cNvPr id="100016" name="Kpi2Label"/>
          <p:cNvSpPr txBox="1"/>
          <p:nvPr/>
        </p:nvSpPr>
        <p:spPr>
          <a:xfrm xmlns:a="http://schemas.openxmlformats.org/drawingml/2006/main">
            <a:off x="4586400" y="4107600"/>
            <a:ext cx="3020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NRR</a:t>
            </a:r>
          </a:p>
        </p:txBody>
      </p:sp>
      <p:sp>
        <p:nvSpPr>
          <p:cNvPr id="100017" name="Kpi2Chip"/>
          <p:cNvSpPr txBox="1"/>
          <p:nvPr/>
        </p:nvSpPr>
        <p:spPr>
          <a:xfrm xmlns:a="http://schemas.openxmlformats.org/drawingml/2006/main">
            <a:off x="4586400" y="4539600"/>
            <a:ext cx="3020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endParaRPr lang="en-US" sz="1200" b="1">
              <a:solidFill>
                <a:srgbClr val="22D3EE"/>
              </a:solidFill>
              <a:latin typeface="Arial"/>
              <a:ea typeface="Arial"/>
            </a:endParaRPr>
          </a:p>
        </p:txBody>
      </p:sp>
      <p:sp>
        <p:nvSpPr>
          <p:cNvPr id="100018" name="Kpi3Bg"/>
          <p:cNvSpPr/>
          <p:nvPr/>
        </p:nvSpPr>
        <p:spPr>
          <a:xfrm xmlns:a="http://schemas.openxmlformats.org/drawingml/2006/main">
            <a:off x="81288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9" name="Kpi3Value"/>
          <p:cNvSpPr txBox="1"/>
          <p:nvPr/>
        </p:nvSpPr>
        <p:spPr>
          <a:xfrm xmlns:a="http://schemas.openxmlformats.org/drawingml/2006/main">
            <a:off x="8254800" y="2721600"/>
            <a:ext cx="30204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472B6"/>
                </a:solidFill>
                <a:latin typeface="Arial"/>
                <a:ea typeface="Arial"/>
              </a:rPr>
              <a:t>14 mo</a:t>
            </a:r>
          </a:p>
        </p:txBody>
      </p:sp>
      <p:sp>
        <p:nvSpPr>
          <p:cNvPr id="100020" name="Kpi3Label"/>
          <p:cNvSpPr txBox="1"/>
          <p:nvPr/>
        </p:nvSpPr>
        <p:spPr>
          <a:xfrm xmlns:a="http://schemas.openxmlformats.org/drawingml/2006/main">
            <a:off x="8254800" y="4107600"/>
            <a:ext cx="3020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Runway</a:t>
            </a:r>
          </a:p>
        </p:txBody>
      </p:sp>
      <p:sp>
        <p:nvSpPr>
          <p:cNvPr id="100021" name="Kpi3Chip"/>
          <p:cNvSpPr txBox="1"/>
          <p:nvPr/>
        </p:nvSpPr>
        <p:spPr>
          <a:xfrm xmlns:a="http://schemas.openxmlformats.org/drawingml/2006/main">
            <a:off x="8254800" y="4539600"/>
            <a:ext cx="3020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endParaRPr lang="en-US" sz="1200" b="1">
              <a:solidFill>
                <a:srgbClr val="F472B6"/>
              </a:solidFill>
              <a:latin typeface="Arial"/>
              <a:ea typeface="Arial"/>
            </a:endParaRP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022" name="BigValue"/>
          <p:cNvSpPr txBox="1"/>
          <p:nvPr/>
        </p:nvSpPr>
        <p:spPr>
          <a:xfrm xmlns:a="http://schemas.openxmlformats.org/drawingml/2006/main">
            <a:off x="792000" y="1180800"/>
            <a:ext cx="10609200" cy="23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8100" b="1">
                <a:solidFill>
                  <a:srgbClr val="7C5CFF"/>
                </a:solidFill>
                <a:latin typeface="Arial"/>
                <a:ea typeface="Arial"/>
              </a:rPr>
              <a:t>3.4×</a:t>
            </a:r>
          </a:p>
        </p:txBody>
      </p:sp>
      <p:sp>
        <p:nvSpPr>
          <p:cNvPr id="100023" name="BigLabel"/>
          <p:cNvSpPr txBox="1"/>
          <p:nvPr/>
        </p:nvSpPr>
        <p:spPr>
          <a:xfrm xmlns:a="http://schemas.openxmlformats.org/drawingml/2006/main">
            <a:off x="792000" y="3704400"/>
            <a:ext cx="10609200" cy="6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800" b="1">
                <a:solidFill>
                  <a:srgbClr val="F4F2FF"/>
                </a:solidFill>
                <a:latin typeface="Arial"/>
                <a:ea typeface="Arial"/>
              </a:rPr>
              <a:t>Pipeline coverage vs plan</a:t>
            </a:r>
          </a:p>
        </p:txBody>
      </p:sp>
      <p:sp>
        <p:nvSpPr>
          <p:cNvPr id="100024" name="BigContext"/>
          <p:cNvSpPr txBox="1"/>
          <p:nvPr/>
        </p:nvSpPr>
        <p:spPr>
          <a:xfrm xmlns:a="http://schemas.openxmlformats.org/drawingml/2006/main">
            <a:off x="1188000" y="4514400"/>
            <a:ext cx="98172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Enterprise motion is ahead; mid-market is the repair job.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025" name="Ba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What changed</a:t>
            </a:r>
          </a:p>
        </p:txBody>
      </p:sp>
      <p:sp>
        <p:nvSpPr>
          <p:cNvPr id="100026" name="BaPanel1"/>
          <p:cNvSpPr/>
          <p:nvPr/>
        </p:nvSpPr>
        <p:spPr>
          <a:xfrm xmlns:a="http://schemas.openxmlformats.org/drawingml/2006/main">
            <a:off x="792000" y="2088000"/>
            <a:ext cx="5104800" cy="273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7" name="BaHead1"/>
          <p:cNvSpPr txBox="1"/>
          <p:nvPr/>
        </p:nvSpPr>
        <p:spPr>
          <a:xfrm xmlns:a="http://schemas.openxmlformats.org/drawingml/2006/main">
            <a:off x="1188000" y="2484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4F2FF"/>
                </a:solidFill>
                <a:latin typeface="Arial"/>
                <a:ea typeface="Arial"/>
              </a:rPr>
              <a:t>Before</a:t>
            </a:r>
          </a:p>
        </p:txBody>
      </p:sp>
      <p:sp>
        <p:nvSpPr>
          <p:cNvPr id="100028" name="BaBody1"/>
          <p:cNvSpPr txBox="1"/>
          <p:nvPr/>
        </p:nvSpPr>
        <p:spPr>
          <a:xfrm xmlns:a="http://schemas.openxmlformats.org/drawingml/2006/main">
            <a:off x="1188000" y="3247200"/>
            <a:ext cx="4312800" cy="11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Dashboards without owners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Opinions as forecast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Weekly slide rebuilds</a:t>
            </a:r>
          </a:p>
        </p:txBody>
      </p:sp>
      <p:sp>
        <p:nvSpPr>
          <p:cNvPr id="100029" name="BaPanel2"/>
          <p:cNvSpPr/>
          <p:nvPr/>
        </p:nvSpPr>
        <p:spPr>
          <a:xfrm xmlns:a="http://schemas.openxmlformats.org/drawingml/2006/main">
            <a:off x="6292800" y="2088000"/>
            <a:ext cx="5104800" cy="273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0" name="BaHead2"/>
          <p:cNvSpPr txBox="1"/>
          <p:nvPr/>
        </p:nvSpPr>
        <p:spPr>
          <a:xfrm xmlns:a="http://schemas.openxmlformats.org/drawingml/2006/main">
            <a:off x="6692400" y="2484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Arial"/>
                <a:ea typeface="Arial"/>
              </a:rPr>
              <a:t>After</a:t>
            </a:r>
          </a:p>
        </p:txBody>
      </p:sp>
      <p:sp>
        <p:nvSpPr>
          <p:cNvPr id="100031" name="BaBody2"/>
          <p:cNvSpPr txBox="1"/>
          <p:nvPr/>
        </p:nvSpPr>
        <p:spPr>
          <a:xfrm xmlns:a="http://schemas.openxmlformats.org/drawingml/2006/main">
            <a:off x="6692400" y="3247200"/>
            <a:ext cx="4312800" cy="11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One decision brief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Motif-locked rhythm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Gate before the room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032" name="Proc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How we decide</a:t>
            </a:r>
          </a:p>
        </p:txBody>
      </p:sp>
      <p:sp>
        <p:nvSpPr>
          <p:cNvPr id="100033" name="Proc1"/>
          <p:cNvSpPr/>
          <p:nvPr/>
        </p:nvSpPr>
        <p:spPr>
          <a:xfrm xmlns:a="http://schemas.openxmlformats.org/drawingml/2006/main">
            <a:off x="792000" y="2332800"/>
            <a:ext cx="23544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Telemetry</a:t>
            </a:r>
          </a:p>
        </p:txBody>
      </p:sp>
      <p:sp>
        <p:nvSpPr>
          <p:cNvPr id="100034" name="Proc2"/>
          <p:cNvSpPr/>
          <p:nvPr/>
        </p:nvSpPr>
        <p:spPr>
          <a:xfrm xmlns:a="http://schemas.openxmlformats.org/drawingml/2006/main">
            <a:off x="3542400" y="2332800"/>
            <a:ext cx="23544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Frame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</a:p>
        </p:txBody>
      </p:sp>
      <p:sp>
        <p:nvSpPr>
          <p:cNvPr id="100035" name="Proc3"/>
          <p:cNvSpPr/>
          <p:nvPr/>
        </p:nvSpPr>
        <p:spPr>
          <a:xfrm xmlns:a="http://schemas.openxmlformats.org/drawingml/2006/main">
            <a:off x="6292800" y="2332800"/>
            <a:ext cx="23544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72B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Decide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Owner</a:t>
            </a:r>
          </a:p>
        </p:txBody>
      </p:sp>
      <p:sp>
        <p:nvSpPr>
          <p:cNvPr id="100036" name="Proc4"/>
          <p:cNvSpPr/>
          <p:nvPr/>
        </p:nvSpPr>
        <p:spPr>
          <a:xfrm xmlns:a="http://schemas.openxmlformats.org/drawingml/2006/main">
            <a:off x="9046800" y="2332800"/>
            <a:ext cx="23544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Ship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Measure</a:t>
            </a:r>
          </a:p>
        </p:txBody>
      </p:sp>
      <p:cxnSp>
        <p:nvCxnSpPr>
          <p:cNvPr id="100037" name="Connector 1"/>
          <p:cNvCxnSpPr>
            <a:stCxn xmlns:a="http://schemas.openxmlformats.org/drawingml/2006/main" id="100033" idx="0"/>
            <a:endCxn xmlns:a="http://schemas.openxmlformats.org/drawingml/2006/main" id="100034" idx="0"/>
          </p:cNvCxnSpPr>
          <p:nvPr/>
        </p:nvCxnSpPr>
        <p:spPr>
          <a:xfrm xmlns:a="http://schemas.openxmlformats.org/drawingml/2006/main">
            <a:off x="31464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38" name="Connector 2"/>
          <p:cNvCxnSpPr>
            <a:stCxn xmlns:a="http://schemas.openxmlformats.org/drawingml/2006/main" id="100034" idx="0"/>
            <a:endCxn xmlns:a="http://schemas.openxmlformats.org/drawingml/2006/main" id="100035" idx="0"/>
          </p:cNvCxnSpPr>
          <p:nvPr/>
        </p:nvCxnSpPr>
        <p:spPr>
          <a:xfrm xmlns:a="http://schemas.openxmlformats.org/drawingml/2006/main">
            <a:off x="58968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39" name="Connector 3"/>
          <p:cNvCxnSpPr>
            <a:stCxn xmlns:a="http://schemas.openxmlformats.org/drawingml/2006/main" id="100035" idx="0"/>
            <a:endCxn xmlns:a="http://schemas.openxmlformats.org/drawingml/2006/main" id="100036" idx="0"/>
          </p:cNvCxnSpPr>
          <p:nvPr/>
        </p:nvCxnSpPr>
        <p:spPr>
          <a:xfrm xmlns:a="http://schemas.openxmlformats.org/drawingml/2006/main">
            <a:off x="86472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040" name="Funnel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Enterprise funnel</a:t>
            </a:r>
          </a:p>
        </p:txBody>
      </p:sp>
      <p:sp>
        <p:nvSpPr>
          <p:cNvPr id="100041" name="FunnelBand1"/>
          <p:cNvSpPr/>
          <p:nvPr/>
        </p:nvSpPr>
        <p:spPr>
          <a:xfrm xmlns:a="http://schemas.openxmlformats.org/drawingml/2006/main">
            <a:off x="792000" y="1396800"/>
            <a:ext cx="106092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2" name="FunnelLabel1"/>
          <p:cNvSpPr txBox="1"/>
          <p:nvPr/>
        </p:nvSpPr>
        <p:spPr>
          <a:xfrm xmlns:a="http://schemas.openxmlformats.org/drawingml/2006/main">
            <a:off x="990000" y="1594800"/>
            <a:ext cx="102132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Aware  ·  100%</a:t>
            </a:r>
          </a:p>
        </p:txBody>
      </p:sp>
      <p:sp>
        <p:nvSpPr>
          <p:cNvPr id="100043" name="FunnelBand2"/>
          <p:cNvSpPr/>
          <p:nvPr/>
        </p:nvSpPr>
        <p:spPr>
          <a:xfrm xmlns:a="http://schemas.openxmlformats.org/drawingml/2006/main">
            <a:off x="1764000" y="2401200"/>
            <a:ext cx="86652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4" name="FunnelLabel2"/>
          <p:cNvSpPr txBox="1"/>
          <p:nvPr/>
        </p:nvSpPr>
        <p:spPr>
          <a:xfrm xmlns:a="http://schemas.openxmlformats.org/drawingml/2006/main">
            <a:off x="1962000" y="2599200"/>
            <a:ext cx="82692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Eval  ·  42%</a:t>
            </a:r>
          </a:p>
        </p:txBody>
      </p:sp>
      <p:sp>
        <p:nvSpPr>
          <p:cNvPr id="100045" name="FunnelBand3"/>
          <p:cNvSpPr/>
          <p:nvPr/>
        </p:nvSpPr>
        <p:spPr>
          <a:xfrm xmlns:a="http://schemas.openxmlformats.org/drawingml/2006/main">
            <a:off x="2736000" y="3402000"/>
            <a:ext cx="67176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72B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6" name="FunnelLabel3"/>
          <p:cNvSpPr txBox="1"/>
          <p:nvPr/>
        </p:nvSpPr>
        <p:spPr>
          <a:xfrm xmlns:a="http://schemas.openxmlformats.org/drawingml/2006/main">
            <a:off x="2934000" y="3603600"/>
            <a:ext cx="63216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Commit  ·  18%</a:t>
            </a:r>
          </a:p>
        </p:txBody>
      </p:sp>
      <p:sp>
        <p:nvSpPr>
          <p:cNvPr id="100047" name="FunnelBand4"/>
          <p:cNvSpPr/>
          <p:nvPr/>
        </p:nvSpPr>
        <p:spPr>
          <a:xfrm xmlns:a="http://schemas.openxmlformats.org/drawingml/2006/main">
            <a:off x="3708000" y="4406400"/>
            <a:ext cx="47736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8" name="FunnelLabel4"/>
          <p:cNvSpPr txBox="1"/>
          <p:nvPr/>
        </p:nvSpPr>
        <p:spPr>
          <a:xfrm xmlns:a="http://schemas.openxmlformats.org/drawingml/2006/main">
            <a:off x="3906000" y="4604400"/>
            <a:ext cx="43776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Expand  ·  9%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049" name="FeatTitle"/>
          <p:cNvSpPr txBox="1"/>
          <p:nvPr/>
        </p:nvSpPr>
        <p:spPr>
          <a:xfrm xmlns:a="http://schemas.openxmlformats.org/drawingml/2006/main">
            <a:off x="792000" y="4356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Three promises</a:t>
            </a:r>
          </a:p>
        </p:txBody>
      </p:sp>
      <p:sp>
        <p:nvSpPr>
          <p:cNvPr id="100050" name="Card1Bg"/>
          <p:cNvSpPr/>
          <p:nvPr/>
        </p:nvSpPr>
        <p:spPr>
          <a:xfrm xmlns:a="http://schemas.openxmlformats.org/drawingml/2006/main">
            <a:off x="7920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1" name="Card1Num"/>
          <p:cNvSpPr txBox="1"/>
          <p:nvPr/>
        </p:nvSpPr>
        <p:spPr>
          <a:xfrm xmlns:a="http://schemas.openxmlformats.org/drawingml/2006/main">
            <a:off x="11880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7C5C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52" name="Card1Title"/>
          <p:cNvSpPr txBox="1"/>
          <p:nvPr/>
        </p:nvSpPr>
        <p:spPr>
          <a:xfrm xmlns:a="http://schemas.openxmlformats.org/drawingml/2006/main">
            <a:off x="11880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4F2FF"/>
                </a:solidFill>
                <a:latin typeface="Arial"/>
                <a:ea typeface="Arial"/>
              </a:rPr>
              <a:t>Clarity</a:t>
            </a:r>
          </a:p>
        </p:txBody>
      </p:sp>
      <p:sp>
        <p:nvSpPr>
          <p:cNvPr id="100053" name="Card1Body"/>
          <p:cNvSpPr txBox="1"/>
          <p:nvPr/>
        </p:nvSpPr>
        <p:spPr>
          <a:xfrm xmlns:a="http://schemas.openxmlformats.org/drawingml/2006/main">
            <a:off x="11880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One brief per decision — not a dashboard tour.</a:t>
            </a:r>
          </a:p>
        </p:txBody>
      </p:sp>
      <p:sp>
        <p:nvSpPr>
          <p:cNvPr id="100054" name="Card2Bg"/>
          <p:cNvSpPr/>
          <p:nvPr/>
        </p:nvSpPr>
        <p:spPr>
          <a:xfrm xmlns:a="http://schemas.openxmlformats.org/drawingml/2006/main">
            <a:off x="44604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5" name="Card2Num"/>
          <p:cNvSpPr txBox="1"/>
          <p:nvPr/>
        </p:nvSpPr>
        <p:spPr>
          <a:xfrm xmlns:a="http://schemas.openxmlformats.org/drawingml/2006/main">
            <a:off x="48564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22D3EE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56" name="Card2Title"/>
          <p:cNvSpPr txBox="1"/>
          <p:nvPr/>
        </p:nvSpPr>
        <p:spPr>
          <a:xfrm xmlns:a="http://schemas.openxmlformats.org/drawingml/2006/main">
            <a:off x="48564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4F2FF"/>
                </a:solidFill>
                <a:latin typeface="Arial"/>
                <a:ea typeface="Arial"/>
              </a:rPr>
              <a:t>Cadence</a:t>
            </a:r>
          </a:p>
        </p:txBody>
      </p:sp>
      <p:sp>
        <p:nvSpPr>
          <p:cNvPr id="100057" name="Card2Body"/>
          <p:cNvSpPr txBox="1"/>
          <p:nvPr/>
        </p:nvSpPr>
        <p:spPr>
          <a:xfrm xmlns:a="http://schemas.openxmlformats.org/drawingml/2006/main">
            <a:off x="48564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Same chrome every week so the content is the news.</a:t>
            </a:r>
          </a:p>
        </p:txBody>
      </p:sp>
      <p:sp>
        <p:nvSpPr>
          <p:cNvPr id="100058" name="Card3Bg"/>
          <p:cNvSpPr/>
          <p:nvPr/>
        </p:nvSpPr>
        <p:spPr>
          <a:xfrm xmlns:a="http://schemas.openxmlformats.org/drawingml/2006/main">
            <a:off x="81288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9" name="Card3Num"/>
          <p:cNvSpPr txBox="1"/>
          <p:nvPr/>
        </p:nvSpPr>
        <p:spPr>
          <a:xfrm xmlns:a="http://schemas.openxmlformats.org/drawingml/2006/main">
            <a:off x="85248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472B6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60" name="Card3Title"/>
          <p:cNvSpPr txBox="1"/>
          <p:nvPr/>
        </p:nvSpPr>
        <p:spPr>
          <a:xfrm xmlns:a="http://schemas.openxmlformats.org/drawingml/2006/main">
            <a:off x="85248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4F2FF"/>
                </a:solidFill>
                <a:latin typeface="Arial"/>
                <a:ea typeface="Arial"/>
              </a:rPr>
              <a:t>Control</a:t>
            </a:r>
          </a:p>
        </p:txBody>
      </p:sp>
      <p:sp>
        <p:nvSpPr>
          <p:cNvPr id="100061" name="Card3Body"/>
          <p:cNvSpPr txBox="1"/>
          <p:nvPr/>
        </p:nvSpPr>
        <p:spPr>
          <a:xfrm xmlns:a="http://schemas.openxmlformats.org/drawingml/2006/main">
            <a:off x="85248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Gates before the boardroom, not after the screenshot.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062" name="OpenerAccentBar"/>
          <p:cNvSpPr/>
          <p:nvPr/>
        </p:nvSpPr>
        <p:spPr>
          <a:xfrm xmlns:a="http://schemas.openxmlformats.org/drawingml/2006/main">
            <a:off x="792000" y="2232000"/>
            <a:ext cx="396000" cy="22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3" name="OpenerNumber"/>
          <p:cNvSpPr txBox="1"/>
          <p:nvPr/>
        </p:nvSpPr>
        <p:spPr>
          <a:xfrm xmlns:a="http://schemas.openxmlformats.org/drawingml/2006/main">
            <a:off x="1368000" y="2016000"/>
            <a:ext cx="2880000" cy="86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7C5C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64" name="OpenerTitle"/>
          <p:cNvSpPr txBox="1"/>
          <p:nvPr/>
        </p:nvSpPr>
        <p:spPr>
          <a:xfrm xmlns:a="http://schemas.openxmlformats.org/drawingml/2006/main">
            <a:off x="1368000" y="2952000"/>
            <a:ext cx="100332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The machine</a:t>
            </a:r>
          </a:p>
        </p:txBody>
      </p:sp>
      <p:sp>
        <p:nvSpPr>
          <p:cNvPr id="100065" name="OpenerBlurb"/>
          <p:cNvSpPr txBox="1"/>
          <p:nvPr/>
        </p:nvSpPr>
        <p:spPr>
          <a:xfrm xmlns:a="http://schemas.openxmlformats.org/drawingml/2006/main">
            <a:off x="1368000" y="3960000"/>
            <a:ext cx="792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People, loop, and time horizon that make the bet real.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066" name="Org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Leadership slice</a:t>
            </a:r>
          </a:p>
        </p:txBody>
      </p:sp>
      <p:sp>
        <p:nvSpPr>
          <p:cNvPr id="100067" name="OrgRoot"/>
          <p:cNvSpPr/>
          <p:nvPr/>
        </p:nvSpPr>
        <p:spPr>
          <a:xfrm xmlns:a="http://schemas.openxmlformats.org/drawingml/2006/main">
            <a:off x="3934800" y="1396800"/>
            <a:ext cx="4320000" cy="93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Maya Chen</a:t>
            </a:r>
          </a:p>
          <a:p xmlns:a="http://schemas.openxmlformats.org/drawingml/2006/main"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CEO</a:t>
            </a:r>
          </a:p>
        </p:txBody>
      </p:sp>
      <p:sp>
        <p:nvSpPr>
          <p:cNvPr id="100068" name="OrgSpine"/>
          <p:cNvSpPr/>
          <p:nvPr/>
        </p:nvSpPr>
        <p:spPr>
          <a:xfrm xmlns:a="http://schemas.openxmlformats.org/drawingml/2006/main">
            <a:off x="6076800" y="2336400"/>
            <a:ext cx="43200" cy="43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A6B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9" name="OrgBar"/>
          <p:cNvSpPr/>
          <p:nvPr/>
        </p:nvSpPr>
        <p:spPr>
          <a:xfrm xmlns:a="http://schemas.openxmlformats.org/drawingml/2006/main">
            <a:off x="2448000" y="2782800"/>
            <a:ext cx="7297200" cy="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A6B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0" name="OrgStem1"/>
          <p:cNvSpPr/>
          <p:nvPr/>
        </p:nvSpPr>
        <p:spPr>
          <a:xfrm xmlns:a="http://schemas.openxmlformats.org/drawingml/2006/main">
            <a:off x="2430000" y="2782800"/>
            <a:ext cx="36000" cy="12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A6B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1" name="OrgChild1"/>
          <p:cNvSpPr/>
          <p:nvPr/>
        </p:nvSpPr>
        <p:spPr>
          <a:xfrm xmlns:a="http://schemas.openxmlformats.org/drawingml/2006/main">
            <a:off x="792000" y="2898000"/>
            <a:ext cx="3312000" cy="23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Jordan Lee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Product</a:t>
            </a:r>
          </a:p>
        </p:txBody>
      </p:sp>
      <p:sp>
        <p:nvSpPr>
          <p:cNvPr id="100072" name="OrgStem2"/>
          <p:cNvSpPr/>
          <p:nvPr/>
        </p:nvSpPr>
        <p:spPr>
          <a:xfrm xmlns:a="http://schemas.openxmlformats.org/drawingml/2006/main">
            <a:off x="6080400" y="2782800"/>
            <a:ext cx="36000" cy="12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A6B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3" name="OrgChild2"/>
          <p:cNvSpPr/>
          <p:nvPr/>
        </p:nvSpPr>
        <p:spPr>
          <a:xfrm xmlns:a="http://schemas.openxmlformats.org/drawingml/2006/main">
            <a:off x="4442400" y="2898000"/>
            <a:ext cx="3312000" cy="23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Sam Okonkwo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GTM</a:t>
            </a:r>
          </a:p>
        </p:txBody>
      </p:sp>
      <p:sp>
        <p:nvSpPr>
          <p:cNvPr id="100074" name="OrgStem3"/>
          <p:cNvSpPr/>
          <p:nvPr/>
        </p:nvSpPr>
        <p:spPr>
          <a:xfrm xmlns:a="http://schemas.openxmlformats.org/drawingml/2006/main">
            <a:off x="9727200" y="2782800"/>
            <a:ext cx="36000" cy="12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A6B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5" name="OrgChild3"/>
          <p:cNvSpPr/>
          <p:nvPr/>
        </p:nvSpPr>
        <p:spPr>
          <a:xfrm xmlns:a="http://schemas.openxmlformats.org/drawingml/2006/main">
            <a:off x="8089200" y="2898000"/>
            <a:ext cx="3312000" cy="23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Riley Park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Platform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076" name="Cycle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Operating loop</a:t>
            </a:r>
          </a:p>
        </p:txBody>
      </p:sp>
      <p:sp>
        <p:nvSpPr>
          <p:cNvPr id="100077" name="CycleHub"/>
          <p:cNvSpPr/>
          <p:nvPr/>
        </p:nvSpPr>
        <p:spPr>
          <a:xfrm xmlns:a="http://schemas.openxmlformats.org/drawingml/2006/main">
            <a:off x="5292000" y="3420000"/>
            <a:ext cx="1584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Weekly</a:t>
            </a:r>
          </a:p>
        </p:txBody>
      </p:sp>
      <p:sp>
        <p:nvSpPr>
          <p:cNvPr id="100078" name="CycleNode1"/>
          <p:cNvSpPr/>
          <p:nvPr/>
        </p:nvSpPr>
        <p:spPr>
          <a:xfrm xmlns:a="http://schemas.openxmlformats.org/drawingml/2006/main">
            <a:off x="5112000" y="2181600"/>
            <a:ext cx="1944000" cy="86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Sense</a:t>
            </a:r>
          </a:p>
        </p:txBody>
      </p:sp>
      <p:sp>
        <p:nvSpPr>
          <p:cNvPr id="100079" name="CycleNode2"/>
          <p:cNvSpPr/>
          <p:nvPr/>
        </p:nvSpPr>
        <p:spPr>
          <a:xfrm xmlns:a="http://schemas.openxmlformats.org/drawingml/2006/main">
            <a:off x="6984000" y="3528000"/>
            <a:ext cx="1944000" cy="86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Brief</a:t>
            </a:r>
          </a:p>
        </p:txBody>
      </p:sp>
      <p:sp>
        <p:nvSpPr>
          <p:cNvPr id="100080" name="CycleNode3"/>
          <p:cNvSpPr/>
          <p:nvPr/>
        </p:nvSpPr>
        <p:spPr>
          <a:xfrm xmlns:a="http://schemas.openxmlformats.org/drawingml/2006/main">
            <a:off x="5112000" y="4874400"/>
            <a:ext cx="1944000" cy="86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Decide</a:t>
            </a:r>
          </a:p>
        </p:txBody>
      </p:sp>
      <p:sp>
        <p:nvSpPr>
          <p:cNvPr id="100081" name="CycleNode4"/>
          <p:cNvSpPr/>
          <p:nvPr/>
        </p:nvSpPr>
        <p:spPr>
          <a:xfrm xmlns:a="http://schemas.openxmlformats.org/drawingml/2006/main">
            <a:off x="3240000" y="3528000"/>
            <a:ext cx="1944000" cy="86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Ship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082" name="TlTitle"/>
          <p:cNvSpPr txBox="1"/>
          <p:nvPr/>
        </p:nvSpPr>
        <p:spPr>
          <a:xfrm xmlns:a="http://schemas.openxmlformats.org/drawingml/2006/main">
            <a:off x="792000" y="432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Milestones</a:t>
            </a:r>
          </a:p>
        </p:txBody>
      </p:sp>
      <p:sp>
        <p:nvSpPr>
          <p:cNvPr id="100083" name="TlAxis"/>
          <p:cNvSpPr/>
          <p:nvPr/>
        </p:nvSpPr>
        <p:spPr>
          <a:xfrm xmlns:a="http://schemas.openxmlformats.org/drawingml/2006/main">
            <a:off x="792000" y="3240000"/>
            <a:ext cx="106092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570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4" name="TlLabel1"/>
          <p:cNvSpPr txBox="1"/>
          <p:nvPr/>
        </p:nvSpPr>
        <p:spPr>
          <a:xfrm xmlns:a="http://schemas.openxmlformats.org/drawingml/2006/main">
            <a:off x="792000" y="3708000"/>
            <a:ext cx="2354400" cy="40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4F2FF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0085" name="TlDetail1"/>
          <p:cNvSpPr txBox="1"/>
          <p:nvPr/>
        </p:nvSpPr>
        <p:spPr>
          <a:xfrm xmlns:a="http://schemas.openxmlformats.org/drawingml/2006/main">
            <a:off x="792000" y="4240800"/>
            <a:ext cx="2354400" cy="31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A0A6B0"/>
                </a:solidFill>
                <a:latin typeface="Arial"/>
                <a:ea typeface="Arial"/>
              </a:rPr>
              <a:t>ICP lock</a:t>
            </a:r>
          </a:p>
        </p:txBody>
      </p:sp>
      <p:sp>
        <p:nvSpPr>
          <p:cNvPr id="100086" name="TlLabel2"/>
          <p:cNvSpPr txBox="1"/>
          <p:nvPr/>
        </p:nvSpPr>
        <p:spPr>
          <a:xfrm xmlns:a="http://schemas.openxmlformats.org/drawingml/2006/main">
            <a:off x="3542400" y="3708000"/>
            <a:ext cx="2354400" cy="40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4F2FF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00087" name="TlDetail2"/>
          <p:cNvSpPr txBox="1"/>
          <p:nvPr/>
        </p:nvSpPr>
        <p:spPr>
          <a:xfrm xmlns:a="http://schemas.openxmlformats.org/drawingml/2006/main">
            <a:off x="3542400" y="4240800"/>
            <a:ext cx="2354400" cy="31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A0A6B0"/>
                </a:solidFill>
                <a:latin typeface="Arial"/>
                <a:ea typeface="Arial"/>
              </a:rPr>
              <a:t>Ent. motion</a:t>
            </a:r>
          </a:p>
        </p:txBody>
      </p:sp>
      <p:sp>
        <p:nvSpPr>
          <p:cNvPr id="100088" name="TlLabel3"/>
          <p:cNvSpPr txBox="1"/>
          <p:nvPr/>
        </p:nvSpPr>
        <p:spPr>
          <a:xfrm xmlns:a="http://schemas.openxmlformats.org/drawingml/2006/main">
            <a:off x="6292800" y="3708000"/>
            <a:ext cx="2354400" cy="40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4F2FF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100089" name="TlDetail3"/>
          <p:cNvSpPr txBox="1"/>
          <p:nvPr/>
        </p:nvSpPr>
        <p:spPr>
          <a:xfrm xmlns:a="http://schemas.openxmlformats.org/drawingml/2006/main">
            <a:off x="6292800" y="4240800"/>
            <a:ext cx="2354400" cy="31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A0A6B0"/>
                </a:solidFill>
                <a:latin typeface="Arial"/>
                <a:ea typeface="Arial"/>
              </a:rPr>
              <a:t>Series B</a:t>
            </a:r>
          </a:p>
        </p:txBody>
      </p:sp>
      <p:sp>
        <p:nvSpPr>
          <p:cNvPr id="100090" name="TlLabel4"/>
          <p:cNvSpPr txBox="1"/>
          <p:nvPr/>
        </p:nvSpPr>
        <p:spPr>
          <a:xfrm xmlns:a="http://schemas.openxmlformats.org/drawingml/2006/main">
            <a:off x="9046800" y="3708000"/>
            <a:ext cx="2354400" cy="40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4F2FF"/>
                </a:solidFill>
                <a:latin typeface="Arial"/>
                <a:ea typeface="Arial"/>
              </a:rPr>
              <a:t>Q4</a:t>
            </a:r>
          </a:p>
        </p:txBody>
      </p:sp>
      <p:sp>
        <p:nvSpPr>
          <p:cNvPr id="100091" name="TlDetail4"/>
          <p:cNvSpPr txBox="1"/>
          <p:nvPr/>
        </p:nvSpPr>
        <p:spPr>
          <a:xfrm xmlns:a="http://schemas.openxmlformats.org/drawingml/2006/main">
            <a:off x="9046800" y="4240800"/>
            <a:ext cx="2354400" cy="31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A0A6B0"/>
                </a:solidFill>
                <a:latin typeface="Arial"/>
                <a:ea typeface="Arial"/>
              </a:rPr>
              <a:t>Platform</a:t>
            </a:r>
          </a:p>
        </p:txBody>
      </p:sp>
      <p:sp>
        <p:nvSpPr>
          <p:cNvPr id="100092" name="TlDot1"/>
          <p:cNvSpPr/>
          <p:nvPr/>
        </p:nvSpPr>
        <p:spPr>
          <a:xfrm xmlns:a="http://schemas.openxmlformats.org/drawingml/2006/main">
            <a:off x="1807200" y="3099600"/>
            <a:ext cx="324000" cy="3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3" name="TlDot2"/>
          <p:cNvSpPr/>
          <p:nvPr/>
        </p:nvSpPr>
        <p:spPr>
          <a:xfrm xmlns:a="http://schemas.openxmlformats.org/drawingml/2006/main">
            <a:off x="4557600" y="3099600"/>
            <a:ext cx="324000" cy="3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4" name="TlDot3"/>
          <p:cNvSpPr/>
          <p:nvPr/>
        </p:nvSpPr>
        <p:spPr>
          <a:xfrm xmlns:a="http://schemas.openxmlformats.org/drawingml/2006/main">
            <a:off x="7311600" y="3099600"/>
            <a:ext cx="324000" cy="3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5" name="TlDot4"/>
          <p:cNvSpPr/>
          <p:nvPr/>
        </p:nvSpPr>
        <p:spPr>
          <a:xfrm xmlns:a="http://schemas.openxmlformats.org/drawingml/2006/main">
            <a:off x="10062000" y="3099600"/>
            <a:ext cx="324000" cy="3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096" name="Pillar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Where we invest</a:t>
            </a:r>
          </a:p>
        </p:txBody>
      </p:sp>
      <p:sp>
        <p:nvSpPr>
          <p:cNvPr id="100097" name="Pillar1"/>
          <p:cNvSpPr/>
          <p:nvPr/>
        </p:nvSpPr>
        <p:spPr>
          <a:xfrm xmlns:a="http://schemas.openxmlformats.org/drawingml/2006/main">
            <a:off x="792000" y="2545200"/>
            <a:ext cx="3272400" cy="2678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Product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Decision layer</a:t>
            </a:r>
          </a:p>
        </p:txBody>
      </p:sp>
      <p:sp>
        <p:nvSpPr>
          <p:cNvPr id="100098" name="Pillar2"/>
          <p:cNvSpPr/>
          <p:nvPr/>
        </p:nvSpPr>
        <p:spPr>
          <a:xfrm xmlns:a="http://schemas.openxmlformats.org/drawingml/2006/main">
            <a:off x="4460400" y="2026800"/>
            <a:ext cx="3272400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GTM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Enterprise</a:t>
            </a:r>
          </a:p>
        </p:txBody>
      </p:sp>
      <p:sp>
        <p:nvSpPr>
          <p:cNvPr id="100099" name="Pillar3"/>
          <p:cNvSpPr/>
          <p:nvPr/>
        </p:nvSpPr>
        <p:spPr>
          <a:xfrm xmlns:a="http://schemas.openxmlformats.org/drawingml/2006/main">
            <a:off x="8128800" y="1504800"/>
            <a:ext cx="3272400" cy="3722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72B6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Platform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Reliability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100" name="Matrix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Where we play</a:t>
            </a:r>
          </a:p>
        </p:txBody>
      </p:sp>
      <p:sp>
        <p:nvSpPr>
          <p:cNvPr id="100101" name="Quad1Bg"/>
          <p:cNvSpPr/>
          <p:nvPr/>
        </p:nvSpPr>
        <p:spPr>
          <a:xfrm xmlns:a="http://schemas.openxmlformats.org/drawingml/2006/main">
            <a:off x="792000" y="1404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2" name="Quad1Title"/>
          <p:cNvSpPr txBox="1"/>
          <p:nvPr/>
        </p:nvSpPr>
        <p:spPr>
          <a:xfrm xmlns:a="http://schemas.openxmlformats.org/drawingml/2006/main">
            <a:off x="1090800" y="1681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4F2FF"/>
                </a:solidFill>
                <a:latin typeface="Arial"/>
                <a:ea typeface="Arial"/>
              </a:rPr>
              <a:t>Invest</a:t>
            </a:r>
          </a:p>
        </p:txBody>
      </p:sp>
      <p:sp>
        <p:nvSpPr>
          <p:cNvPr id="100103" name="Quad1Body"/>
          <p:cNvSpPr txBox="1"/>
          <p:nvPr/>
        </p:nvSpPr>
        <p:spPr>
          <a:xfrm xmlns:a="http://schemas.openxmlformats.org/drawingml/2006/main">
            <a:off x="1090800" y="2278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Ent. decision rooms</a:t>
            </a:r>
          </a:p>
        </p:txBody>
      </p:sp>
      <p:sp>
        <p:nvSpPr>
          <p:cNvPr id="100104" name="Quad2Bg"/>
          <p:cNvSpPr/>
          <p:nvPr/>
        </p:nvSpPr>
        <p:spPr>
          <a:xfrm xmlns:a="http://schemas.openxmlformats.org/drawingml/2006/main">
            <a:off x="6292800" y="1404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5" name="Quad2Title"/>
          <p:cNvSpPr txBox="1"/>
          <p:nvPr/>
        </p:nvSpPr>
        <p:spPr>
          <a:xfrm xmlns:a="http://schemas.openxmlformats.org/drawingml/2006/main">
            <a:off x="6591600" y="1681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4F2FF"/>
                </a:solidFill>
                <a:latin typeface="Arial"/>
                <a:ea typeface="Arial"/>
              </a:rPr>
              <a:t>Selective</a:t>
            </a:r>
          </a:p>
        </p:txBody>
      </p:sp>
      <p:sp>
        <p:nvSpPr>
          <p:cNvPr id="100106" name="Quad2Body"/>
          <p:cNvSpPr txBox="1"/>
          <p:nvPr/>
        </p:nvSpPr>
        <p:spPr>
          <a:xfrm xmlns:a="http://schemas.openxmlformats.org/drawingml/2006/main">
            <a:off x="6591600" y="2278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High ACV, long sales</a:t>
            </a:r>
          </a:p>
        </p:txBody>
      </p:sp>
      <p:sp>
        <p:nvSpPr>
          <p:cNvPr id="100107" name="Quad3Bg"/>
          <p:cNvSpPr/>
          <p:nvPr/>
        </p:nvSpPr>
        <p:spPr>
          <a:xfrm xmlns:a="http://schemas.openxmlformats.org/drawingml/2006/main">
            <a:off x="792000" y="3960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8" name="Quad3Title"/>
          <p:cNvSpPr txBox="1"/>
          <p:nvPr/>
        </p:nvSpPr>
        <p:spPr>
          <a:xfrm xmlns:a="http://schemas.openxmlformats.org/drawingml/2006/main">
            <a:off x="1090800" y="4237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4F2FF"/>
                </a:solidFill>
                <a:latin typeface="Arial"/>
                <a:ea typeface="Arial"/>
              </a:rPr>
              <a:t>Maintain</a:t>
            </a:r>
          </a:p>
        </p:txBody>
      </p:sp>
      <p:sp>
        <p:nvSpPr>
          <p:cNvPr id="100109" name="Quad3Body"/>
          <p:cNvSpPr txBox="1"/>
          <p:nvPr/>
        </p:nvSpPr>
        <p:spPr>
          <a:xfrm xmlns:a="http://schemas.openxmlformats.org/drawingml/2006/main">
            <a:off x="1090800" y="4834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Self-serve core</a:t>
            </a:r>
          </a:p>
        </p:txBody>
      </p:sp>
      <p:sp>
        <p:nvSpPr>
          <p:cNvPr id="100110" name="Quad4Bg"/>
          <p:cNvSpPr/>
          <p:nvPr/>
        </p:nvSpPr>
        <p:spPr>
          <a:xfrm xmlns:a="http://schemas.openxmlformats.org/drawingml/2006/main">
            <a:off x="6292800" y="3960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1" name="Quad4Title"/>
          <p:cNvSpPr txBox="1"/>
          <p:nvPr/>
        </p:nvSpPr>
        <p:spPr>
          <a:xfrm xmlns:a="http://schemas.openxmlformats.org/drawingml/2006/main">
            <a:off x="6591600" y="4237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4F2FF"/>
                </a:solidFill>
                <a:latin typeface="Arial"/>
                <a:ea typeface="Arial"/>
              </a:rPr>
              <a:t>Exit</a:t>
            </a:r>
          </a:p>
        </p:txBody>
      </p:sp>
      <p:sp>
        <p:nvSpPr>
          <p:cNvPr id="100112" name="Quad4Body"/>
          <p:cNvSpPr txBox="1"/>
          <p:nvPr/>
        </p:nvSpPr>
        <p:spPr>
          <a:xfrm xmlns:a="http://schemas.openxmlformats.org/drawingml/2006/main">
            <a:off x="6591600" y="4834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One-off custom</a:t>
            </a:r>
          </a:p>
        </p:txBody>
      </p:sp>
      <p:sp>
        <p:nvSpPr>
          <p:cNvPr id="100113" name="AxisX"/>
          <p:cNvSpPr txBox="1"/>
          <p:nvPr/>
        </p:nvSpPr>
        <p:spPr>
          <a:xfrm xmlns:a="http://schemas.openxmlformats.org/drawingml/2006/main">
            <a:off x="792000" y="6300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→ Fit →</a:t>
            </a:r>
          </a:p>
        </p:txBody>
      </p:sp>
      <p:sp>
        <p:nvSpPr>
          <p:cNvPr id="100114" name="AxisY"/>
          <p:cNvSpPr txBox="1"/>
          <p:nvPr/>
        </p:nvSpPr>
        <p:spPr>
          <a:xfrm xmlns:a="http://schemas.openxmlformats.org/drawingml/2006/main">
            <a:off x="792000" y="1080000"/>
            <a:ext cx="43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↑ Value ↑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115" name="Roadmap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H2 roadmap</a:t>
            </a:r>
          </a:p>
        </p:txBody>
      </p:sp>
      <p:sp>
        <p:nvSpPr>
          <p:cNvPr id="100116" name="RoadPhase1"/>
          <p:cNvSpPr txBox="1"/>
          <p:nvPr/>
        </p:nvSpPr>
        <p:spPr>
          <a:xfrm xmlns:a="http://schemas.openxmlformats.org/drawingml/2006/main">
            <a:off x="2448000" y="1260000"/>
            <a:ext cx="2923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7C5CFF"/>
                </a:solidFill>
                <a:latin typeface="Arial"/>
                <a:ea typeface="Arial"/>
              </a:rPr>
              <a:t>Now</a:t>
            </a:r>
          </a:p>
        </p:txBody>
      </p:sp>
      <p:sp>
        <p:nvSpPr>
          <p:cNvPr id="100117" name="RoadPhase2"/>
          <p:cNvSpPr txBox="1"/>
          <p:nvPr/>
        </p:nvSpPr>
        <p:spPr>
          <a:xfrm xmlns:a="http://schemas.openxmlformats.org/drawingml/2006/main">
            <a:off x="5461200" y="1260000"/>
            <a:ext cx="2923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7C5CFF"/>
                </a:solidFill>
                <a:latin typeface="Arial"/>
                <a:ea typeface="Arial"/>
              </a:rPr>
              <a:t>Next</a:t>
            </a:r>
          </a:p>
        </p:txBody>
      </p:sp>
      <p:sp>
        <p:nvSpPr>
          <p:cNvPr id="100118" name="RoadPhase3"/>
          <p:cNvSpPr txBox="1"/>
          <p:nvPr/>
        </p:nvSpPr>
        <p:spPr>
          <a:xfrm xmlns:a="http://schemas.openxmlformats.org/drawingml/2006/main">
            <a:off x="8478000" y="1260000"/>
            <a:ext cx="2923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7C5CFF"/>
                </a:solidFill>
                <a:latin typeface="Arial"/>
                <a:ea typeface="Arial"/>
              </a:rPr>
              <a:t>Later</a:t>
            </a:r>
          </a:p>
        </p:txBody>
      </p:sp>
      <p:sp>
        <p:nvSpPr>
          <p:cNvPr id="100119" name="RoadLane1"/>
          <p:cNvSpPr txBox="1"/>
          <p:nvPr/>
        </p:nvSpPr>
        <p:spPr>
          <a:xfrm xmlns:a="http://schemas.openxmlformats.org/drawingml/2006/main">
            <a:off x="792000" y="1746000"/>
            <a:ext cx="1512000" cy="11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Product</a:t>
            </a:r>
          </a:p>
        </p:txBody>
      </p:sp>
      <p:sp>
        <p:nvSpPr>
          <p:cNvPr id="100120" name="RoadCell1_1Bg"/>
          <p:cNvSpPr/>
          <p:nvPr/>
        </p:nvSpPr>
        <p:spPr>
          <a:xfrm xmlns:a="http://schemas.openxmlformats.org/drawingml/2006/main">
            <a:off x="2448000" y="1746000"/>
            <a:ext cx="29232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solidFill>
              <a:srgbClr val="3A357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1" name="RoadCell1_1"/>
          <p:cNvSpPr txBox="1"/>
          <p:nvPr/>
        </p:nvSpPr>
        <p:spPr>
          <a:xfrm xmlns:a="http://schemas.openxmlformats.org/drawingml/2006/main">
            <a:off x="2520000" y="1836000"/>
            <a:ext cx="2779200" cy="9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F4F2FF"/>
                </a:solidFill>
                <a:latin typeface="Arial"/>
                <a:ea typeface="Arial"/>
              </a:rPr>
              <a:t>Brief v2</a:t>
            </a:r>
          </a:p>
        </p:txBody>
      </p:sp>
      <p:sp>
        <p:nvSpPr>
          <p:cNvPr id="100122" name="RoadCell1_2Bg"/>
          <p:cNvSpPr/>
          <p:nvPr/>
        </p:nvSpPr>
        <p:spPr>
          <a:xfrm xmlns:a="http://schemas.openxmlformats.org/drawingml/2006/main">
            <a:off x="5461200" y="1746000"/>
            <a:ext cx="29232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solidFill>
              <a:srgbClr val="3A357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3" name="RoadCell1_2"/>
          <p:cNvSpPr txBox="1"/>
          <p:nvPr/>
        </p:nvSpPr>
        <p:spPr>
          <a:xfrm xmlns:a="http://schemas.openxmlformats.org/drawingml/2006/main">
            <a:off x="5533200" y="1836000"/>
            <a:ext cx="2779200" cy="9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F4F2FF"/>
                </a:solidFill>
                <a:latin typeface="Arial"/>
                <a:ea typeface="Arial"/>
              </a:rPr>
              <a:t>Motifs</a:t>
            </a:r>
          </a:p>
        </p:txBody>
      </p:sp>
      <p:sp>
        <p:nvSpPr>
          <p:cNvPr id="100124" name="RoadCell1_3Bg"/>
          <p:cNvSpPr/>
          <p:nvPr/>
        </p:nvSpPr>
        <p:spPr>
          <a:xfrm xmlns:a="http://schemas.openxmlformats.org/drawingml/2006/main">
            <a:off x="8478000" y="1746000"/>
            <a:ext cx="29232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solidFill>
              <a:srgbClr val="3A357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5" name="RoadCell1_3"/>
          <p:cNvSpPr txBox="1"/>
          <p:nvPr/>
        </p:nvSpPr>
        <p:spPr>
          <a:xfrm xmlns:a="http://schemas.openxmlformats.org/drawingml/2006/main">
            <a:off x="8550000" y="1836000"/>
            <a:ext cx="2779200" cy="9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F4F2FF"/>
                </a:solidFill>
                <a:latin typeface="Arial"/>
                <a:ea typeface="Arial"/>
              </a:rPr>
              <a:t>Gates</a:t>
            </a:r>
          </a:p>
        </p:txBody>
      </p:sp>
      <p:sp>
        <p:nvSpPr>
          <p:cNvPr id="100126" name="RoadLane2"/>
          <p:cNvSpPr txBox="1"/>
          <p:nvPr/>
        </p:nvSpPr>
        <p:spPr>
          <a:xfrm xmlns:a="http://schemas.openxmlformats.org/drawingml/2006/main">
            <a:off x="792000" y="3006000"/>
            <a:ext cx="1512000" cy="11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GTM</a:t>
            </a:r>
          </a:p>
        </p:txBody>
      </p:sp>
      <p:sp>
        <p:nvSpPr>
          <p:cNvPr id="100127" name="RoadCell2_1Bg"/>
          <p:cNvSpPr/>
          <p:nvPr/>
        </p:nvSpPr>
        <p:spPr>
          <a:xfrm xmlns:a="http://schemas.openxmlformats.org/drawingml/2006/main">
            <a:off x="2448000" y="3006000"/>
            <a:ext cx="29232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solidFill>
              <a:srgbClr val="3A357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8" name="RoadCell2_1"/>
          <p:cNvSpPr txBox="1"/>
          <p:nvPr/>
        </p:nvSpPr>
        <p:spPr>
          <a:xfrm xmlns:a="http://schemas.openxmlformats.org/drawingml/2006/main">
            <a:off x="2520000" y="3096000"/>
            <a:ext cx="2779200" cy="9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F4F2FF"/>
                </a:solidFill>
                <a:latin typeface="Arial"/>
                <a:ea typeface="Arial"/>
              </a:rPr>
              <a:t>Ent. pack</a:t>
            </a:r>
          </a:p>
        </p:txBody>
      </p:sp>
      <p:sp>
        <p:nvSpPr>
          <p:cNvPr id="100129" name="RoadCell2_2Bg"/>
          <p:cNvSpPr/>
          <p:nvPr/>
        </p:nvSpPr>
        <p:spPr>
          <a:xfrm xmlns:a="http://schemas.openxmlformats.org/drawingml/2006/main">
            <a:off x="5461200" y="3006000"/>
            <a:ext cx="29232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solidFill>
              <a:srgbClr val="3A357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30" name="RoadCell2_2"/>
          <p:cNvSpPr txBox="1"/>
          <p:nvPr/>
        </p:nvSpPr>
        <p:spPr>
          <a:xfrm xmlns:a="http://schemas.openxmlformats.org/drawingml/2006/main">
            <a:off x="5533200" y="3096000"/>
            <a:ext cx="2779200" cy="9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F4F2FF"/>
                </a:solidFill>
                <a:latin typeface="Arial"/>
                <a:ea typeface="Arial"/>
              </a:rPr>
              <a:t>Partner</a:t>
            </a:r>
          </a:p>
        </p:txBody>
      </p:sp>
      <p:sp>
        <p:nvSpPr>
          <p:cNvPr id="100131" name="RoadCell2_3Bg"/>
          <p:cNvSpPr/>
          <p:nvPr/>
        </p:nvSpPr>
        <p:spPr>
          <a:xfrm xmlns:a="http://schemas.openxmlformats.org/drawingml/2006/main">
            <a:off x="8478000" y="3006000"/>
            <a:ext cx="29232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solidFill>
              <a:srgbClr val="3A357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32" name="RoadCell2_3"/>
          <p:cNvSpPr txBox="1"/>
          <p:nvPr/>
        </p:nvSpPr>
        <p:spPr>
          <a:xfrm xmlns:a="http://schemas.openxmlformats.org/drawingml/2006/main">
            <a:off x="8550000" y="3096000"/>
            <a:ext cx="2779200" cy="9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F4F2FF"/>
                </a:solidFill>
                <a:latin typeface="Arial"/>
                <a:ea typeface="Arial"/>
              </a:rPr>
              <a:t>Events</a:t>
            </a:r>
          </a:p>
        </p:txBody>
      </p:sp>
      <p:sp>
        <p:nvSpPr>
          <p:cNvPr id="100133" name="RoadLane3"/>
          <p:cNvSpPr txBox="1"/>
          <p:nvPr/>
        </p:nvSpPr>
        <p:spPr>
          <a:xfrm xmlns:a="http://schemas.openxmlformats.org/drawingml/2006/main">
            <a:off x="792000" y="4266000"/>
            <a:ext cx="1512000" cy="115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Platform</a:t>
            </a:r>
          </a:p>
        </p:txBody>
      </p:sp>
      <p:sp>
        <p:nvSpPr>
          <p:cNvPr id="100134" name="RoadCell3_1Bg"/>
          <p:cNvSpPr/>
          <p:nvPr/>
        </p:nvSpPr>
        <p:spPr>
          <a:xfrm xmlns:a="http://schemas.openxmlformats.org/drawingml/2006/main">
            <a:off x="2448000" y="4266000"/>
            <a:ext cx="29232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solidFill>
              <a:srgbClr val="3A357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35" name="RoadCell3_1"/>
          <p:cNvSpPr txBox="1"/>
          <p:nvPr/>
        </p:nvSpPr>
        <p:spPr>
          <a:xfrm xmlns:a="http://schemas.openxmlformats.org/drawingml/2006/main">
            <a:off x="2520000" y="4356000"/>
            <a:ext cx="2779200" cy="9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F4F2FF"/>
                </a:solidFill>
                <a:latin typeface="Arial"/>
                <a:ea typeface="Arial"/>
              </a:rPr>
              <a:t>SLA</a:t>
            </a:r>
          </a:p>
        </p:txBody>
      </p:sp>
      <p:sp>
        <p:nvSpPr>
          <p:cNvPr id="100136" name="RoadCell3_2Bg"/>
          <p:cNvSpPr/>
          <p:nvPr/>
        </p:nvSpPr>
        <p:spPr>
          <a:xfrm xmlns:a="http://schemas.openxmlformats.org/drawingml/2006/main">
            <a:off x="5461200" y="4266000"/>
            <a:ext cx="29232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solidFill>
              <a:srgbClr val="3A357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37" name="RoadCell3_2"/>
          <p:cNvSpPr txBox="1"/>
          <p:nvPr/>
        </p:nvSpPr>
        <p:spPr>
          <a:xfrm xmlns:a="http://schemas.openxmlformats.org/drawingml/2006/main">
            <a:off x="5533200" y="4356000"/>
            <a:ext cx="2779200" cy="9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F4F2FF"/>
                </a:solidFill>
                <a:latin typeface="Arial"/>
                <a:ea typeface="Arial"/>
              </a:rPr>
              <a:t>SSO</a:t>
            </a:r>
          </a:p>
        </p:txBody>
      </p:sp>
      <p:sp>
        <p:nvSpPr>
          <p:cNvPr id="100138" name="RoadCell3_3Bg"/>
          <p:cNvSpPr/>
          <p:nvPr/>
        </p:nvSpPr>
        <p:spPr>
          <a:xfrm xmlns:a="http://schemas.openxmlformats.org/drawingml/2006/main">
            <a:off x="8478000" y="4266000"/>
            <a:ext cx="2923200" cy="11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solidFill>
              <a:srgbClr val="3A357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39" name="RoadCell3_3"/>
          <p:cNvSpPr txBox="1"/>
          <p:nvPr/>
        </p:nvSpPr>
        <p:spPr>
          <a:xfrm xmlns:a="http://schemas.openxmlformats.org/drawingml/2006/main">
            <a:off x="8550000" y="4356000"/>
            <a:ext cx="2779200" cy="9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F4F2FF"/>
                </a:solidFill>
                <a:latin typeface="Arial"/>
                <a:ea typeface="Arial"/>
              </a:rPr>
              <a:t>Audit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140" name="Pricing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Packaging</a:t>
            </a:r>
          </a:p>
        </p:txBody>
      </p:sp>
      <p:sp>
        <p:nvSpPr>
          <p:cNvPr id="100141" name="Tier1Bg"/>
          <p:cNvSpPr/>
          <p:nvPr/>
        </p:nvSpPr>
        <p:spPr>
          <a:xfrm xmlns:a="http://schemas.openxmlformats.org/drawingml/2006/main">
            <a:off x="792000" y="1296000"/>
            <a:ext cx="3272400" cy="52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solidFill>
              <a:srgbClr val="3A357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42" name="Tier1Name"/>
          <p:cNvSpPr txBox="1"/>
          <p:nvPr/>
        </p:nvSpPr>
        <p:spPr>
          <a:xfrm xmlns:a="http://schemas.openxmlformats.org/drawingml/2006/main">
            <a:off x="918000" y="1584000"/>
            <a:ext cx="3020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4F2FF"/>
                </a:solidFill>
                <a:latin typeface="Arial"/>
                <a:ea typeface="Arial"/>
              </a:rPr>
              <a:t>Team</a:t>
            </a:r>
          </a:p>
        </p:txBody>
      </p:sp>
      <p:sp>
        <p:nvSpPr>
          <p:cNvPr id="100143" name="Tier1Price"/>
          <p:cNvSpPr txBox="1"/>
          <p:nvPr/>
        </p:nvSpPr>
        <p:spPr>
          <a:xfrm xmlns:a="http://schemas.openxmlformats.org/drawingml/2006/main">
            <a:off x="918000" y="2181600"/>
            <a:ext cx="3020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4F2FF"/>
                </a:solidFill>
                <a:latin typeface="Arial"/>
                <a:ea typeface="Arial"/>
              </a:rPr>
              <a:t>$49</a:t>
            </a:r>
          </a:p>
        </p:txBody>
      </p:sp>
      <p:sp>
        <p:nvSpPr>
          <p:cNvPr id="100144" name="Tier1Period"/>
          <p:cNvSpPr txBox="1"/>
          <p:nvPr/>
        </p:nvSpPr>
        <p:spPr>
          <a:xfrm xmlns:a="http://schemas.openxmlformats.org/drawingml/2006/main">
            <a:off x="918000" y="3351600"/>
            <a:ext cx="3020400" cy="31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endParaRPr lang="en-US" sz="1400">
              <a:solidFill>
                <a:srgbClr val="A0A6B0"/>
              </a:solidFill>
              <a:latin typeface="Arial"/>
              <a:ea typeface="Arial"/>
            </a:endParaRPr>
          </a:p>
        </p:txBody>
      </p:sp>
      <p:sp>
        <p:nvSpPr>
          <p:cNvPr id="100145" name="Tier1Features"/>
          <p:cNvSpPr txBox="1"/>
          <p:nvPr/>
        </p:nvSpPr>
        <p:spPr>
          <a:xfrm xmlns:a="http://schemas.openxmlformats.org/drawingml/2006/main">
            <a:off x="918000" y="3787200"/>
            <a:ext cx="3020400" cy="59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• Up to 10 seats</a:t>
            </a:r>
          </a:p>
          <a:p xmlns:a="http://schemas.openxmlformats.org/drawingml/2006/main"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• Core briefs</a:t>
            </a:r>
          </a:p>
        </p:txBody>
      </p:sp>
      <p:sp>
        <p:nvSpPr>
          <p:cNvPr id="100146" name="Tier2Bg"/>
          <p:cNvSpPr/>
          <p:nvPr/>
        </p:nvSpPr>
        <p:spPr>
          <a:xfrm xmlns:a="http://schemas.openxmlformats.org/drawingml/2006/main">
            <a:off x="4460400" y="1296000"/>
            <a:ext cx="3272400" cy="52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47" name="Tier2Name"/>
          <p:cNvSpPr txBox="1"/>
          <p:nvPr/>
        </p:nvSpPr>
        <p:spPr>
          <a:xfrm xmlns:a="http://schemas.openxmlformats.org/drawingml/2006/main">
            <a:off x="4586400" y="1584000"/>
            <a:ext cx="3020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Business</a:t>
            </a:r>
          </a:p>
        </p:txBody>
      </p:sp>
      <p:sp>
        <p:nvSpPr>
          <p:cNvPr id="100148" name="Tier2Price"/>
          <p:cNvSpPr txBox="1"/>
          <p:nvPr/>
        </p:nvSpPr>
        <p:spPr>
          <a:xfrm xmlns:a="http://schemas.openxmlformats.org/drawingml/2006/main">
            <a:off x="4586400" y="2181600"/>
            <a:ext cx="3020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FFFFF"/>
                </a:solidFill>
                <a:latin typeface="Arial"/>
                <a:ea typeface="Arial"/>
              </a:rPr>
              <a:t>$199</a:t>
            </a:r>
          </a:p>
        </p:txBody>
      </p:sp>
      <p:sp>
        <p:nvSpPr>
          <p:cNvPr id="100149" name="Tier2Period"/>
          <p:cNvSpPr txBox="1"/>
          <p:nvPr/>
        </p:nvSpPr>
        <p:spPr>
          <a:xfrm xmlns:a="http://schemas.openxmlformats.org/drawingml/2006/main">
            <a:off x="4586400" y="3351600"/>
            <a:ext cx="3020400" cy="31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endParaRPr lang="en-US" sz="1400">
              <a:solidFill>
                <a:srgbClr val="FFFFFF"/>
              </a:solidFill>
              <a:latin typeface="Arial"/>
              <a:ea typeface="Arial"/>
            </a:endParaRPr>
          </a:p>
        </p:txBody>
      </p:sp>
      <p:sp>
        <p:nvSpPr>
          <p:cNvPr id="100150" name="Tier2Features"/>
          <p:cNvSpPr txBox="1"/>
          <p:nvPr/>
        </p:nvSpPr>
        <p:spPr>
          <a:xfrm xmlns:a="http://schemas.openxmlformats.org/drawingml/2006/main">
            <a:off x="4586400" y="3787200"/>
            <a:ext cx="3020400" cy="59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FFFFFF"/>
                </a:solidFill>
                <a:latin typeface="Arial"/>
                <a:ea typeface="Arial"/>
              </a:rPr>
              <a:t>• Orgs &amp; SSO</a:t>
            </a:r>
          </a:p>
          <a:p xmlns:a="http://schemas.openxmlformats.org/drawingml/2006/main">
            <a:r>
              <a:rPr lang="en-US" sz="1600">
                <a:solidFill>
                  <a:srgbClr val="FFFFFF"/>
                </a:solidFill>
                <a:latin typeface="Arial"/>
                <a:ea typeface="Arial"/>
              </a:rPr>
              <a:t>• Priority support</a:t>
            </a:r>
          </a:p>
        </p:txBody>
      </p:sp>
      <p:sp>
        <p:nvSpPr>
          <p:cNvPr id="100151" name="Tier3Bg"/>
          <p:cNvSpPr/>
          <p:nvPr/>
        </p:nvSpPr>
        <p:spPr>
          <a:xfrm xmlns:a="http://schemas.openxmlformats.org/drawingml/2006/main">
            <a:off x="8128800" y="1296000"/>
            <a:ext cx="3272400" cy="52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solidFill>
              <a:srgbClr val="3A3570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2" name="Tier3Name"/>
          <p:cNvSpPr txBox="1"/>
          <p:nvPr/>
        </p:nvSpPr>
        <p:spPr>
          <a:xfrm xmlns:a="http://schemas.openxmlformats.org/drawingml/2006/main">
            <a:off x="8254800" y="1584000"/>
            <a:ext cx="3020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4F2FF"/>
                </a:solidFill>
                <a:latin typeface="Arial"/>
                <a:ea typeface="Arial"/>
              </a:rPr>
              <a:t>Enterprise</a:t>
            </a:r>
          </a:p>
        </p:txBody>
      </p:sp>
      <p:sp>
        <p:nvSpPr>
          <p:cNvPr id="100153" name="Tier3Price"/>
          <p:cNvSpPr txBox="1"/>
          <p:nvPr/>
        </p:nvSpPr>
        <p:spPr>
          <a:xfrm xmlns:a="http://schemas.openxmlformats.org/drawingml/2006/main">
            <a:off x="8254800" y="2181600"/>
            <a:ext cx="3020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4F2FF"/>
                </a:solidFill>
                <a:latin typeface="Arial"/>
                <a:ea typeface="Arial"/>
              </a:rPr>
              <a:t>Talk</a:t>
            </a:r>
          </a:p>
        </p:txBody>
      </p:sp>
      <p:sp>
        <p:nvSpPr>
          <p:cNvPr id="100154" name="Tier3Period"/>
          <p:cNvSpPr txBox="1"/>
          <p:nvPr/>
        </p:nvSpPr>
        <p:spPr>
          <a:xfrm xmlns:a="http://schemas.openxmlformats.org/drawingml/2006/main">
            <a:off x="8254800" y="3351600"/>
            <a:ext cx="3020400" cy="31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endParaRPr lang="en-US" sz="1400">
              <a:solidFill>
                <a:srgbClr val="A0A6B0"/>
              </a:solidFill>
              <a:latin typeface="Arial"/>
              <a:ea typeface="Arial"/>
            </a:endParaRPr>
          </a:p>
        </p:txBody>
      </p:sp>
      <p:sp>
        <p:nvSpPr>
          <p:cNvPr id="100155" name="Tier3Features"/>
          <p:cNvSpPr txBox="1"/>
          <p:nvPr/>
        </p:nvSpPr>
        <p:spPr>
          <a:xfrm xmlns:a="http://schemas.openxmlformats.org/drawingml/2006/main">
            <a:off x="8254800" y="3787200"/>
            <a:ext cx="3020400" cy="59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• Global admin</a:t>
            </a:r>
          </a:p>
          <a:p xmlns:a="http://schemas.openxmlformats.org/drawingml/2006/main"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• Custom DPA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156" name="Risk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Risk heat</a:t>
            </a:r>
          </a:p>
        </p:txBody>
      </p:sp>
      <p:sp>
        <p:nvSpPr>
          <p:cNvPr id="100157" name="RiskX0"/>
          <p:cNvSpPr txBox="1"/>
          <p:nvPr/>
        </p:nvSpPr>
        <p:spPr>
          <a:xfrm xmlns:a="http://schemas.openxmlformats.org/drawingml/2006/main">
            <a:off x="1944000" y="5994000"/>
            <a:ext cx="26388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Low</a:t>
            </a:r>
          </a:p>
        </p:txBody>
      </p:sp>
      <p:sp>
        <p:nvSpPr>
          <p:cNvPr id="100158" name="RiskY0"/>
          <p:cNvSpPr txBox="1"/>
          <p:nvPr/>
        </p:nvSpPr>
        <p:spPr>
          <a:xfrm xmlns:a="http://schemas.openxmlformats.org/drawingml/2006/main">
            <a:off x="792000" y="5047200"/>
            <a:ext cx="108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/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Low</a:t>
            </a:r>
          </a:p>
        </p:txBody>
      </p:sp>
      <p:sp>
        <p:nvSpPr>
          <p:cNvPr id="100159" name="RiskX1"/>
          <p:cNvSpPr txBox="1"/>
          <p:nvPr/>
        </p:nvSpPr>
        <p:spPr>
          <a:xfrm xmlns:a="http://schemas.openxmlformats.org/drawingml/2006/main">
            <a:off x="4582800" y="5994000"/>
            <a:ext cx="26388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Med</a:t>
            </a:r>
          </a:p>
        </p:txBody>
      </p:sp>
      <p:sp>
        <p:nvSpPr>
          <p:cNvPr id="100160" name="RiskY1"/>
          <p:cNvSpPr txBox="1"/>
          <p:nvPr/>
        </p:nvSpPr>
        <p:spPr>
          <a:xfrm xmlns:a="http://schemas.openxmlformats.org/drawingml/2006/main">
            <a:off x="792000" y="3546000"/>
            <a:ext cx="108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/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Med</a:t>
            </a:r>
          </a:p>
        </p:txBody>
      </p:sp>
      <p:sp>
        <p:nvSpPr>
          <p:cNvPr id="100161" name="RiskX2"/>
          <p:cNvSpPr txBox="1"/>
          <p:nvPr/>
        </p:nvSpPr>
        <p:spPr>
          <a:xfrm xmlns:a="http://schemas.openxmlformats.org/drawingml/2006/main">
            <a:off x="7225200" y="5994000"/>
            <a:ext cx="26388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High</a:t>
            </a:r>
          </a:p>
        </p:txBody>
      </p:sp>
      <p:sp>
        <p:nvSpPr>
          <p:cNvPr id="100162" name="RiskY2"/>
          <p:cNvSpPr txBox="1"/>
          <p:nvPr/>
        </p:nvSpPr>
        <p:spPr>
          <a:xfrm xmlns:a="http://schemas.openxmlformats.org/drawingml/2006/main">
            <a:off x="792000" y="2044800"/>
            <a:ext cx="108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/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High</a:t>
            </a:r>
          </a:p>
        </p:txBody>
      </p:sp>
      <p:sp>
        <p:nvSpPr>
          <p:cNvPr id="100163" name="RiskCell00"/>
          <p:cNvSpPr/>
          <p:nvPr/>
        </p:nvSpPr>
        <p:spPr>
          <a:xfrm xmlns:a="http://schemas.openxmlformats.org/drawingml/2006/main">
            <a:off x="1962000" y="4456800"/>
            <a:ext cx="2602800" cy="146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4" name="RiskCell01"/>
          <p:cNvSpPr/>
          <p:nvPr/>
        </p:nvSpPr>
        <p:spPr>
          <a:xfrm xmlns:a="http://schemas.openxmlformats.org/drawingml/2006/main">
            <a:off x="4600800" y="4456800"/>
            <a:ext cx="2602800" cy="146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5" name="RiskCell02"/>
          <p:cNvSpPr/>
          <p:nvPr/>
        </p:nvSpPr>
        <p:spPr>
          <a:xfrm xmlns:a="http://schemas.openxmlformats.org/drawingml/2006/main">
            <a:off x="7243200" y="4456800"/>
            <a:ext cx="2602800" cy="146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6" name="RiskCell10"/>
          <p:cNvSpPr/>
          <p:nvPr/>
        </p:nvSpPr>
        <p:spPr>
          <a:xfrm xmlns:a="http://schemas.openxmlformats.org/drawingml/2006/main">
            <a:off x="1962000" y="2959200"/>
            <a:ext cx="2602800" cy="146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7" name="RiskCell11"/>
          <p:cNvSpPr/>
          <p:nvPr/>
        </p:nvSpPr>
        <p:spPr>
          <a:xfrm xmlns:a="http://schemas.openxmlformats.org/drawingml/2006/main">
            <a:off x="4600800" y="2959200"/>
            <a:ext cx="2602800" cy="146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8" name="RiskCell12"/>
          <p:cNvSpPr/>
          <p:nvPr/>
        </p:nvSpPr>
        <p:spPr>
          <a:xfrm xmlns:a="http://schemas.openxmlformats.org/drawingml/2006/main">
            <a:off x="7243200" y="2959200"/>
            <a:ext cx="2602800" cy="146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9" name="RiskCell20"/>
          <p:cNvSpPr/>
          <p:nvPr/>
        </p:nvSpPr>
        <p:spPr>
          <a:xfrm xmlns:a="http://schemas.openxmlformats.org/drawingml/2006/main">
            <a:off x="1962000" y="1458000"/>
            <a:ext cx="2602800" cy="146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0" name="RiskCell21"/>
          <p:cNvSpPr/>
          <p:nvPr/>
        </p:nvSpPr>
        <p:spPr>
          <a:xfrm xmlns:a="http://schemas.openxmlformats.org/drawingml/2006/main">
            <a:off x="4600800" y="1458000"/>
            <a:ext cx="2602800" cy="146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1" name="RiskCell22"/>
          <p:cNvSpPr/>
          <p:nvPr/>
        </p:nvSpPr>
        <p:spPr>
          <a:xfrm xmlns:a="http://schemas.openxmlformats.org/drawingml/2006/main">
            <a:off x="7243200" y="1458000"/>
            <a:ext cx="2602800" cy="146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2" name="RiskItem23"/>
          <p:cNvSpPr txBox="1"/>
          <p:nvPr/>
        </p:nvSpPr>
        <p:spPr>
          <a:xfrm xmlns:a="http://schemas.openxmlformats.org/drawingml/2006/main">
            <a:off x="4672800" y="1548000"/>
            <a:ext cx="2458800" cy="1321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4F2FF"/>
                </a:solidFill>
                <a:latin typeface="Arial"/>
                <a:ea typeface="Arial"/>
              </a:rPr>
              <a:t>Vendor</a:t>
            </a:r>
          </a:p>
        </p:txBody>
      </p:sp>
      <p:sp>
        <p:nvSpPr>
          <p:cNvPr id="100173" name="RiskItem32"/>
          <p:cNvSpPr txBox="1"/>
          <p:nvPr/>
        </p:nvSpPr>
        <p:spPr>
          <a:xfrm xmlns:a="http://schemas.openxmlformats.org/drawingml/2006/main">
            <a:off x="7315200" y="3049200"/>
            <a:ext cx="2458800" cy="1321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4F2FF"/>
                </a:solidFill>
                <a:latin typeface="Arial"/>
                <a:ea typeface="Arial"/>
              </a:rPr>
              <a:t>Scope</a:t>
            </a:r>
          </a:p>
        </p:txBody>
      </p:sp>
      <p:sp>
        <p:nvSpPr>
          <p:cNvPr id="100174" name="RiskItem13"/>
          <p:cNvSpPr txBox="1"/>
          <p:nvPr/>
        </p:nvSpPr>
        <p:spPr>
          <a:xfrm xmlns:a="http://schemas.openxmlformats.org/drawingml/2006/main">
            <a:off x="2034000" y="1548000"/>
            <a:ext cx="2458800" cy="1321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4F2FF"/>
                </a:solidFill>
                <a:latin typeface="Arial"/>
                <a:ea typeface="Arial"/>
              </a:rPr>
              <a:t>Hire</a:t>
            </a:r>
          </a:p>
        </p:txBody>
      </p:sp>
      <p:sp>
        <p:nvSpPr>
          <p:cNvPr id="100175" name="RiskItem12"/>
          <p:cNvSpPr txBox="1"/>
          <p:nvPr/>
        </p:nvSpPr>
        <p:spPr>
          <a:xfrm xmlns:a="http://schemas.openxmlformats.org/drawingml/2006/main">
            <a:off x="2034000" y="3049200"/>
            <a:ext cx="2458800" cy="1321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4F2FF"/>
                </a:solidFill>
                <a:latin typeface="Arial"/>
                <a:ea typeface="Arial"/>
              </a:rPr>
              <a:t>Reg</a:t>
            </a:r>
          </a:p>
        </p:txBody>
      </p:sp>
      <p:sp>
        <p:nvSpPr>
          <p:cNvPr id="100176" name="RiskAxisX"/>
          <p:cNvSpPr txBox="1"/>
          <p:nvPr/>
        </p:nvSpPr>
        <p:spPr>
          <a:xfrm xmlns:a="http://schemas.openxmlformats.org/drawingml/2006/main">
            <a:off x="1944000" y="6318000"/>
            <a:ext cx="792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A0A6B0"/>
                </a:solidFill>
                <a:latin typeface="Arial"/>
                <a:ea typeface="Arial"/>
              </a:rPr>
              <a:t>Likelihood →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177" name="Rag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Program status</a:t>
            </a:r>
          </a:p>
        </p:txBody>
      </p:sp>
      <p:sp>
        <p:nvSpPr>
          <p:cNvPr id="100178" name="RagHead"/>
          <p:cNvSpPr txBox="1"/>
          <p:nvPr/>
        </p:nvSpPr>
        <p:spPr>
          <a:xfrm xmlns:a="http://schemas.openxmlformats.org/drawingml/2006/main">
            <a:off x="792000" y="1188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A0A6B0"/>
                </a:solidFill>
                <a:latin typeface="Arial"/>
                <a:ea typeface="Arial"/>
              </a:rPr>
              <a:t>Project          Status          Note</a:t>
            </a:r>
          </a:p>
        </p:txBody>
      </p:sp>
      <p:sp>
        <p:nvSpPr>
          <p:cNvPr id="100179" name="RagRow1"/>
          <p:cNvSpPr/>
          <p:nvPr/>
        </p:nvSpPr>
        <p:spPr>
          <a:xfrm xmlns:a="http://schemas.openxmlformats.org/drawingml/2006/main">
            <a:off x="792000" y="1584000"/>
            <a:ext cx="10609200" cy="5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0" name="RagName1"/>
          <p:cNvSpPr txBox="1"/>
          <p:nvPr/>
        </p:nvSpPr>
        <p:spPr>
          <a:xfrm xmlns:a="http://schemas.openxmlformats.org/drawingml/2006/main">
            <a:off x="936000" y="1674000"/>
            <a:ext cx="36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Enterprise motion</a:t>
            </a:r>
          </a:p>
        </p:txBody>
      </p:sp>
      <p:sp>
        <p:nvSpPr>
          <p:cNvPr id="100181" name="RagDot1"/>
          <p:cNvSpPr/>
          <p:nvPr/>
        </p:nvSpPr>
        <p:spPr>
          <a:xfrm xmlns:a="http://schemas.openxmlformats.org/drawingml/2006/main">
            <a:off x="5112000" y="1728000"/>
            <a:ext cx="324000" cy="3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2" name="RagNote1"/>
          <p:cNvSpPr txBox="1"/>
          <p:nvPr/>
        </p:nvSpPr>
        <p:spPr>
          <a:xfrm xmlns:a="http://schemas.openxmlformats.org/drawingml/2006/main">
            <a:off x="5652000" y="1674000"/>
            <a:ext cx="54972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On track</a:t>
            </a:r>
          </a:p>
        </p:txBody>
      </p:sp>
      <p:sp>
        <p:nvSpPr>
          <p:cNvPr id="100183" name="RagRow2"/>
          <p:cNvSpPr/>
          <p:nvPr/>
        </p:nvSpPr>
        <p:spPr>
          <a:xfrm xmlns:a="http://schemas.openxmlformats.org/drawingml/2006/main">
            <a:off x="792000" y="2196000"/>
            <a:ext cx="10609200" cy="5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4" name="RagName2"/>
          <p:cNvSpPr txBox="1"/>
          <p:nvPr/>
        </p:nvSpPr>
        <p:spPr>
          <a:xfrm xmlns:a="http://schemas.openxmlformats.org/drawingml/2006/main">
            <a:off x="936000" y="2286000"/>
            <a:ext cx="36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Mid-market repair</a:t>
            </a:r>
          </a:p>
        </p:txBody>
      </p:sp>
      <p:sp>
        <p:nvSpPr>
          <p:cNvPr id="100185" name="RagDot2"/>
          <p:cNvSpPr/>
          <p:nvPr/>
        </p:nvSpPr>
        <p:spPr>
          <a:xfrm xmlns:a="http://schemas.openxmlformats.org/drawingml/2006/main">
            <a:off x="5112000" y="2340000"/>
            <a:ext cx="324000" cy="3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6" name="RagNote2"/>
          <p:cNvSpPr txBox="1"/>
          <p:nvPr/>
        </p:nvSpPr>
        <p:spPr>
          <a:xfrm xmlns:a="http://schemas.openxmlformats.org/drawingml/2006/main">
            <a:off x="5652000" y="2286000"/>
            <a:ext cx="54972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Owner TBD</a:t>
            </a:r>
          </a:p>
        </p:txBody>
      </p:sp>
      <p:sp>
        <p:nvSpPr>
          <p:cNvPr id="100187" name="RagRow3"/>
          <p:cNvSpPr/>
          <p:nvPr/>
        </p:nvSpPr>
        <p:spPr>
          <a:xfrm xmlns:a="http://schemas.openxmlformats.org/drawingml/2006/main">
            <a:off x="792000" y="2808000"/>
            <a:ext cx="10609200" cy="5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8" name="RagName3"/>
          <p:cNvSpPr txBox="1"/>
          <p:nvPr/>
        </p:nvSpPr>
        <p:spPr>
          <a:xfrm xmlns:a="http://schemas.openxmlformats.org/drawingml/2006/main">
            <a:off x="936000" y="2898000"/>
            <a:ext cx="36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Platform SLA</a:t>
            </a:r>
          </a:p>
        </p:txBody>
      </p:sp>
      <p:sp>
        <p:nvSpPr>
          <p:cNvPr id="100189" name="RagDot3"/>
          <p:cNvSpPr/>
          <p:nvPr/>
        </p:nvSpPr>
        <p:spPr>
          <a:xfrm xmlns:a="http://schemas.openxmlformats.org/drawingml/2006/main">
            <a:off x="5112000" y="2952000"/>
            <a:ext cx="324000" cy="3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90" name="RagNote3"/>
          <p:cNvSpPr txBox="1"/>
          <p:nvPr/>
        </p:nvSpPr>
        <p:spPr>
          <a:xfrm xmlns:a="http://schemas.openxmlformats.org/drawingml/2006/main">
            <a:off x="5652000" y="2898000"/>
            <a:ext cx="54972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Hire lag</a:t>
            </a:r>
          </a:p>
        </p:txBody>
      </p:sp>
      <p:sp>
        <p:nvSpPr>
          <p:cNvPr id="100191" name="RagRow4"/>
          <p:cNvSpPr/>
          <p:nvPr/>
        </p:nvSpPr>
        <p:spPr>
          <a:xfrm xmlns:a="http://schemas.openxmlformats.org/drawingml/2006/main">
            <a:off x="792000" y="3420000"/>
            <a:ext cx="10609200" cy="5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92" name="RagName4"/>
          <p:cNvSpPr txBox="1"/>
          <p:nvPr/>
        </p:nvSpPr>
        <p:spPr>
          <a:xfrm xmlns:a="http://schemas.openxmlformats.org/drawingml/2006/main">
            <a:off x="936000" y="3510000"/>
            <a:ext cx="36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Series B data room</a:t>
            </a:r>
          </a:p>
        </p:txBody>
      </p:sp>
      <p:sp>
        <p:nvSpPr>
          <p:cNvPr id="100193" name="RagDot4"/>
          <p:cNvSpPr/>
          <p:nvPr/>
        </p:nvSpPr>
        <p:spPr>
          <a:xfrm xmlns:a="http://schemas.openxmlformats.org/drawingml/2006/main">
            <a:off x="5112000" y="3564000"/>
            <a:ext cx="324000" cy="3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DC9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94" name="RagNote4"/>
          <p:cNvSpPr txBox="1"/>
          <p:nvPr/>
        </p:nvSpPr>
        <p:spPr>
          <a:xfrm xmlns:a="http://schemas.openxmlformats.org/drawingml/2006/main">
            <a:off x="5652000" y="3510000"/>
            <a:ext cx="54972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0A6B0"/>
                </a:solidFill>
                <a:latin typeface="Arial"/>
                <a:ea typeface="Arial"/>
              </a:rPr>
              <a:t>Ready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195" name="Check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4F2FF"/>
                </a:solidFill>
                <a:latin typeface="Arial"/>
                <a:ea typeface="Arial"/>
              </a:rPr>
              <a:t>Board asks</a:t>
            </a:r>
          </a:p>
        </p:txBody>
      </p:sp>
      <p:sp>
        <p:nvSpPr>
          <p:cNvPr id="100196" name="CheckRow1"/>
          <p:cNvSpPr/>
          <p:nvPr/>
        </p:nvSpPr>
        <p:spPr>
          <a:xfrm xmlns:a="http://schemas.openxmlformats.org/drawingml/2006/main">
            <a:off x="792000" y="1533600"/>
            <a:ext cx="10609200" cy="65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○  Approve Series B window</a:t>
            </a:r>
          </a:p>
        </p:txBody>
      </p:sp>
      <p:sp>
        <p:nvSpPr>
          <p:cNvPr id="100197" name="CheckRow2"/>
          <p:cNvSpPr/>
          <p:nvPr/>
        </p:nvSpPr>
        <p:spPr>
          <a:xfrm xmlns:a="http://schemas.openxmlformats.org/drawingml/2006/main">
            <a:off x="792000" y="2253600"/>
            <a:ext cx="10609200" cy="65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4F2FF"/>
                </a:solidFill>
                <a:latin typeface="Arial"/>
                <a:ea typeface="Arial"/>
              </a:rPr>
              <a:t>✓  Hold mid-market spend</a:t>
            </a:r>
          </a:p>
        </p:txBody>
      </p:sp>
      <p:sp>
        <p:nvSpPr>
          <p:cNvPr id="100198" name="CheckRow3"/>
          <p:cNvSpPr/>
          <p:nvPr/>
        </p:nvSpPr>
        <p:spPr>
          <a:xfrm xmlns:a="http://schemas.openxmlformats.org/drawingml/2006/main">
            <a:off x="792000" y="2973600"/>
            <a:ext cx="10609200" cy="65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A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4F2FF"/>
                </a:solidFill>
                <a:latin typeface="Arial"/>
                <a:ea typeface="Arial"/>
              </a:rPr>
              <a:t>○  Fund platform SLA hire</a:t>
            </a:r>
          </a:p>
        </p:txBody>
      </p:sp>
      <p:sp>
        <p:nvSpPr>
          <p:cNvPr id="100199" name="CheckRow4"/>
          <p:cNvSpPr/>
          <p:nvPr/>
        </p:nvSpPr>
        <p:spPr>
          <a:xfrm xmlns:a="http://schemas.openxmlformats.org/drawingml/2006/main">
            <a:off x="792000" y="3693600"/>
            <a:ext cx="10609200" cy="655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162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4F2FF"/>
                </a:solidFill>
                <a:latin typeface="Arial"/>
                <a:ea typeface="Arial"/>
              </a:rPr>
              <a:t>✓  Kill custom one-offs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0B1A"/>
        </a:solidFill>
      </p:bgPr>
    </p:bg>
    <p:spTree>
      <p:nvGrpSpPr>
        <p:cNvPr id="1" name=""/>
        <p:cNvGrpSpPr/>
        <p:nvPr/>
      </p:nvGrpSpPr>
      <p:grpSpPr/>
      <p:sp>
        <p:nvSpPr>
          <p:cNvPr id="100200" name="CloseTitle"/>
          <p:cNvSpPr txBox="1"/>
          <p:nvPr/>
        </p:nvSpPr>
        <p:spPr>
          <a:xfrm xmlns:a="http://schemas.openxmlformats.org/drawingml/2006/main">
            <a:off x="792000" y="1796400"/>
            <a:ext cx="106092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4F2FF"/>
                </a:solidFill>
                <a:latin typeface="Arial"/>
                <a:ea typeface="Arial"/>
              </a:rPr>
              <a:t>One ask</a:t>
            </a:r>
          </a:p>
        </p:txBody>
      </p:sp>
      <p:sp>
        <p:nvSpPr>
          <p:cNvPr id="100201" name="CloseBody"/>
          <p:cNvSpPr txBox="1"/>
          <p:nvPr/>
        </p:nvSpPr>
        <p:spPr>
          <a:xfrm xmlns:a="http://schemas.openxmlformats.org/drawingml/2006/main">
            <a:off x="1188000" y="2952000"/>
            <a:ext cx="9817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Green-light the Series B process this quarter.</a:t>
            </a:r>
          </a:p>
        </p:txBody>
      </p:sp>
      <p:sp>
        <p:nvSpPr>
          <p:cNvPr id="100202" name="CloseCta"/>
          <p:cNvSpPr/>
          <p:nvPr/>
        </p:nvSpPr>
        <p:spPr>
          <a:xfrm xmlns:a="http://schemas.openxmlformats.org/drawingml/2006/main">
            <a:off x="4294800" y="4068000"/>
            <a:ext cx="3600000" cy="61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C5C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Approve window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OfficeCLI/1.0.136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2026-07-15T14:52:09Z</dcterms:created>
  <cp:lastModifiedBy>OfficeCLI</cp:lastModifiedBy>
  <dcterms:modified xsi:type="dcterms:W3CDTF">2026-07-15T14:52:09Z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1.0.136</vt:lpwstr>
  </op:property>
  <op:property fmtid="{D5CDD505-2E9C-101B-9397-08002B2CF9AE}" pid="3" name="OfficeCLI.LastModified">
    <vt:lpwstr xmlns:vt="http://schemas.openxmlformats.org/officeDocument/2006/docPropsVTypes">2026-07-15T14:52:11Z</vt:lpwstr>
  </op:property>
</op:Properties>
</file>