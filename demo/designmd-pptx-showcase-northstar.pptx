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3f06aca2e9d48ac" /><Relationship Type="http://schemas.openxmlformats.org/package/2006/relationships/metadata/core-properties" Target="/docProps/core.xml" Id="R68645f8daf55401e" /><Relationship Type="http://schemas.openxmlformats.org/officeDocument/2006/relationships/extended-properties" Target="/docProps/app.xml" Id="R6fc1bde5bf2344ed" /><Relationship Type="http://schemas.openxmlformats.org/officeDocument/2006/relationships/custom-properties" Target="/docProps/custom.xml" Id="Rf0ca483a5190417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6e3b413a66e541c6"/>
    <p:sldId id="257" r:id="Rc7a3ff0f0ca640e9"/>
    <p:sldId id="258" r:id="R003f84dbbeab4705"/>
    <p:sldId id="259" r:id="R7cfadbf6a44342ae"/>
    <p:sldId id="260" r:id="R41c2262769644a6d"/>
    <p:sldId id="261" r:id="R5c2b402139ba4566"/>
    <p:sldId id="262" r:id="Re56f64672f7f40cb"/>
    <p:sldId id="263" r:id="R3f792bd751674256"/>
    <p:sldId id="264" r:id="Ra10de2463d294d53"/>
    <p:sldId id="265" r:id="R10d7d17e3e674123"/>
    <p:sldId id="266" r:id="Ra98e1a4375694e79"/>
    <p:sldId id="267" r:id="R40d0025b57bf43e2"/>
    <p:sldId id="268" r:id="R2a242db888594919"/>
    <p:sldId id="269" r:id="R6be0f48d8edb4a92"/>
    <p:sldId id="270" r:id="Rc298d8ae9bc94254"/>
    <p:sldId id="271" r:id="R73ecff9769264198"/>
    <p:sldId id="272" r:id="R802bb08961a04ee1"/>
    <p:sldId id="273" r:id="Rf0f43814efd446ad"/>
    <p:sldId id="274" r:id="Ra21b94a656a4422e"/>
    <p:sldId id="275" r:id="Rf79989f95df0454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e3b413a66e541c6" /><Relationship Type="http://schemas.openxmlformats.org/officeDocument/2006/relationships/slide" Target="/ppt/slides/slide2.xml" Id="Rc7a3ff0f0ca640e9" /><Relationship Type="http://schemas.openxmlformats.org/officeDocument/2006/relationships/slide" Target="/ppt/slides/slide3.xml" Id="R003f84dbbeab4705" /><Relationship Type="http://schemas.openxmlformats.org/officeDocument/2006/relationships/slide" Target="/ppt/slides/slide4.xml" Id="R7cfadbf6a44342ae" /><Relationship Type="http://schemas.openxmlformats.org/officeDocument/2006/relationships/slide" Target="/ppt/slides/slide5.xml" Id="R41c2262769644a6d" /><Relationship Type="http://schemas.openxmlformats.org/officeDocument/2006/relationships/slide" Target="/ppt/slides/slide6.xml" Id="R5c2b402139ba4566" /><Relationship Type="http://schemas.openxmlformats.org/officeDocument/2006/relationships/slide" Target="/ppt/slides/slide7.xml" Id="Re56f64672f7f40cb" /><Relationship Type="http://schemas.openxmlformats.org/officeDocument/2006/relationships/slide" Target="/ppt/slides/slide8.xml" Id="R3f792bd751674256" /><Relationship Type="http://schemas.openxmlformats.org/officeDocument/2006/relationships/slide" Target="/ppt/slides/slide9.xml" Id="Ra10de2463d294d53" /><Relationship Type="http://schemas.openxmlformats.org/officeDocument/2006/relationships/slide" Target="/ppt/slides/slide10.xml" Id="R10d7d17e3e674123" /><Relationship Type="http://schemas.openxmlformats.org/officeDocument/2006/relationships/slide" Target="/ppt/slides/slide11.xml" Id="Ra98e1a4375694e79" /><Relationship Type="http://schemas.openxmlformats.org/officeDocument/2006/relationships/slide" Target="/ppt/slides/slide12.xml" Id="R40d0025b57bf43e2" /><Relationship Type="http://schemas.openxmlformats.org/officeDocument/2006/relationships/slide" Target="/ppt/slides/slide13.xml" Id="R2a242db888594919" /><Relationship Type="http://schemas.openxmlformats.org/officeDocument/2006/relationships/slide" Target="/ppt/slides/slide14.xml" Id="R6be0f48d8edb4a92" /><Relationship Type="http://schemas.openxmlformats.org/officeDocument/2006/relationships/slide" Target="/ppt/slides/slide15.xml" Id="Rc298d8ae9bc94254" /><Relationship Type="http://schemas.openxmlformats.org/officeDocument/2006/relationships/slide" Target="/ppt/slides/slide16.xml" Id="R73ecff9769264198" /><Relationship Type="http://schemas.openxmlformats.org/officeDocument/2006/relationships/slide" Target="/ppt/slides/slide17.xml" Id="R802bb08961a04ee1" /><Relationship Type="http://schemas.openxmlformats.org/officeDocument/2006/relationships/slide" Target="/ppt/slides/slide18.xml" Id="Rf0f43814efd446ad" /><Relationship Type="http://schemas.openxmlformats.org/officeDocument/2006/relationships/slide" Target="/ppt/slides/slide19.xml" Id="Ra21b94a656a4422e" /><Relationship Type="http://schemas.openxmlformats.org/officeDocument/2006/relationships/slide" Target="/ppt/slides/slide20.xml" Id="Rf79989f95df045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Hold the name. Then the room.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Pause on the section number before the title.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Lead with ARR; NRR is the quality proof.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Let the multiple land before the story.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Call the single metric that proves After.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Stop on the bottleneck between Frame and Decide.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Name the drop-off between Eval and Commit.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Pick the promise that is still fragile.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Pause on the section number before the title.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State the decision right of the root.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Name the handoff that breaks most often.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Q3 is the only irreversible gate.</a:t>
            </a:r>
          </a:p>
        </p:txBody>
      </p:sp>
    </p:spTree>
  </p:cSld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tallest pillar is the strategic bet.</a:t>
            </a:r>
          </a:p>
        </p:txBody>
      </p:sp>
    </p:spTree>
  </p:cSld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Name the quadrant that needs a decision this quarter.</a:t>
            </a:r>
          </a:p>
        </p:txBody>
      </p:sp>
    </p:spTree>
  </p:cSld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Call the cross-lane dependency.</a:t>
            </a:r>
          </a:p>
        </p:txBody>
      </p:sp>
    </p:spTree>
  </p:cSld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Recommend Business; do not present a menu.</a:t>
            </a:r>
          </a:p>
        </p:txBody>
      </p:sp>
    </p:spTree>
  </p:cSld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Move one risk out of the red zone this quarter.</a:t>
            </a:r>
          </a:p>
        </p:txBody>
      </p:sp>
    </p:spTree>
  </p:cSld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Amber needs an owner before we leave.</a:t>
            </a:r>
          </a:p>
        </p:txBody>
      </p:sp>
    </p:spTree>
  </p:cSld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Open items need an owner before the meeting ends.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7d48dc6c143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6abfe07da547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01447c7e14a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09a55575544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24723515f46d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ceaf9a3ca0242a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49ad3ee5e465f" /><Relationship Type="http://schemas.openxmlformats.org/officeDocument/2006/relationships/notesSlide" Target="/ppt/notesSlides/notesSlide1.xml" Id="R5e61d7a0256845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d1845f4dd4c69" /><Relationship Type="http://schemas.openxmlformats.org/officeDocument/2006/relationships/notesSlide" Target="/ppt/notesSlides/notesSlide2.xml" Id="Rd522dec1d44341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2336a4b014e99" /><Relationship Type="http://schemas.openxmlformats.org/officeDocument/2006/relationships/notesSlide" Target="/ppt/notesSlides/notesSlide3.xml" Id="R19333bf4d46341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f67a14cfc4a52" /><Relationship Type="http://schemas.openxmlformats.org/officeDocument/2006/relationships/notesSlide" Target="/ppt/notesSlides/notesSlide4.xml" Id="R27cd1c6c87a24a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ce65108a24efd" /><Relationship Type="http://schemas.openxmlformats.org/officeDocument/2006/relationships/notesSlide" Target="/ppt/notesSlides/notesSlide5.xml" Id="Rb7fd34a6c4284c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340c04d0b4b19" /><Relationship Type="http://schemas.openxmlformats.org/officeDocument/2006/relationships/notesSlide" Target="/ppt/notesSlides/notesSlide6.xml" Id="R8bbc37655b644b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2316cf89e4dbf" /><Relationship Type="http://schemas.openxmlformats.org/officeDocument/2006/relationships/notesSlide" Target="/ppt/notesSlides/notesSlide7.xml" Id="R70374fe9eddd46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96b783c0e4189" /><Relationship Type="http://schemas.openxmlformats.org/officeDocument/2006/relationships/notesSlide" Target="/ppt/notesSlides/notesSlide8.xml" Id="R63f1188cff7f45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d2c4dfd2447db" /><Relationship Type="http://schemas.openxmlformats.org/officeDocument/2006/relationships/notesSlide" Target="/ppt/notesSlides/notesSlide9.xml" Id="Rddb36d1eee2f4c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ac357ff114aee" /><Relationship Type="http://schemas.openxmlformats.org/officeDocument/2006/relationships/notesSlide" Target="/ppt/notesSlides/notesSlide10.xml" Id="R00a6e7a7278944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6da2159f943b1" /><Relationship Type="http://schemas.openxmlformats.org/officeDocument/2006/relationships/notesSlide" Target="/ppt/notesSlides/notesSlide11.xml" Id="R6b110a46400148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979a94adc476d" /><Relationship Type="http://schemas.openxmlformats.org/officeDocument/2006/relationships/notesSlide" Target="/ppt/notesSlides/notesSlide12.xml" Id="R10da5c2ad3fd4d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dc81da1004f94" /><Relationship Type="http://schemas.openxmlformats.org/officeDocument/2006/relationships/notesSlide" Target="/ppt/notesSlides/notesSlide13.xml" Id="Rebe6836d042148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ac46607834e4e" /><Relationship Type="http://schemas.openxmlformats.org/officeDocument/2006/relationships/notesSlide" Target="/ppt/notesSlides/notesSlide14.xml" Id="Rb3857949baa140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8e3ff711e4ea6" /><Relationship Type="http://schemas.openxmlformats.org/officeDocument/2006/relationships/notesSlide" Target="/ppt/notesSlides/notesSlide15.xml" Id="Rfb670c3730594f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b38cb985d4bbb" /><Relationship Type="http://schemas.openxmlformats.org/officeDocument/2006/relationships/notesSlide" Target="/ppt/notesSlides/notesSlide16.xml" Id="Ra92e86de5e7546f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1549f79e54629" /><Relationship Type="http://schemas.openxmlformats.org/officeDocument/2006/relationships/notesSlide" Target="/ppt/notesSlides/notesSlide17.xml" Id="Rc51aa73717b34a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77ac2eeb74505" /><Relationship Type="http://schemas.openxmlformats.org/officeDocument/2006/relationships/notesSlide" Target="/ppt/notesSlides/notesSlide18.xml" Id="Rb3ed121e2c8046c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bca70b76f42be" /><Relationship Type="http://schemas.openxmlformats.org/officeDocument/2006/relationships/notesSlide" Target="/ppt/notesSlides/notesSlide19.xml" Id="R34147c39493a42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afbd96f4643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00" name="CoverEdge"/>
          <p:cNvSpPr/>
          <p:nvPr/>
        </p:nvSpPr>
        <p:spPr>
          <a:xfrm xmlns:a="http://schemas.openxmlformats.org/drawingml/2006/main">
            <a:off x="0" y="0"/>
            <a:ext cx="12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CoverTitle"/>
          <p:cNvSpPr txBox="1"/>
          <p:nvPr/>
        </p:nvSpPr>
        <p:spPr>
          <a:xfrm xmlns:a="http://schemas.openxmlformats.org/drawingml/2006/main">
            <a:off x="792000" y="1800000"/>
            <a:ext cx="106092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/>
            <a:r>
              <a:rPr lang="en-US" sz="4800" b="1">
                <a:solidFill>
                  <a:srgbClr val="F5F5F7"/>
                </a:solidFill>
                <a:latin typeface="Arial"/>
                <a:ea typeface="Arial"/>
              </a:rPr>
              <a:t>Northstar AI</a:t>
            </a:r>
          </a:p>
        </p:txBody>
      </p:sp>
      <p:sp>
        <p:nvSpPr>
          <p:cNvPr id="100002" name="CoverAccent"/>
          <p:cNvSpPr/>
          <p:nvPr/>
        </p:nvSpPr>
        <p:spPr>
          <a:xfrm xmlns:a="http://schemas.openxmlformats.org/drawingml/2006/main">
            <a:off x="792000" y="3276000"/>
            <a:ext cx="1728000" cy="5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CoverSubtitle"/>
          <p:cNvSpPr txBox="1"/>
          <p:nvPr/>
        </p:nvSpPr>
        <p:spPr>
          <a:xfrm xmlns:a="http://schemas.openxmlformats.org/drawingml/2006/main">
            <a:off x="792000" y="3420000"/>
            <a:ext cx="936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A0A6B0"/>
                </a:solidFill>
                <a:latin typeface="Arial"/>
                <a:ea typeface="Arial"/>
              </a:rPr>
              <a:t>Board update · Series B readiness</a:t>
            </a:r>
          </a:p>
        </p:txBody>
      </p:sp>
      <p:sp>
        <p:nvSpPr>
          <p:cNvPr id="100004" name="CoverMeta"/>
          <p:cNvSpPr txBox="1"/>
          <p:nvPr/>
        </p:nvSpPr>
        <p:spPr>
          <a:xfrm xmlns:a="http://schemas.openxmlformats.org/drawingml/2006/main">
            <a:off x="792000" y="5742000"/>
            <a:ext cx="106092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A0A6B0"/>
                </a:solidFill>
                <a:latin typeface="Arial"/>
                <a:ea typeface="Arial"/>
              </a:rPr>
              <a:t>Q2  ·  confidential  ·  20 min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05" name="OpenerAccentBar"/>
          <p:cNvSpPr/>
          <p:nvPr/>
        </p:nvSpPr>
        <p:spPr>
          <a:xfrm xmlns:a="http://schemas.openxmlformats.org/drawingml/2006/main">
            <a:off x="792000" y="2232000"/>
            <a:ext cx="396000" cy="22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6" name="OpenerNumber"/>
          <p:cNvSpPr txBox="1"/>
          <p:nvPr/>
        </p:nvSpPr>
        <p:spPr>
          <a:xfrm xmlns:a="http://schemas.openxmlformats.org/drawingml/2006/main">
            <a:off x="1368000" y="2016000"/>
            <a:ext cx="28800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0B5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00007" name="OpenerTitle"/>
          <p:cNvSpPr txBox="1"/>
          <p:nvPr/>
        </p:nvSpPr>
        <p:spPr>
          <a:xfrm xmlns:a="http://schemas.openxmlformats.org/drawingml/2006/main">
            <a:off x="1368000" y="2952000"/>
            <a:ext cx="10033200" cy="93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The bet</a:t>
            </a:r>
          </a:p>
        </p:txBody>
      </p:sp>
      <p:sp>
        <p:nvSpPr>
          <p:cNvPr id="100008" name="OpenerBlurb"/>
          <p:cNvSpPr txBox="1"/>
          <p:nvPr/>
        </p:nvSpPr>
        <p:spPr>
          <a:xfrm xmlns:a="http://schemas.openxmlformats.org/drawingml/2006/main">
            <a:off x="1368000" y="3960000"/>
            <a:ext cx="792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0A6B0"/>
                </a:solidFill>
                <a:latin typeface="Arial"/>
                <a:ea typeface="Arial"/>
              </a:rPr>
              <a:t>Own the decision layer between data noise and executive action.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09" name="KpiTitle"/>
          <p:cNvSpPr txBox="1"/>
          <p:nvPr/>
        </p:nvSpPr>
        <p:spPr>
          <a:xfrm xmlns:a="http://schemas.openxmlformats.org/drawingml/2006/main">
            <a:off x="792000" y="435600"/>
            <a:ext cx="10609200" cy="66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At a glance</a:t>
            </a:r>
          </a:p>
        </p:txBody>
      </p:sp>
      <p:sp>
        <p:nvSpPr>
          <p:cNvPr id="100010" name="Kpi1Bg"/>
          <p:cNvSpPr/>
          <p:nvPr/>
        </p:nvSpPr>
        <p:spPr>
          <a:xfrm xmlns:a="http://schemas.openxmlformats.org/drawingml/2006/main">
            <a:off x="792000" y="1414800"/>
            <a:ext cx="3272400" cy="465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1" name="Kpi1Value"/>
          <p:cNvSpPr txBox="1"/>
          <p:nvPr/>
        </p:nvSpPr>
        <p:spPr>
          <a:xfrm xmlns:a="http://schemas.openxmlformats.org/drawingml/2006/main">
            <a:off x="918000" y="2721600"/>
            <a:ext cx="30204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000" b="1">
                <a:solidFill>
                  <a:srgbClr val="F5F5F7"/>
                </a:solidFill>
                <a:latin typeface="Arial"/>
                <a:ea typeface="Arial"/>
              </a:rPr>
              <a:t>$4.2M</a:t>
            </a:r>
          </a:p>
        </p:txBody>
      </p:sp>
      <p:sp>
        <p:nvSpPr>
          <p:cNvPr id="100012" name="Kpi1Label"/>
          <p:cNvSpPr txBox="1"/>
          <p:nvPr/>
        </p:nvSpPr>
        <p:spPr>
          <a:xfrm xmlns:a="http://schemas.openxmlformats.org/drawingml/2006/main">
            <a:off x="918000" y="4107600"/>
            <a:ext cx="3020400" cy="30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A0A6B0"/>
                </a:solidFill>
                <a:latin typeface="Arial"/>
                <a:ea typeface="Arial"/>
              </a:rPr>
              <a:t>ARR</a:t>
            </a:r>
          </a:p>
        </p:txBody>
      </p:sp>
      <p:sp>
        <p:nvSpPr>
          <p:cNvPr id="100013" name="Kpi1Chip"/>
          <p:cNvSpPr txBox="1"/>
          <p:nvPr/>
        </p:nvSpPr>
        <p:spPr>
          <a:xfrm xmlns:a="http://schemas.openxmlformats.org/drawingml/2006/main">
            <a:off x="918000" y="4539600"/>
            <a:ext cx="3020400" cy="280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200" b="1">
              <a:solidFill>
                <a:srgbClr val="0B5FFF"/>
              </a:solidFill>
              <a:latin typeface="Arial"/>
              <a:ea typeface="Arial"/>
            </a:endParaRPr>
          </a:p>
        </p:txBody>
      </p:sp>
      <p:sp>
        <p:nvSpPr>
          <p:cNvPr id="100014" name="Kpi2Bg"/>
          <p:cNvSpPr/>
          <p:nvPr/>
        </p:nvSpPr>
        <p:spPr>
          <a:xfrm xmlns:a="http://schemas.openxmlformats.org/drawingml/2006/main">
            <a:off x="4460400" y="1414800"/>
            <a:ext cx="3272400" cy="465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5" name="Kpi2Value"/>
          <p:cNvSpPr txBox="1"/>
          <p:nvPr/>
        </p:nvSpPr>
        <p:spPr>
          <a:xfrm xmlns:a="http://schemas.openxmlformats.org/drawingml/2006/main">
            <a:off x="4586400" y="2721600"/>
            <a:ext cx="30204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000" b="1">
                <a:solidFill>
                  <a:srgbClr val="F5F5F7"/>
                </a:solidFill>
                <a:latin typeface="Arial"/>
                <a:ea typeface="Arial"/>
              </a:rPr>
              <a:t>128%</a:t>
            </a:r>
          </a:p>
        </p:txBody>
      </p:sp>
      <p:sp>
        <p:nvSpPr>
          <p:cNvPr id="100016" name="Kpi2Label"/>
          <p:cNvSpPr txBox="1"/>
          <p:nvPr/>
        </p:nvSpPr>
        <p:spPr>
          <a:xfrm xmlns:a="http://schemas.openxmlformats.org/drawingml/2006/main">
            <a:off x="4586400" y="4107600"/>
            <a:ext cx="3020400" cy="30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A0A6B0"/>
                </a:solidFill>
                <a:latin typeface="Arial"/>
                <a:ea typeface="Arial"/>
              </a:rPr>
              <a:t>NRR</a:t>
            </a:r>
          </a:p>
        </p:txBody>
      </p:sp>
      <p:sp>
        <p:nvSpPr>
          <p:cNvPr id="100017" name="Kpi2Chip"/>
          <p:cNvSpPr txBox="1"/>
          <p:nvPr/>
        </p:nvSpPr>
        <p:spPr>
          <a:xfrm xmlns:a="http://schemas.openxmlformats.org/drawingml/2006/main">
            <a:off x="4586400" y="4539600"/>
            <a:ext cx="3020400" cy="280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200" b="1">
              <a:solidFill>
                <a:srgbClr val="0B5FFF"/>
              </a:solidFill>
              <a:latin typeface="Arial"/>
              <a:ea typeface="Arial"/>
            </a:endParaRPr>
          </a:p>
        </p:txBody>
      </p:sp>
      <p:sp>
        <p:nvSpPr>
          <p:cNvPr id="100018" name="Kpi3Bg"/>
          <p:cNvSpPr/>
          <p:nvPr/>
        </p:nvSpPr>
        <p:spPr>
          <a:xfrm xmlns:a="http://schemas.openxmlformats.org/drawingml/2006/main">
            <a:off x="8128800" y="1414800"/>
            <a:ext cx="3272400" cy="465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9" name="Kpi3Value"/>
          <p:cNvSpPr txBox="1"/>
          <p:nvPr/>
        </p:nvSpPr>
        <p:spPr>
          <a:xfrm xmlns:a="http://schemas.openxmlformats.org/drawingml/2006/main">
            <a:off x="8254800" y="2721600"/>
            <a:ext cx="30204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000" b="1">
                <a:solidFill>
                  <a:srgbClr val="F5F5F7"/>
                </a:solidFill>
                <a:latin typeface="Arial"/>
                <a:ea typeface="Arial"/>
              </a:rPr>
              <a:t>14 mo</a:t>
            </a:r>
          </a:p>
        </p:txBody>
      </p:sp>
      <p:sp>
        <p:nvSpPr>
          <p:cNvPr id="100020" name="Kpi3Label"/>
          <p:cNvSpPr txBox="1"/>
          <p:nvPr/>
        </p:nvSpPr>
        <p:spPr>
          <a:xfrm xmlns:a="http://schemas.openxmlformats.org/drawingml/2006/main">
            <a:off x="8254800" y="4107600"/>
            <a:ext cx="3020400" cy="30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A0A6B0"/>
                </a:solidFill>
                <a:latin typeface="Arial"/>
                <a:ea typeface="Arial"/>
              </a:rPr>
              <a:t>Runway</a:t>
            </a:r>
          </a:p>
        </p:txBody>
      </p:sp>
      <p:sp>
        <p:nvSpPr>
          <p:cNvPr id="100021" name="Kpi3Chip"/>
          <p:cNvSpPr txBox="1"/>
          <p:nvPr/>
        </p:nvSpPr>
        <p:spPr>
          <a:xfrm xmlns:a="http://schemas.openxmlformats.org/drawingml/2006/main">
            <a:off x="8254800" y="4539600"/>
            <a:ext cx="3020400" cy="280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200" b="1">
              <a:solidFill>
                <a:srgbClr val="0B5FFF"/>
              </a:solidFill>
              <a:latin typeface="Arial"/>
              <a:ea typeface="Arial"/>
            </a:endParaRP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22" name="BigValue"/>
          <p:cNvSpPr txBox="1"/>
          <p:nvPr/>
        </p:nvSpPr>
        <p:spPr>
          <a:xfrm xmlns:a="http://schemas.openxmlformats.org/drawingml/2006/main">
            <a:off x="792000" y="1180800"/>
            <a:ext cx="10609200" cy="23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8100" b="1">
                <a:solidFill>
                  <a:srgbClr val="0B5FFF"/>
                </a:solidFill>
                <a:latin typeface="Arial"/>
                <a:ea typeface="Arial"/>
              </a:rPr>
              <a:t>3.4×</a:t>
            </a:r>
          </a:p>
        </p:txBody>
      </p:sp>
      <p:sp>
        <p:nvSpPr>
          <p:cNvPr id="100023" name="BigLabel"/>
          <p:cNvSpPr txBox="1"/>
          <p:nvPr/>
        </p:nvSpPr>
        <p:spPr>
          <a:xfrm xmlns:a="http://schemas.openxmlformats.org/drawingml/2006/main">
            <a:off x="792000" y="3704400"/>
            <a:ext cx="10609200" cy="6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5F5F7"/>
                </a:solidFill>
                <a:latin typeface="Arial"/>
                <a:ea typeface="Arial"/>
              </a:rPr>
              <a:t>Pipeline coverage vs plan</a:t>
            </a:r>
          </a:p>
        </p:txBody>
      </p:sp>
      <p:sp>
        <p:nvSpPr>
          <p:cNvPr id="100024" name="BigContext"/>
          <p:cNvSpPr txBox="1"/>
          <p:nvPr/>
        </p:nvSpPr>
        <p:spPr>
          <a:xfrm xmlns:a="http://schemas.openxmlformats.org/drawingml/2006/main">
            <a:off x="1188000" y="4514400"/>
            <a:ext cx="98172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A0A6B0"/>
                </a:solidFill>
                <a:latin typeface="Arial"/>
                <a:ea typeface="Arial"/>
              </a:rPr>
              <a:t>Enterprise motion is ahead; mid-market is the repair job.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25" name="BaTitle"/>
          <p:cNvSpPr txBox="1"/>
          <p:nvPr/>
        </p:nvSpPr>
        <p:spPr>
          <a:xfrm xmlns:a="http://schemas.openxmlformats.org/drawingml/2006/main">
            <a:off x="792000" y="435600"/>
            <a:ext cx="1060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What changed</a:t>
            </a:r>
          </a:p>
        </p:txBody>
      </p:sp>
      <p:sp>
        <p:nvSpPr>
          <p:cNvPr id="100026" name="BaPanel1"/>
          <p:cNvSpPr/>
          <p:nvPr/>
        </p:nvSpPr>
        <p:spPr>
          <a:xfrm xmlns:a="http://schemas.openxmlformats.org/drawingml/2006/main">
            <a:off x="792000" y="2088000"/>
            <a:ext cx="5104800" cy="27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7" name="BaHead1"/>
          <p:cNvSpPr txBox="1"/>
          <p:nvPr/>
        </p:nvSpPr>
        <p:spPr>
          <a:xfrm xmlns:a="http://schemas.openxmlformats.org/drawingml/2006/main">
            <a:off x="1188000" y="2484000"/>
            <a:ext cx="43128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5F5F7"/>
                </a:solidFill>
                <a:latin typeface="Arial"/>
                <a:ea typeface="Arial"/>
              </a:rPr>
              <a:t>Before</a:t>
            </a:r>
          </a:p>
        </p:txBody>
      </p:sp>
      <p:sp>
        <p:nvSpPr>
          <p:cNvPr id="100028" name="BaBody1"/>
          <p:cNvSpPr txBox="1"/>
          <p:nvPr/>
        </p:nvSpPr>
        <p:spPr>
          <a:xfrm xmlns:a="http://schemas.openxmlformats.org/drawingml/2006/main">
            <a:off x="1188000" y="3247200"/>
            <a:ext cx="4312800" cy="1180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0A6B0"/>
                </a:solidFill>
                <a:latin typeface="Arial"/>
                <a:ea typeface="Arial"/>
              </a:rPr>
              <a:t>• Dashboards without owners</a:t>
            </a:r>
          </a:p>
          <a:p xmlns:a="http://schemas.openxmlformats.org/drawingml/2006/main">
            <a:r>
              <a:rPr lang="en-US" sz="1800">
                <a:solidFill>
                  <a:srgbClr val="A0A6B0"/>
                </a:solidFill>
                <a:latin typeface="Arial"/>
                <a:ea typeface="Arial"/>
              </a:rPr>
              <a:t>• Opinions as forecast</a:t>
            </a:r>
          </a:p>
          <a:p xmlns:a="http://schemas.openxmlformats.org/drawingml/2006/main">
            <a:r>
              <a:rPr lang="en-US" sz="1800">
                <a:solidFill>
                  <a:srgbClr val="A0A6B0"/>
                </a:solidFill>
                <a:latin typeface="Arial"/>
                <a:ea typeface="Arial"/>
              </a:rPr>
              <a:t>• Weekly slide rebuilds</a:t>
            </a:r>
          </a:p>
        </p:txBody>
      </p:sp>
      <p:sp>
        <p:nvSpPr>
          <p:cNvPr id="100029" name="BaPanel2"/>
          <p:cNvSpPr/>
          <p:nvPr/>
        </p:nvSpPr>
        <p:spPr>
          <a:xfrm xmlns:a="http://schemas.openxmlformats.org/drawingml/2006/main">
            <a:off x="6292800" y="2088000"/>
            <a:ext cx="5104800" cy="27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0" name="BaHead2"/>
          <p:cNvSpPr txBox="1"/>
          <p:nvPr/>
        </p:nvSpPr>
        <p:spPr>
          <a:xfrm xmlns:a="http://schemas.openxmlformats.org/drawingml/2006/main">
            <a:off x="6692400" y="2484000"/>
            <a:ext cx="43128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Arial"/>
                <a:ea typeface="Arial"/>
              </a:rPr>
              <a:t>After</a:t>
            </a:r>
          </a:p>
        </p:txBody>
      </p:sp>
      <p:sp>
        <p:nvSpPr>
          <p:cNvPr id="100031" name="BaBody2"/>
          <p:cNvSpPr txBox="1"/>
          <p:nvPr/>
        </p:nvSpPr>
        <p:spPr>
          <a:xfrm xmlns:a="http://schemas.openxmlformats.org/drawingml/2006/main">
            <a:off x="6692400" y="3247200"/>
            <a:ext cx="4312800" cy="1180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• One decision brief</a:t>
            </a:r>
          </a:p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• Motif-locked rhythm</a:t>
            </a:r>
          </a:p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Arial"/>
                <a:ea typeface="Arial"/>
              </a:rPr>
              <a:t>• Gate before the room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32" name="ProcTitle"/>
          <p:cNvSpPr txBox="1"/>
          <p:nvPr/>
        </p:nvSpPr>
        <p:spPr>
          <a:xfrm xmlns:a="http://schemas.openxmlformats.org/drawingml/2006/main">
            <a:off x="792000" y="435600"/>
            <a:ext cx="1060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How we decide</a:t>
            </a:r>
          </a:p>
        </p:txBody>
      </p:sp>
      <p:sp>
        <p:nvSpPr>
          <p:cNvPr id="100033" name="Proc1"/>
          <p:cNvSpPr/>
          <p:nvPr/>
        </p:nvSpPr>
        <p:spPr>
          <a:xfrm xmlns:a="http://schemas.openxmlformats.org/drawingml/2006/main">
            <a:off x="792000" y="2332800"/>
            <a:ext cx="23544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Signal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Telemetry</a:t>
            </a:r>
          </a:p>
        </p:txBody>
      </p:sp>
      <p:sp>
        <p:nvSpPr>
          <p:cNvPr id="100034" name="Proc2"/>
          <p:cNvSpPr/>
          <p:nvPr/>
        </p:nvSpPr>
        <p:spPr>
          <a:xfrm xmlns:a="http://schemas.openxmlformats.org/drawingml/2006/main">
            <a:off x="3542400" y="2332800"/>
            <a:ext cx="23544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2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Frame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Brief</a:t>
            </a:r>
          </a:p>
        </p:txBody>
      </p:sp>
      <p:sp>
        <p:nvSpPr>
          <p:cNvPr id="100035" name="Proc3"/>
          <p:cNvSpPr/>
          <p:nvPr/>
        </p:nvSpPr>
        <p:spPr>
          <a:xfrm xmlns:a="http://schemas.openxmlformats.org/drawingml/2006/main">
            <a:off x="6292800" y="2332800"/>
            <a:ext cx="23544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3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Decide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Owner</a:t>
            </a:r>
          </a:p>
        </p:txBody>
      </p:sp>
      <p:sp>
        <p:nvSpPr>
          <p:cNvPr id="100036" name="Proc4"/>
          <p:cNvSpPr/>
          <p:nvPr/>
        </p:nvSpPr>
        <p:spPr>
          <a:xfrm xmlns:a="http://schemas.openxmlformats.org/drawingml/2006/main">
            <a:off x="9046800" y="2332800"/>
            <a:ext cx="23544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Ship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Measure</a:t>
            </a:r>
          </a:p>
        </p:txBody>
      </p:sp>
      <p:cxnSp>
        <p:nvCxnSpPr>
          <p:cNvPr id="100037" name="Connector 1"/>
          <p:cNvCxnSpPr>
            <a:stCxn xmlns:a="http://schemas.openxmlformats.org/drawingml/2006/main" id="100033" idx="0"/>
            <a:endCxn xmlns:a="http://schemas.openxmlformats.org/drawingml/2006/main" id="100034" idx="0"/>
          </p:cNvCxnSpPr>
          <p:nvPr/>
        </p:nvCxnSpPr>
        <p:spPr>
          <a:xfrm xmlns:a="http://schemas.openxmlformats.org/drawingml/2006/main">
            <a:off x="3146400" y="3232800"/>
            <a:ext cx="3960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A0A6B0"/>
            </a:solidFill>
            <a:tailEnd type="triangle"/>
          </a:ln>
        </p:spPr>
      </p:cxnSp>
      <p:cxnSp>
        <p:nvCxnSpPr>
          <p:cNvPr id="100038" name="Connector 2"/>
          <p:cNvCxnSpPr>
            <a:stCxn xmlns:a="http://schemas.openxmlformats.org/drawingml/2006/main" id="100034" idx="0"/>
            <a:endCxn xmlns:a="http://schemas.openxmlformats.org/drawingml/2006/main" id="100035" idx="0"/>
          </p:cNvCxnSpPr>
          <p:nvPr/>
        </p:nvCxnSpPr>
        <p:spPr>
          <a:xfrm xmlns:a="http://schemas.openxmlformats.org/drawingml/2006/main">
            <a:off x="5896800" y="3232800"/>
            <a:ext cx="3960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A0A6B0"/>
            </a:solidFill>
            <a:tailEnd type="triangle"/>
          </a:ln>
        </p:spPr>
      </p:cxnSp>
      <p:cxnSp>
        <p:nvCxnSpPr>
          <p:cNvPr id="100039" name="Connector 3"/>
          <p:cNvCxnSpPr>
            <a:stCxn xmlns:a="http://schemas.openxmlformats.org/drawingml/2006/main" id="100035" idx="0"/>
            <a:endCxn xmlns:a="http://schemas.openxmlformats.org/drawingml/2006/main" id="100036" idx="0"/>
          </p:cNvCxnSpPr>
          <p:nvPr/>
        </p:nvCxnSpPr>
        <p:spPr>
          <a:xfrm xmlns:a="http://schemas.openxmlformats.org/drawingml/2006/main">
            <a:off x="8647200" y="3232800"/>
            <a:ext cx="3996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A0A6B0"/>
            </a:solidFill>
            <a:tailEnd type="triangle"/>
          </a:ln>
        </p:spPr>
      </p:cxn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40" name="FunnelTitle"/>
          <p:cNvSpPr txBox="1"/>
          <p:nvPr/>
        </p:nvSpPr>
        <p:spPr>
          <a:xfrm xmlns:a="http://schemas.openxmlformats.org/drawingml/2006/main">
            <a:off x="792000" y="435600"/>
            <a:ext cx="1060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Enterprise funnel</a:t>
            </a:r>
          </a:p>
        </p:txBody>
      </p:sp>
      <p:sp>
        <p:nvSpPr>
          <p:cNvPr id="100041" name="FunnelBand1"/>
          <p:cNvSpPr/>
          <p:nvPr/>
        </p:nvSpPr>
        <p:spPr>
          <a:xfrm xmlns:a="http://schemas.openxmlformats.org/drawingml/2006/main">
            <a:off x="792000" y="1396800"/>
            <a:ext cx="10609200" cy="90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2" name="FunnelLabel1"/>
          <p:cNvSpPr txBox="1"/>
          <p:nvPr/>
        </p:nvSpPr>
        <p:spPr>
          <a:xfrm xmlns:a="http://schemas.openxmlformats.org/drawingml/2006/main">
            <a:off x="990000" y="1594800"/>
            <a:ext cx="10213200" cy="49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5F5F7"/>
                </a:solidFill>
                <a:latin typeface="Arial"/>
                <a:ea typeface="Arial"/>
              </a:rPr>
              <a:t>Aware  ·  100%</a:t>
            </a:r>
          </a:p>
        </p:txBody>
      </p:sp>
      <p:sp>
        <p:nvSpPr>
          <p:cNvPr id="100043" name="FunnelBand2"/>
          <p:cNvSpPr/>
          <p:nvPr/>
        </p:nvSpPr>
        <p:spPr>
          <a:xfrm xmlns:a="http://schemas.openxmlformats.org/drawingml/2006/main">
            <a:off x="1764000" y="2401200"/>
            <a:ext cx="8665200" cy="90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4" name="FunnelLabel2"/>
          <p:cNvSpPr txBox="1"/>
          <p:nvPr/>
        </p:nvSpPr>
        <p:spPr>
          <a:xfrm xmlns:a="http://schemas.openxmlformats.org/drawingml/2006/main">
            <a:off x="1962000" y="2599200"/>
            <a:ext cx="8269200" cy="49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5F5F7"/>
                </a:solidFill>
                <a:latin typeface="Arial"/>
                <a:ea typeface="Arial"/>
              </a:rPr>
              <a:t>Eval  ·  42%</a:t>
            </a:r>
          </a:p>
        </p:txBody>
      </p:sp>
      <p:sp>
        <p:nvSpPr>
          <p:cNvPr id="100045" name="FunnelBand3"/>
          <p:cNvSpPr/>
          <p:nvPr/>
        </p:nvSpPr>
        <p:spPr>
          <a:xfrm xmlns:a="http://schemas.openxmlformats.org/drawingml/2006/main">
            <a:off x="2736000" y="3402000"/>
            <a:ext cx="6717600" cy="90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6" name="FunnelLabel3"/>
          <p:cNvSpPr txBox="1"/>
          <p:nvPr/>
        </p:nvSpPr>
        <p:spPr>
          <a:xfrm xmlns:a="http://schemas.openxmlformats.org/drawingml/2006/main">
            <a:off x="2934000" y="3603600"/>
            <a:ext cx="6321600" cy="49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5F5F7"/>
                </a:solidFill>
                <a:latin typeface="Arial"/>
                <a:ea typeface="Arial"/>
              </a:rPr>
              <a:t>Commit  ·  18%</a:t>
            </a:r>
          </a:p>
        </p:txBody>
      </p:sp>
      <p:sp>
        <p:nvSpPr>
          <p:cNvPr id="100047" name="FunnelBand4"/>
          <p:cNvSpPr/>
          <p:nvPr/>
        </p:nvSpPr>
        <p:spPr>
          <a:xfrm xmlns:a="http://schemas.openxmlformats.org/drawingml/2006/main">
            <a:off x="3708000" y="4406400"/>
            <a:ext cx="4773600" cy="90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8" name="FunnelLabel4"/>
          <p:cNvSpPr txBox="1"/>
          <p:nvPr/>
        </p:nvSpPr>
        <p:spPr>
          <a:xfrm xmlns:a="http://schemas.openxmlformats.org/drawingml/2006/main">
            <a:off x="3906000" y="4604400"/>
            <a:ext cx="4377600" cy="49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Expand  ·  9%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49" name="FeatTitle"/>
          <p:cNvSpPr txBox="1"/>
          <p:nvPr/>
        </p:nvSpPr>
        <p:spPr>
          <a:xfrm xmlns:a="http://schemas.openxmlformats.org/drawingml/2006/main">
            <a:off x="792000" y="435600"/>
            <a:ext cx="10609200" cy="66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Three promises</a:t>
            </a:r>
          </a:p>
        </p:txBody>
      </p:sp>
      <p:sp>
        <p:nvSpPr>
          <p:cNvPr id="100050" name="Card1Bg"/>
          <p:cNvSpPr/>
          <p:nvPr/>
        </p:nvSpPr>
        <p:spPr>
          <a:xfrm xmlns:a="http://schemas.openxmlformats.org/drawingml/2006/main">
            <a:off x="792000" y="1414800"/>
            <a:ext cx="3272400" cy="465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1" name="Card1Num"/>
          <p:cNvSpPr txBox="1"/>
          <p:nvPr/>
        </p:nvSpPr>
        <p:spPr>
          <a:xfrm xmlns:a="http://schemas.openxmlformats.org/drawingml/2006/main">
            <a:off x="1188000" y="1810800"/>
            <a:ext cx="2480400" cy="66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B5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00052" name="Card1Title"/>
          <p:cNvSpPr txBox="1"/>
          <p:nvPr/>
        </p:nvSpPr>
        <p:spPr>
          <a:xfrm xmlns:a="http://schemas.openxmlformats.org/drawingml/2006/main">
            <a:off x="1188000" y="2696400"/>
            <a:ext cx="2480400" cy="77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5F5F7"/>
                </a:solidFill>
                <a:latin typeface="Arial"/>
                <a:ea typeface="Arial"/>
              </a:rPr>
              <a:t>Clarity</a:t>
            </a:r>
          </a:p>
        </p:txBody>
      </p:sp>
      <p:sp>
        <p:nvSpPr>
          <p:cNvPr id="100053" name="Card1Body"/>
          <p:cNvSpPr txBox="1"/>
          <p:nvPr/>
        </p:nvSpPr>
        <p:spPr>
          <a:xfrm xmlns:a="http://schemas.openxmlformats.org/drawingml/2006/main">
            <a:off x="1188000" y="3693600"/>
            <a:ext cx="2480400" cy="94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A0A6B0"/>
                </a:solidFill>
                <a:latin typeface="Arial"/>
                <a:ea typeface="Arial"/>
              </a:rPr>
              <a:t>One brief per decision — not a dashboard tour.</a:t>
            </a:r>
          </a:p>
        </p:txBody>
      </p:sp>
      <p:sp>
        <p:nvSpPr>
          <p:cNvPr id="100054" name="Card2Bg"/>
          <p:cNvSpPr/>
          <p:nvPr/>
        </p:nvSpPr>
        <p:spPr>
          <a:xfrm xmlns:a="http://schemas.openxmlformats.org/drawingml/2006/main">
            <a:off x="4460400" y="1414800"/>
            <a:ext cx="3272400" cy="465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5" name="Card2Num"/>
          <p:cNvSpPr txBox="1"/>
          <p:nvPr/>
        </p:nvSpPr>
        <p:spPr>
          <a:xfrm xmlns:a="http://schemas.openxmlformats.org/drawingml/2006/main">
            <a:off x="4856400" y="1810800"/>
            <a:ext cx="2480400" cy="66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B5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0056" name="Card2Title"/>
          <p:cNvSpPr txBox="1"/>
          <p:nvPr/>
        </p:nvSpPr>
        <p:spPr>
          <a:xfrm xmlns:a="http://schemas.openxmlformats.org/drawingml/2006/main">
            <a:off x="4856400" y="2696400"/>
            <a:ext cx="2480400" cy="77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5F5F7"/>
                </a:solidFill>
                <a:latin typeface="Arial"/>
                <a:ea typeface="Arial"/>
              </a:rPr>
              <a:t>Cadence</a:t>
            </a:r>
          </a:p>
        </p:txBody>
      </p:sp>
      <p:sp>
        <p:nvSpPr>
          <p:cNvPr id="100057" name="Card2Body"/>
          <p:cNvSpPr txBox="1"/>
          <p:nvPr/>
        </p:nvSpPr>
        <p:spPr>
          <a:xfrm xmlns:a="http://schemas.openxmlformats.org/drawingml/2006/main">
            <a:off x="4856400" y="3693600"/>
            <a:ext cx="2480400" cy="94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A0A6B0"/>
                </a:solidFill>
                <a:latin typeface="Arial"/>
                <a:ea typeface="Arial"/>
              </a:rPr>
              <a:t>Same chrome every week so the content is the news.</a:t>
            </a:r>
          </a:p>
        </p:txBody>
      </p:sp>
      <p:sp>
        <p:nvSpPr>
          <p:cNvPr id="100058" name="Card3Bg"/>
          <p:cNvSpPr/>
          <p:nvPr/>
        </p:nvSpPr>
        <p:spPr>
          <a:xfrm xmlns:a="http://schemas.openxmlformats.org/drawingml/2006/main">
            <a:off x="8128800" y="1414800"/>
            <a:ext cx="3272400" cy="465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9" name="Card3Num"/>
          <p:cNvSpPr txBox="1"/>
          <p:nvPr/>
        </p:nvSpPr>
        <p:spPr>
          <a:xfrm xmlns:a="http://schemas.openxmlformats.org/drawingml/2006/main">
            <a:off x="8524800" y="1810800"/>
            <a:ext cx="2480400" cy="66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B5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00060" name="Card3Title"/>
          <p:cNvSpPr txBox="1"/>
          <p:nvPr/>
        </p:nvSpPr>
        <p:spPr>
          <a:xfrm xmlns:a="http://schemas.openxmlformats.org/drawingml/2006/main">
            <a:off x="8524800" y="2696400"/>
            <a:ext cx="2480400" cy="77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5F5F7"/>
                </a:solidFill>
                <a:latin typeface="Arial"/>
                <a:ea typeface="Arial"/>
              </a:rPr>
              <a:t>Control</a:t>
            </a:r>
          </a:p>
        </p:txBody>
      </p:sp>
      <p:sp>
        <p:nvSpPr>
          <p:cNvPr id="100061" name="Card3Body"/>
          <p:cNvSpPr txBox="1"/>
          <p:nvPr/>
        </p:nvSpPr>
        <p:spPr>
          <a:xfrm xmlns:a="http://schemas.openxmlformats.org/drawingml/2006/main">
            <a:off x="8524800" y="3693600"/>
            <a:ext cx="2480400" cy="94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A0A6B0"/>
                </a:solidFill>
                <a:latin typeface="Arial"/>
                <a:ea typeface="Arial"/>
              </a:rPr>
              <a:t>Gates before the boardroom, not after the screenshot.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62" name="OpenerAccentBar"/>
          <p:cNvSpPr/>
          <p:nvPr/>
        </p:nvSpPr>
        <p:spPr>
          <a:xfrm xmlns:a="http://schemas.openxmlformats.org/drawingml/2006/main">
            <a:off x="792000" y="2232000"/>
            <a:ext cx="396000" cy="22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3" name="OpenerNumber"/>
          <p:cNvSpPr txBox="1"/>
          <p:nvPr/>
        </p:nvSpPr>
        <p:spPr>
          <a:xfrm xmlns:a="http://schemas.openxmlformats.org/drawingml/2006/main">
            <a:off x="1368000" y="2016000"/>
            <a:ext cx="28800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0B5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0064" name="OpenerTitle"/>
          <p:cNvSpPr txBox="1"/>
          <p:nvPr/>
        </p:nvSpPr>
        <p:spPr>
          <a:xfrm xmlns:a="http://schemas.openxmlformats.org/drawingml/2006/main">
            <a:off x="1368000" y="2952000"/>
            <a:ext cx="10033200" cy="93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The machine</a:t>
            </a:r>
          </a:p>
        </p:txBody>
      </p:sp>
      <p:sp>
        <p:nvSpPr>
          <p:cNvPr id="100065" name="OpenerBlurb"/>
          <p:cNvSpPr txBox="1"/>
          <p:nvPr/>
        </p:nvSpPr>
        <p:spPr>
          <a:xfrm xmlns:a="http://schemas.openxmlformats.org/drawingml/2006/main">
            <a:off x="1368000" y="3960000"/>
            <a:ext cx="792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0A6B0"/>
                </a:solidFill>
                <a:latin typeface="Arial"/>
                <a:ea typeface="Arial"/>
              </a:rPr>
              <a:t>People, loop, and time horizon that make the bet real.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66" name="OrgTitle"/>
          <p:cNvSpPr txBox="1"/>
          <p:nvPr/>
        </p:nvSpPr>
        <p:spPr>
          <a:xfrm xmlns:a="http://schemas.openxmlformats.org/drawingml/2006/main">
            <a:off x="792000" y="435600"/>
            <a:ext cx="1060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Leadership slice</a:t>
            </a:r>
          </a:p>
        </p:txBody>
      </p:sp>
      <p:sp>
        <p:nvSpPr>
          <p:cNvPr id="100067" name="OrgRoot"/>
          <p:cNvSpPr/>
          <p:nvPr/>
        </p:nvSpPr>
        <p:spPr>
          <a:xfrm xmlns:a="http://schemas.openxmlformats.org/drawingml/2006/main">
            <a:off x="3934800" y="1396800"/>
            <a:ext cx="4320000" cy="93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Maya Chen</a:t>
            </a:r>
          </a:p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CEO</a:t>
            </a:r>
          </a:p>
        </p:txBody>
      </p:sp>
      <p:sp>
        <p:nvSpPr>
          <p:cNvPr id="100068" name="OrgSpine"/>
          <p:cNvSpPr/>
          <p:nvPr/>
        </p:nvSpPr>
        <p:spPr>
          <a:xfrm xmlns:a="http://schemas.openxmlformats.org/drawingml/2006/main">
            <a:off x="6076800" y="2336400"/>
            <a:ext cx="43200" cy="43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6B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9" name="OrgBar"/>
          <p:cNvSpPr/>
          <p:nvPr/>
        </p:nvSpPr>
        <p:spPr>
          <a:xfrm xmlns:a="http://schemas.openxmlformats.org/drawingml/2006/main">
            <a:off x="2448000" y="2782800"/>
            <a:ext cx="72972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6B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0" name="OrgStem1"/>
          <p:cNvSpPr/>
          <p:nvPr/>
        </p:nvSpPr>
        <p:spPr>
          <a:xfrm xmlns:a="http://schemas.openxmlformats.org/drawingml/2006/main">
            <a:off x="2430000" y="2782800"/>
            <a:ext cx="3600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6B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1" name="OrgChild1"/>
          <p:cNvSpPr/>
          <p:nvPr/>
        </p:nvSpPr>
        <p:spPr>
          <a:xfrm xmlns:a="http://schemas.openxmlformats.org/drawingml/2006/main">
            <a:off x="792000" y="2898000"/>
            <a:ext cx="3312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Jordan Lee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Product</a:t>
            </a:r>
          </a:p>
        </p:txBody>
      </p:sp>
      <p:sp>
        <p:nvSpPr>
          <p:cNvPr id="100072" name="OrgStem2"/>
          <p:cNvSpPr/>
          <p:nvPr/>
        </p:nvSpPr>
        <p:spPr>
          <a:xfrm xmlns:a="http://schemas.openxmlformats.org/drawingml/2006/main">
            <a:off x="6080400" y="2782800"/>
            <a:ext cx="3600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6B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3" name="OrgChild2"/>
          <p:cNvSpPr/>
          <p:nvPr/>
        </p:nvSpPr>
        <p:spPr>
          <a:xfrm xmlns:a="http://schemas.openxmlformats.org/drawingml/2006/main">
            <a:off x="4442400" y="2898000"/>
            <a:ext cx="3312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Sam Okonkwo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GTM</a:t>
            </a:r>
          </a:p>
        </p:txBody>
      </p:sp>
      <p:sp>
        <p:nvSpPr>
          <p:cNvPr id="100074" name="OrgStem3"/>
          <p:cNvSpPr/>
          <p:nvPr/>
        </p:nvSpPr>
        <p:spPr>
          <a:xfrm xmlns:a="http://schemas.openxmlformats.org/drawingml/2006/main">
            <a:off x="9727200" y="2782800"/>
            <a:ext cx="3600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6B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5" name="OrgChild3"/>
          <p:cNvSpPr/>
          <p:nvPr/>
        </p:nvSpPr>
        <p:spPr>
          <a:xfrm xmlns:a="http://schemas.openxmlformats.org/drawingml/2006/main">
            <a:off x="8089200" y="2898000"/>
            <a:ext cx="33120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Riley Park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Platform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76" name="CycleTitle"/>
          <p:cNvSpPr txBox="1"/>
          <p:nvPr/>
        </p:nvSpPr>
        <p:spPr>
          <a:xfrm xmlns:a="http://schemas.openxmlformats.org/drawingml/2006/main">
            <a:off x="792000" y="435600"/>
            <a:ext cx="1060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Operating loop</a:t>
            </a:r>
          </a:p>
        </p:txBody>
      </p:sp>
      <p:sp>
        <p:nvSpPr>
          <p:cNvPr id="100077" name="CycleHub"/>
          <p:cNvSpPr/>
          <p:nvPr/>
        </p:nvSpPr>
        <p:spPr>
          <a:xfrm xmlns:a="http://schemas.openxmlformats.org/drawingml/2006/main">
            <a:off x="5292000" y="3420000"/>
            <a:ext cx="1584000" cy="10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Weekly</a:t>
            </a:r>
          </a:p>
        </p:txBody>
      </p:sp>
      <p:sp>
        <p:nvSpPr>
          <p:cNvPr id="100078" name="CycleNode1"/>
          <p:cNvSpPr/>
          <p:nvPr/>
        </p:nvSpPr>
        <p:spPr>
          <a:xfrm xmlns:a="http://schemas.openxmlformats.org/drawingml/2006/main">
            <a:off x="5112000" y="2181600"/>
            <a:ext cx="1944000" cy="86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Sense</a:t>
            </a:r>
          </a:p>
        </p:txBody>
      </p:sp>
      <p:sp>
        <p:nvSpPr>
          <p:cNvPr id="100079" name="CycleNode2"/>
          <p:cNvSpPr/>
          <p:nvPr/>
        </p:nvSpPr>
        <p:spPr>
          <a:xfrm xmlns:a="http://schemas.openxmlformats.org/drawingml/2006/main">
            <a:off x="6984000" y="3528000"/>
            <a:ext cx="1944000" cy="86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Brief</a:t>
            </a:r>
          </a:p>
        </p:txBody>
      </p:sp>
      <p:sp>
        <p:nvSpPr>
          <p:cNvPr id="100080" name="CycleNode3"/>
          <p:cNvSpPr/>
          <p:nvPr/>
        </p:nvSpPr>
        <p:spPr>
          <a:xfrm xmlns:a="http://schemas.openxmlformats.org/drawingml/2006/main">
            <a:off x="5112000" y="4874400"/>
            <a:ext cx="1944000" cy="86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Decide</a:t>
            </a:r>
          </a:p>
        </p:txBody>
      </p:sp>
      <p:sp>
        <p:nvSpPr>
          <p:cNvPr id="100081" name="CycleNode4"/>
          <p:cNvSpPr/>
          <p:nvPr/>
        </p:nvSpPr>
        <p:spPr>
          <a:xfrm xmlns:a="http://schemas.openxmlformats.org/drawingml/2006/main">
            <a:off x="3240000" y="3528000"/>
            <a:ext cx="1944000" cy="86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Ship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82" name="TlTitle"/>
          <p:cNvSpPr txBox="1"/>
          <p:nvPr/>
        </p:nvSpPr>
        <p:spPr>
          <a:xfrm xmlns:a="http://schemas.openxmlformats.org/drawingml/2006/main">
            <a:off x="792000" y="432000"/>
            <a:ext cx="106092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Milestones</a:t>
            </a:r>
          </a:p>
        </p:txBody>
      </p:sp>
      <p:sp>
        <p:nvSpPr>
          <p:cNvPr id="100083" name="TlAxis"/>
          <p:cNvSpPr/>
          <p:nvPr/>
        </p:nvSpPr>
        <p:spPr>
          <a:xfrm xmlns:a="http://schemas.openxmlformats.org/drawingml/2006/main">
            <a:off x="792000" y="3240000"/>
            <a:ext cx="106092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3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4" name="TlLabel1"/>
          <p:cNvSpPr txBox="1"/>
          <p:nvPr/>
        </p:nvSpPr>
        <p:spPr>
          <a:xfrm xmlns:a="http://schemas.openxmlformats.org/drawingml/2006/main">
            <a:off x="792000" y="3708000"/>
            <a:ext cx="2354400" cy="40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5F5F7"/>
                </a:solidFill>
                <a:latin typeface="Arial"/>
                <a:ea typeface="Arial"/>
              </a:rPr>
              <a:t>Q1</a:t>
            </a:r>
          </a:p>
        </p:txBody>
      </p:sp>
      <p:sp>
        <p:nvSpPr>
          <p:cNvPr id="100085" name="TlDetail1"/>
          <p:cNvSpPr txBox="1"/>
          <p:nvPr/>
        </p:nvSpPr>
        <p:spPr>
          <a:xfrm xmlns:a="http://schemas.openxmlformats.org/drawingml/2006/main">
            <a:off x="792000" y="4240800"/>
            <a:ext cx="2354400" cy="31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A0A6B0"/>
                </a:solidFill>
                <a:latin typeface="Arial"/>
                <a:ea typeface="Arial"/>
              </a:rPr>
              <a:t>ICP lock</a:t>
            </a:r>
          </a:p>
        </p:txBody>
      </p:sp>
      <p:sp>
        <p:nvSpPr>
          <p:cNvPr id="100086" name="TlLabel2"/>
          <p:cNvSpPr txBox="1"/>
          <p:nvPr/>
        </p:nvSpPr>
        <p:spPr>
          <a:xfrm xmlns:a="http://schemas.openxmlformats.org/drawingml/2006/main">
            <a:off x="3542400" y="3708000"/>
            <a:ext cx="2354400" cy="40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5F5F7"/>
                </a:solidFill>
                <a:latin typeface="Arial"/>
                <a:ea typeface="Arial"/>
              </a:rPr>
              <a:t>Q2</a:t>
            </a:r>
          </a:p>
        </p:txBody>
      </p:sp>
      <p:sp>
        <p:nvSpPr>
          <p:cNvPr id="100087" name="TlDetail2"/>
          <p:cNvSpPr txBox="1"/>
          <p:nvPr/>
        </p:nvSpPr>
        <p:spPr>
          <a:xfrm xmlns:a="http://schemas.openxmlformats.org/drawingml/2006/main">
            <a:off x="3542400" y="4240800"/>
            <a:ext cx="2354400" cy="31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A0A6B0"/>
                </a:solidFill>
                <a:latin typeface="Arial"/>
                <a:ea typeface="Arial"/>
              </a:rPr>
              <a:t>Ent. motion</a:t>
            </a:r>
          </a:p>
        </p:txBody>
      </p:sp>
      <p:sp>
        <p:nvSpPr>
          <p:cNvPr id="100088" name="TlLabel3"/>
          <p:cNvSpPr txBox="1"/>
          <p:nvPr/>
        </p:nvSpPr>
        <p:spPr>
          <a:xfrm xmlns:a="http://schemas.openxmlformats.org/drawingml/2006/main">
            <a:off x="6292800" y="3708000"/>
            <a:ext cx="2354400" cy="40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5F5F7"/>
                </a:solidFill>
                <a:latin typeface="Arial"/>
                <a:ea typeface="Arial"/>
              </a:rPr>
              <a:t>Q3</a:t>
            </a:r>
          </a:p>
        </p:txBody>
      </p:sp>
      <p:sp>
        <p:nvSpPr>
          <p:cNvPr id="100089" name="TlDetail3"/>
          <p:cNvSpPr txBox="1"/>
          <p:nvPr/>
        </p:nvSpPr>
        <p:spPr>
          <a:xfrm xmlns:a="http://schemas.openxmlformats.org/drawingml/2006/main">
            <a:off x="6292800" y="4240800"/>
            <a:ext cx="2354400" cy="31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A0A6B0"/>
                </a:solidFill>
                <a:latin typeface="Arial"/>
                <a:ea typeface="Arial"/>
              </a:rPr>
              <a:t>Series B</a:t>
            </a:r>
          </a:p>
        </p:txBody>
      </p:sp>
      <p:sp>
        <p:nvSpPr>
          <p:cNvPr id="100090" name="TlLabel4"/>
          <p:cNvSpPr txBox="1"/>
          <p:nvPr/>
        </p:nvSpPr>
        <p:spPr>
          <a:xfrm xmlns:a="http://schemas.openxmlformats.org/drawingml/2006/main">
            <a:off x="9046800" y="3708000"/>
            <a:ext cx="2354400" cy="40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5F5F7"/>
                </a:solidFill>
                <a:latin typeface="Arial"/>
                <a:ea typeface="Arial"/>
              </a:rPr>
              <a:t>Q4</a:t>
            </a:r>
          </a:p>
        </p:txBody>
      </p:sp>
      <p:sp>
        <p:nvSpPr>
          <p:cNvPr id="100091" name="TlDetail4"/>
          <p:cNvSpPr txBox="1"/>
          <p:nvPr/>
        </p:nvSpPr>
        <p:spPr>
          <a:xfrm xmlns:a="http://schemas.openxmlformats.org/drawingml/2006/main">
            <a:off x="9046800" y="4240800"/>
            <a:ext cx="2354400" cy="31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A0A6B0"/>
                </a:solidFill>
                <a:latin typeface="Arial"/>
                <a:ea typeface="Arial"/>
              </a:rPr>
              <a:t>Platform</a:t>
            </a:r>
          </a:p>
        </p:txBody>
      </p:sp>
      <p:sp>
        <p:nvSpPr>
          <p:cNvPr id="100092" name="TlDot1"/>
          <p:cNvSpPr/>
          <p:nvPr/>
        </p:nvSpPr>
        <p:spPr>
          <a:xfrm xmlns:a="http://schemas.openxmlformats.org/drawingml/2006/main">
            <a:off x="1807200" y="3099600"/>
            <a:ext cx="324000" cy="3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3" name="TlDot2"/>
          <p:cNvSpPr/>
          <p:nvPr/>
        </p:nvSpPr>
        <p:spPr>
          <a:xfrm xmlns:a="http://schemas.openxmlformats.org/drawingml/2006/main">
            <a:off x="4557600" y="3099600"/>
            <a:ext cx="324000" cy="3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4" name="TlDot3"/>
          <p:cNvSpPr/>
          <p:nvPr/>
        </p:nvSpPr>
        <p:spPr>
          <a:xfrm xmlns:a="http://schemas.openxmlformats.org/drawingml/2006/main">
            <a:off x="7311600" y="3099600"/>
            <a:ext cx="324000" cy="3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5" name="TlDot4"/>
          <p:cNvSpPr/>
          <p:nvPr/>
        </p:nvSpPr>
        <p:spPr>
          <a:xfrm xmlns:a="http://schemas.openxmlformats.org/drawingml/2006/main">
            <a:off x="10062000" y="3099600"/>
            <a:ext cx="324000" cy="3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096" name="PillarTitle"/>
          <p:cNvSpPr txBox="1"/>
          <p:nvPr/>
        </p:nvSpPr>
        <p:spPr>
          <a:xfrm xmlns:a="http://schemas.openxmlformats.org/drawingml/2006/main">
            <a:off x="792000" y="435600"/>
            <a:ext cx="1060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Where we invest</a:t>
            </a:r>
          </a:p>
        </p:txBody>
      </p:sp>
      <p:sp>
        <p:nvSpPr>
          <p:cNvPr id="100097" name="Pillar1"/>
          <p:cNvSpPr/>
          <p:nvPr/>
        </p:nvSpPr>
        <p:spPr>
          <a:xfrm xmlns:a="http://schemas.openxmlformats.org/drawingml/2006/main">
            <a:off x="792000" y="2545200"/>
            <a:ext cx="3272400" cy="267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Product</a:t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Decision layer</a:t>
            </a:r>
          </a:p>
        </p:txBody>
      </p:sp>
      <p:sp>
        <p:nvSpPr>
          <p:cNvPr id="100098" name="Pillar2"/>
          <p:cNvSpPr/>
          <p:nvPr/>
        </p:nvSpPr>
        <p:spPr>
          <a:xfrm xmlns:a="http://schemas.openxmlformats.org/drawingml/2006/main">
            <a:off x="4460400" y="2026800"/>
            <a:ext cx="327240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GTM</a:t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Enterprise</a:t>
            </a:r>
          </a:p>
        </p:txBody>
      </p:sp>
      <p:sp>
        <p:nvSpPr>
          <p:cNvPr id="100099" name="Pillar3"/>
          <p:cNvSpPr/>
          <p:nvPr/>
        </p:nvSpPr>
        <p:spPr>
          <a:xfrm xmlns:a="http://schemas.openxmlformats.org/drawingml/2006/main">
            <a:off x="8128800" y="1504800"/>
            <a:ext cx="3272400" cy="37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Platform</a:t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/>
            </a:r>
          </a:p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Reliability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100" name="MatrixTitle"/>
          <p:cNvSpPr txBox="1"/>
          <p:nvPr/>
        </p:nvSpPr>
        <p:spPr>
          <a:xfrm xmlns:a="http://schemas.openxmlformats.org/drawingml/2006/main">
            <a:off x="792000" y="435600"/>
            <a:ext cx="1060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Where we play</a:t>
            </a:r>
          </a:p>
        </p:txBody>
      </p:sp>
      <p:sp>
        <p:nvSpPr>
          <p:cNvPr id="100101" name="Quad1Bg"/>
          <p:cNvSpPr/>
          <p:nvPr/>
        </p:nvSpPr>
        <p:spPr>
          <a:xfrm xmlns:a="http://schemas.openxmlformats.org/drawingml/2006/main">
            <a:off x="792000" y="1404000"/>
            <a:ext cx="5104800" cy="21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2" name="Quad1Title"/>
          <p:cNvSpPr txBox="1"/>
          <p:nvPr/>
        </p:nvSpPr>
        <p:spPr>
          <a:xfrm xmlns:a="http://schemas.openxmlformats.org/drawingml/2006/main">
            <a:off x="1090800" y="1681200"/>
            <a:ext cx="4514400" cy="4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Invest</a:t>
            </a:r>
          </a:p>
        </p:txBody>
      </p:sp>
      <p:sp>
        <p:nvSpPr>
          <p:cNvPr id="100103" name="Quad1Body"/>
          <p:cNvSpPr txBox="1"/>
          <p:nvPr/>
        </p:nvSpPr>
        <p:spPr>
          <a:xfrm xmlns:a="http://schemas.openxmlformats.org/drawingml/2006/main">
            <a:off x="1090800" y="2278800"/>
            <a:ext cx="45144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0A6B0"/>
                </a:solidFill>
                <a:latin typeface="Arial"/>
                <a:ea typeface="Arial"/>
              </a:rPr>
              <a:t>Ent. decision rooms</a:t>
            </a:r>
          </a:p>
        </p:txBody>
      </p:sp>
      <p:sp>
        <p:nvSpPr>
          <p:cNvPr id="100104" name="Quad2Bg"/>
          <p:cNvSpPr/>
          <p:nvPr/>
        </p:nvSpPr>
        <p:spPr>
          <a:xfrm xmlns:a="http://schemas.openxmlformats.org/drawingml/2006/main">
            <a:off x="6292800" y="1404000"/>
            <a:ext cx="5104800" cy="21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5" name="Quad2Title"/>
          <p:cNvSpPr txBox="1"/>
          <p:nvPr/>
        </p:nvSpPr>
        <p:spPr>
          <a:xfrm xmlns:a="http://schemas.openxmlformats.org/drawingml/2006/main">
            <a:off x="6591600" y="1681200"/>
            <a:ext cx="4514400" cy="4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Selective</a:t>
            </a:r>
          </a:p>
        </p:txBody>
      </p:sp>
      <p:sp>
        <p:nvSpPr>
          <p:cNvPr id="100106" name="Quad2Body"/>
          <p:cNvSpPr txBox="1"/>
          <p:nvPr/>
        </p:nvSpPr>
        <p:spPr>
          <a:xfrm xmlns:a="http://schemas.openxmlformats.org/drawingml/2006/main">
            <a:off x="6591600" y="2278800"/>
            <a:ext cx="45144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0A6B0"/>
                </a:solidFill>
                <a:latin typeface="Arial"/>
                <a:ea typeface="Arial"/>
              </a:rPr>
              <a:t>High ACV, long sales</a:t>
            </a:r>
          </a:p>
        </p:txBody>
      </p:sp>
      <p:sp>
        <p:nvSpPr>
          <p:cNvPr id="100107" name="Quad3Bg"/>
          <p:cNvSpPr/>
          <p:nvPr/>
        </p:nvSpPr>
        <p:spPr>
          <a:xfrm xmlns:a="http://schemas.openxmlformats.org/drawingml/2006/main">
            <a:off x="792000" y="3960000"/>
            <a:ext cx="5104800" cy="21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8" name="Quad3Title"/>
          <p:cNvSpPr txBox="1"/>
          <p:nvPr/>
        </p:nvSpPr>
        <p:spPr>
          <a:xfrm xmlns:a="http://schemas.openxmlformats.org/drawingml/2006/main">
            <a:off x="1090800" y="4237200"/>
            <a:ext cx="4514400" cy="4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Maintain</a:t>
            </a:r>
          </a:p>
        </p:txBody>
      </p:sp>
      <p:sp>
        <p:nvSpPr>
          <p:cNvPr id="100109" name="Quad3Body"/>
          <p:cNvSpPr txBox="1"/>
          <p:nvPr/>
        </p:nvSpPr>
        <p:spPr>
          <a:xfrm xmlns:a="http://schemas.openxmlformats.org/drawingml/2006/main">
            <a:off x="1090800" y="4834800"/>
            <a:ext cx="45144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0A6B0"/>
                </a:solidFill>
                <a:latin typeface="Arial"/>
                <a:ea typeface="Arial"/>
              </a:rPr>
              <a:t>Self-serve core</a:t>
            </a:r>
          </a:p>
        </p:txBody>
      </p:sp>
      <p:sp>
        <p:nvSpPr>
          <p:cNvPr id="100110" name="Quad4Bg"/>
          <p:cNvSpPr/>
          <p:nvPr/>
        </p:nvSpPr>
        <p:spPr>
          <a:xfrm xmlns:a="http://schemas.openxmlformats.org/drawingml/2006/main">
            <a:off x="6292800" y="3960000"/>
            <a:ext cx="5104800" cy="21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1" name="Quad4Title"/>
          <p:cNvSpPr txBox="1"/>
          <p:nvPr/>
        </p:nvSpPr>
        <p:spPr>
          <a:xfrm xmlns:a="http://schemas.openxmlformats.org/drawingml/2006/main">
            <a:off x="6591600" y="4237200"/>
            <a:ext cx="4514400" cy="4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Exit</a:t>
            </a:r>
          </a:p>
        </p:txBody>
      </p:sp>
      <p:sp>
        <p:nvSpPr>
          <p:cNvPr id="100112" name="Quad4Body"/>
          <p:cNvSpPr txBox="1"/>
          <p:nvPr/>
        </p:nvSpPr>
        <p:spPr>
          <a:xfrm xmlns:a="http://schemas.openxmlformats.org/drawingml/2006/main">
            <a:off x="6591600" y="4834800"/>
            <a:ext cx="45144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0A6B0"/>
                </a:solidFill>
                <a:latin typeface="Arial"/>
                <a:ea typeface="Arial"/>
              </a:rPr>
              <a:t>One-off custom</a:t>
            </a:r>
          </a:p>
        </p:txBody>
      </p:sp>
      <p:sp>
        <p:nvSpPr>
          <p:cNvPr id="100113" name="AxisX"/>
          <p:cNvSpPr txBox="1"/>
          <p:nvPr/>
        </p:nvSpPr>
        <p:spPr>
          <a:xfrm xmlns:a="http://schemas.openxmlformats.org/drawingml/2006/main">
            <a:off x="792000" y="6300000"/>
            <a:ext cx="106092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A0A6B0"/>
                </a:solidFill>
                <a:latin typeface="Arial"/>
                <a:ea typeface="Arial"/>
              </a:rPr>
              <a:t>→ Fit →</a:t>
            </a:r>
          </a:p>
        </p:txBody>
      </p:sp>
      <p:sp>
        <p:nvSpPr>
          <p:cNvPr id="100114" name="AxisY"/>
          <p:cNvSpPr txBox="1"/>
          <p:nvPr/>
        </p:nvSpPr>
        <p:spPr>
          <a:xfrm xmlns:a="http://schemas.openxmlformats.org/drawingml/2006/main">
            <a:off x="792000" y="1080000"/>
            <a:ext cx="43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0A6B0"/>
                </a:solidFill>
                <a:latin typeface="Arial"/>
                <a:ea typeface="Arial"/>
              </a:rPr>
              <a:t>↑ Value ↑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115" name="RoadmapTitle"/>
          <p:cNvSpPr txBox="1"/>
          <p:nvPr/>
        </p:nvSpPr>
        <p:spPr>
          <a:xfrm xmlns:a="http://schemas.openxmlformats.org/drawingml/2006/main">
            <a:off x="792000" y="435600"/>
            <a:ext cx="1060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H2 roadmap</a:t>
            </a:r>
          </a:p>
        </p:txBody>
      </p:sp>
      <p:sp>
        <p:nvSpPr>
          <p:cNvPr id="100116" name="RoadPhase1"/>
          <p:cNvSpPr txBox="1"/>
          <p:nvPr/>
        </p:nvSpPr>
        <p:spPr>
          <a:xfrm xmlns:a="http://schemas.openxmlformats.org/drawingml/2006/main">
            <a:off x="2448000" y="1260000"/>
            <a:ext cx="292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B5FFF"/>
                </a:solidFill>
                <a:latin typeface="Arial"/>
                <a:ea typeface="Arial"/>
              </a:rPr>
              <a:t>Now</a:t>
            </a:r>
          </a:p>
        </p:txBody>
      </p:sp>
      <p:sp>
        <p:nvSpPr>
          <p:cNvPr id="100117" name="RoadPhase2"/>
          <p:cNvSpPr txBox="1"/>
          <p:nvPr/>
        </p:nvSpPr>
        <p:spPr>
          <a:xfrm xmlns:a="http://schemas.openxmlformats.org/drawingml/2006/main">
            <a:off x="5461200" y="1260000"/>
            <a:ext cx="292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B5FFF"/>
                </a:solidFill>
                <a:latin typeface="Arial"/>
                <a:ea typeface="Arial"/>
              </a:rPr>
              <a:t>Next</a:t>
            </a:r>
          </a:p>
        </p:txBody>
      </p:sp>
      <p:sp>
        <p:nvSpPr>
          <p:cNvPr id="100118" name="RoadPhase3"/>
          <p:cNvSpPr txBox="1"/>
          <p:nvPr/>
        </p:nvSpPr>
        <p:spPr>
          <a:xfrm xmlns:a="http://schemas.openxmlformats.org/drawingml/2006/main">
            <a:off x="8478000" y="1260000"/>
            <a:ext cx="2923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B5FFF"/>
                </a:solidFill>
                <a:latin typeface="Arial"/>
                <a:ea typeface="Arial"/>
              </a:rPr>
              <a:t>Later</a:t>
            </a:r>
          </a:p>
        </p:txBody>
      </p:sp>
      <p:sp>
        <p:nvSpPr>
          <p:cNvPr id="100119" name="RoadLane1"/>
          <p:cNvSpPr txBox="1"/>
          <p:nvPr/>
        </p:nvSpPr>
        <p:spPr>
          <a:xfrm xmlns:a="http://schemas.openxmlformats.org/drawingml/2006/main">
            <a:off x="792000" y="1746000"/>
            <a:ext cx="1512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Product</a:t>
            </a:r>
          </a:p>
        </p:txBody>
      </p:sp>
      <p:sp>
        <p:nvSpPr>
          <p:cNvPr id="100120" name="RoadCell1_1Bg"/>
          <p:cNvSpPr/>
          <p:nvPr/>
        </p:nvSpPr>
        <p:spPr>
          <a:xfrm xmlns:a="http://schemas.openxmlformats.org/drawingml/2006/main">
            <a:off x="2448000" y="1746000"/>
            <a:ext cx="29232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solidFill>
              <a:srgbClr val="3A3A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1" name="RoadCell1_1"/>
          <p:cNvSpPr txBox="1"/>
          <p:nvPr/>
        </p:nvSpPr>
        <p:spPr>
          <a:xfrm xmlns:a="http://schemas.openxmlformats.org/drawingml/2006/main">
            <a:off x="2520000" y="1836000"/>
            <a:ext cx="2779200" cy="9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5F5F7"/>
                </a:solidFill>
                <a:latin typeface="Arial"/>
                <a:ea typeface="Arial"/>
              </a:rPr>
              <a:t>Brief v2</a:t>
            </a:r>
          </a:p>
        </p:txBody>
      </p:sp>
      <p:sp>
        <p:nvSpPr>
          <p:cNvPr id="100122" name="RoadCell1_2Bg"/>
          <p:cNvSpPr/>
          <p:nvPr/>
        </p:nvSpPr>
        <p:spPr>
          <a:xfrm xmlns:a="http://schemas.openxmlformats.org/drawingml/2006/main">
            <a:off x="5461200" y="1746000"/>
            <a:ext cx="29232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solidFill>
              <a:srgbClr val="3A3A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3" name="RoadCell1_2"/>
          <p:cNvSpPr txBox="1"/>
          <p:nvPr/>
        </p:nvSpPr>
        <p:spPr>
          <a:xfrm xmlns:a="http://schemas.openxmlformats.org/drawingml/2006/main">
            <a:off x="5533200" y="1836000"/>
            <a:ext cx="2779200" cy="9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5F5F7"/>
                </a:solidFill>
                <a:latin typeface="Arial"/>
                <a:ea typeface="Arial"/>
              </a:rPr>
              <a:t>Motifs</a:t>
            </a:r>
          </a:p>
        </p:txBody>
      </p:sp>
      <p:sp>
        <p:nvSpPr>
          <p:cNvPr id="100124" name="RoadCell1_3Bg"/>
          <p:cNvSpPr/>
          <p:nvPr/>
        </p:nvSpPr>
        <p:spPr>
          <a:xfrm xmlns:a="http://schemas.openxmlformats.org/drawingml/2006/main">
            <a:off x="8478000" y="1746000"/>
            <a:ext cx="29232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solidFill>
              <a:srgbClr val="3A3A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5" name="RoadCell1_3"/>
          <p:cNvSpPr txBox="1"/>
          <p:nvPr/>
        </p:nvSpPr>
        <p:spPr>
          <a:xfrm xmlns:a="http://schemas.openxmlformats.org/drawingml/2006/main">
            <a:off x="8550000" y="1836000"/>
            <a:ext cx="2779200" cy="9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5F5F7"/>
                </a:solidFill>
                <a:latin typeface="Arial"/>
                <a:ea typeface="Arial"/>
              </a:rPr>
              <a:t>Gates</a:t>
            </a:r>
          </a:p>
        </p:txBody>
      </p:sp>
      <p:sp>
        <p:nvSpPr>
          <p:cNvPr id="100126" name="RoadLane2"/>
          <p:cNvSpPr txBox="1"/>
          <p:nvPr/>
        </p:nvSpPr>
        <p:spPr>
          <a:xfrm xmlns:a="http://schemas.openxmlformats.org/drawingml/2006/main">
            <a:off x="792000" y="3006000"/>
            <a:ext cx="1512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GTM</a:t>
            </a:r>
          </a:p>
        </p:txBody>
      </p:sp>
      <p:sp>
        <p:nvSpPr>
          <p:cNvPr id="100127" name="RoadCell2_1Bg"/>
          <p:cNvSpPr/>
          <p:nvPr/>
        </p:nvSpPr>
        <p:spPr>
          <a:xfrm xmlns:a="http://schemas.openxmlformats.org/drawingml/2006/main">
            <a:off x="2448000" y="3006000"/>
            <a:ext cx="29232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solidFill>
              <a:srgbClr val="3A3A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8" name="RoadCell2_1"/>
          <p:cNvSpPr txBox="1"/>
          <p:nvPr/>
        </p:nvSpPr>
        <p:spPr>
          <a:xfrm xmlns:a="http://schemas.openxmlformats.org/drawingml/2006/main">
            <a:off x="2520000" y="3096000"/>
            <a:ext cx="2779200" cy="9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5F5F7"/>
                </a:solidFill>
                <a:latin typeface="Arial"/>
                <a:ea typeface="Arial"/>
              </a:rPr>
              <a:t>Ent. pack</a:t>
            </a:r>
          </a:p>
        </p:txBody>
      </p:sp>
      <p:sp>
        <p:nvSpPr>
          <p:cNvPr id="100129" name="RoadCell2_2Bg"/>
          <p:cNvSpPr/>
          <p:nvPr/>
        </p:nvSpPr>
        <p:spPr>
          <a:xfrm xmlns:a="http://schemas.openxmlformats.org/drawingml/2006/main">
            <a:off x="5461200" y="3006000"/>
            <a:ext cx="29232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solidFill>
              <a:srgbClr val="3A3A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0" name="RoadCell2_2"/>
          <p:cNvSpPr txBox="1"/>
          <p:nvPr/>
        </p:nvSpPr>
        <p:spPr>
          <a:xfrm xmlns:a="http://schemas.openxmlformats.org/drawingml/2006/main">
            <a:off x="5533200" y="3096000"/>
            <a:ext cx="2779200" cy="9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5F5F7"/>
                </a:solidFill>
                <a:latin typeface="Arial"/>
                <a:ea typeface="Arial"/>
              </a:rPr>
              <a:t>Partner</a:t>
            </a:r>
          </a:p>
        </p:txBody>
      </p:sp>
      <p:sp>
        <p:nvSpPr>
          <p:cNvPr id="100131" name="RoadCell2_3Bg"/>
          <p:cNvSpPr/>
          <p:nvPr/>
        </p:nvSpPr>
        <p:spPr>
          <a:xfrm xmlns:a="http://schemas.openxmlformats.org/drawingml/2006/main">
            <a:off x="8478000" y="3006000"/>
            <a:ext cx="29232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solidFill>
              <a:srgbClr val="3A3A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2" name="RoadCell2_3"/>
          <p:cNvSpPr txBox="1"/>
          <p:nvPr/>
        </p:nvSpPr>
        <p:spPr>
          <a:xfrm xmlns:a="http://schemas.openxmlformats.org/drawingml/2006/main">
            <a:off x="8550000" y="3096000"/>
            <a:ext cx="2779200" cy="9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5F5F7"/>
                </a:solidFill>
                <a:latin typeface="Arial"/>
                <a:ea typeface="Arial"/>
              </a:rPr>
              <a:t>Events</a:t>
            </a:r>
          </a:p>
        </p:txBody>
      </p:sp>
      <p:sp>
        <p:nvSpPr>
          <p:cNvPr id="100133" name="RoadLane3"/>
          <p:cNvSpPr txBox="1"/>
          <p:nvPr/>
        </p:nvSpPr>
        <p:spPr>
          <a:xfrm xmlns:a="http://schemas.openxmlformats.org/drawingml/2006/main">
            <a:off x="792000" y="4266000"/>
            <a:ext cx="1512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Platform</a:t>
            </a:r>
          </a:p>
        </p:txBody>
      </p:sp>
      <p:sp>
        <p:nvSpPr>
          <p:cNvPr id="100134" name="RoadCell3_1Bg"/>
          <p:cNvSpPr/>
          <p:nvPr/>
        </p:nvSpPr>
        <p:spPr>
          <a:xfrm xmlns:a="http://schemas.openxmlformats.org/drawingml/2006/main">
            <a:off x="2448000" y="4266000"/>
            <a:ext cx="29232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solidFill>
              <a:srgbClr val="3A3A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5" name="RoadCell3_1"/>
          <p:cNvSpPr txBox="1"/>
          <p:nvPr/>
        </p:nvSpPr>
        <p:spPr>
          <a:xfrm xmlns:a="http://schemas.openxmlformats.org/drawingml/2006/main">
            <a:off x="2520000" y="4356000"/>
            <a:ext cx="2779200" cy="9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5F5F7"/>
                </a:solidFill>
                <a:latin typeface="Arial"/>
                <a:ea typeface="Arial"/>
              </a:rPr>
              <a:t>SLA</a:t>
            </a:r>
          </a:p>
        </p:txBody>
      </p:sp>
      <p:sp>
        <p:nvSpPr>
          <p:cNvPr id="100136" name="RoadCell3_2Bg"/>
          <p:cNvSpPr/>
          <p:nvPr/>
        </p:nvSpPr>
        <p:spPr>
          <a:xfrm xmlns:a="http://schemas.openxmlformats.org/drawingml/2006/main">
            <a:off x="5461200" y="4266000"/>
            <a:ext cx="29232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solidFill>
              <a:srgbClr val="3A3A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7" name="RoadCell3_2"/>
          <p:cNvSpPr txBox="1"/>
          <p:nvPr/>
        </p:nvSpPr>
        <p:spPr>
          <a:xfrm xmlns:a="http://schemas.openxmlformats.org/drawingml/2006/main">
            <a:off x="5533200" y="4356000"/>
            <a:ext cx="2779200" cy="9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5F5F7"/>
                </a:solidFill>
                <a:latin typeface="Arial"/>
                <a:ea typeface="Arial"/>
              </a:rPr>
              <a:t>SSO</a:t>
            </a:r>
          </a:p>
        </p:txBody>
      </p:sp>
      <p:sp>
        <p:nvSpPr>
          <p:cNvPr id="100138" name="RoadCell3_3Bg"/>
          <p:cNvSpPr/>
          <p:nvPr/>
        </p:nvSpPr>
        <p:spPr>
          <a:xfrm xmlns:a="http://schemas.openxmlformats.org/drawingml/2006/main">
            <a:off x="8478000" y="4266000"/>
            <a:ext cx="29232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solidFill>
              <a:srgbClr val="3A3A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9" name="RoadCell3_3"/>
          <p:cNvSpPr txBox="1"/>
          <p:nvPr/>
        </p:nvSpPr>
        <p:spPr>
          <a:xfrm xmlns:a="http://schemas.openxmlformats.org/drawingml/2006/main">
            <a:off x="8550000" y="4356000"/>
            <a:ext cx="2779200" cy="9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5F5F7"/>
                </a:solidFill>
                <a:latin typeface="Arial"/>
                <a:ea typeface="Arial"/>
              </a:rPr>
              <a:t>Audit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140" name="PricingTitle"/>
          <p:cNvSpPr txBox="1"/>
          <p:nvPr/>
        </p:nvSpPr>
        <p:spPr>
          <a:xfrm xmlns:a="http://schemas.openxmlformats.org/drawingml/2006/main">
            <a:off x="792000" y="435600"/>
            <a:ext cx="1060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Packaging</a:t>
            </a:r>
          </a:p>
        </p:txBody>
      </p:sp>
      <p:sp>
        <p:nvSpPr>
          <p:cNvPr id="100141" name="Tier1Bg"/>
          <p:cNvSpPr/>
          <p:nvPr/>
        </p:nvSpPr>
        <p:spPr>
          <a:xfrm xmlns:a="http://schemas.openxmlformats.org/drawingml/2006/main">
            <a:off x="792000" y="1296000"/>
            <a:ext cx="3272400" cy="52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solidFill>
              <a:srgbClr val="3A3A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2" name="Tier1Name"/>
          <p:cNvSpPr txBox="1"/>
          <p:nvPr/>
        </p:nvSpPr>
        <p:spPr>
          <a:xfrm xmlns:a="http://schemas.openxmlformats.org/drawingml/2006/main">
            <a:off x="918000" y="1584000"/>
            <a:ext cx="3020400" cy="4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Team</a:t>
            </a:r>
          </a:p>
        </p:txBody>
      </p:sp>
      <p:sp>
        <p:nvSpPr>
          <p:cNvPr id="100143" name="Tier1Price"/>
          <p:cNvSpPr txBox="1"/>
          <p:nvPr/>
        </p:nvSpPr>
        <p:spPr>
          <a:xfrm xmlns:a="http://schemas.openxmlformats.org/drawingml/2006/main">
            <a:off x="918000" y="2181600"/>
            <a:ext cx="3020400" cy="104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000" b="1">
                <a:solidFill>
                  <a:srgbClr val="F5F5F7"/>
                </a:solidFill>
                <a:latin typeface="Arial"/>
                <a:ea typeface="Arial"/>
              </a:rPr>
              <a:t>$49</a:t>
            </a:r>
          </a:p>
        </p:txBody>
      </p:sp>
      <p:sp>
        <p:nvSpPr>
          <p:cNvPr id="100144" name="Tier1Period"/>
          <p:cNvSpPr txBox="1"/>
          <p:nvPr/>
        </p:nvSpPr>
        <p:spPr>
          <a:xfrm xmlns:a="http://schemas.openxmlformats.org/drawingml/2006/main">
            <a:off x="918000" y="3351600"/>
            <a:ext cx="3020400" cy="31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400">
              <a:solidFill>
                <a:srgbClr val="A0A6B0"/>
              </a:solidFill>
              <a:latin typeface="Arial"/>
              <a:ea typeface="Arial"/>
            </a:endParaRPr>
          </a:p>
        </p:txBody>
      </p:sp>
      <p:sp>
        <p:nvSpPr>
          <p:cNvPr id="100145" name="Tier1Features"/>
          <p:cNvSpPr txBox="1"/>
          <p:nvPr/>
        </p:nvSpPr>
        <p:spPr>
          <a:xfrm xmlns:a="http://schemas.openxmlformats.org/drawingml/2006/main">
            <a:off x="918000" y="3787200"/>
            <a:ext cx="3020400" cy="59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A0A6B0"/>
                </a:solidFill>
                <a:latin typeface="Arial"/>
                <a:ea typeface="Arial"/>
              </a:rPr>
              <a:t>• Up to 10 seats</a:t>
            </a:r>
          </a:p>
          <a:p xmlns:a="http://schemas.openxmlformats.org/drawingml/2006/main">
            <a:r>
              <a:rPr lang="en-US" sz="1600">
                <a:solidFill>
                  <a:srgbClr val="A0A6B0"/>
                </a:solidFill>
                <a:latin typeface="Arial"/>
                <a:ea typeface="Arial"/>
              </a:rPr>
              <a:t>• Core briefs</a:t>
            </a:r>
          </a:p>
        </p:txBody>
      </p:sp>
      <p:sp>
        <p:nvSpPr>
          <p:cNvPr id="100146" name="Tier2Bg"/>
          <p:cNvSpPr/>
          <p:nvPr/>
        </p:nvSpPr>
        <p:spPr>
          <a:xfrm xmlns:a="http://schemas.openxmlformats.org/drawingml/2006/main">
            <a:off x="4460400" y="1296000"/>
            <a:ext cx="3272400" cy="52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7" name="Tier2Name"/>
          <p:cNvSpPr txBox="1"/>
          <p:nvPr/>
        </p:nvSpPr>
        <p:spPr>
          <a:xfrm xmlns:a="http://schemas.openxmlformats.org/drawingml/2006/main">
            <a:off x="4586400" y="1584000"/>
            <a:ext cx="3020400" cy="4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Business</a:t>
            </a:r>
          </a:p>
        </p:txBody>
      </p:sp>
      <p:sp>
        <p:nvSpPr>
          <p:cNvPr id="100148" name="Tier2Price"/>
          <p:cNvSpPr txBox="1"/>
          <p:nvPr/>
        </p:nvSpPr>
        <p:spPr>
          <a:xfrm xmlns:a="http://schemas.openxmlformats.org/drawingml/2006/main">
            <a:off x="4586400" y="2181600"/>
            <a:ext cx="3020400" cy="104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000" b="1">
                <a:solidFill>
                  <a:srgbClr val="FFFFFF"/>
                </a:solidFill>
                <a:latin typeface="Arial"/>
                <a:ea typeface="Arial"/>
              </a:rPr>
              <a:t>$199</a:t>
            </a:r>
          </a:p>
        </p:txBody>
      </p:sp>
      <p:sp>
        <p:nvSpPr>
          <p:cNvPr id="100149" name="Tier2Period"/>
          <p:cNvSpPr txBox="1"/>
          <p:nvPr/>
        </p:nvSpPr>
        <p:spPr>
          <a:xfrm xmlns:a="http://schemas.openxmlformats.org/drawingml/2006/main">
            <a:off x="4586400" y="3351600"/>
            <a:ext cx="3020400" cy="31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400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100150" name="Tier2Features"/>
          <p:cNvSpPr txBox="1"/>
          <p:nvPr/>
        </p:nvSpPr>
        <p:spPr>
          <a:xfrm xmlns:a="http://schemas.openxmlformats.org/drawingml/2006/main">
            <a:off x="4586400" y="3787200"/>
            <a:ext cx="3020400" cy="59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• Orgs &amp; SSO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Arial"/>
                <a:ea typeface="Arial"/>
              </a:rPr>
              <a:t>• Priority support</a:t>
            </a:r>
          </a:p>
        </p:txBody>
      </p:sp>
      <p:sp>
        <p:nvSpPr>
          <p:cNvPr id="100151" name="Tier3Bg"/>
          <p:cNvSpPr/>
          <p:nvPr/>
        </p:nvSpPr>
        <p:spPr>
          <a:xfrm xmlns:a="http://schemas.openxmlformats.org/drawingml/2006/main">
            <a:off x="8128800" y="1296000"/>
            <a:ext cx="3272400" cy="52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solidFill>
              <a:srgbClr val="3A3A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2" name="Tier3Name"/>
          <p:cNvSpPr txBox="1"/>
          <p:nvPr/>
        </p:nvSpPr>
        <p:spPr>
          <a:xfrm xmlns:a="http://schemas.openxmlformats.org/drawingml/2006/main">
            <a:off x="8254800" y="1584000"/>
            <a:ext cx="3020400" cy="4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5F5F7"/>
                </a:solidFill>
                <a:latin typeface="Arial"/>
                <a:ea typeface="Arial"/>
              </a:rPr>
              <a:t>Enterprise</a:t>
            </a:r>
          </a:p>
        </p:txBody>
      </p:sp>
      <p:sp>
        <p:nvSpPr>
          <p:cNvPr id="100153" name="Tier3Price"/>
          <p:cNvSpPr txBox="1"/>
          <p:nvPr/>
        </p:nvSpPr>
        <p:spPr>
          <a:xfrm xmlns:a="http://schemas.openxmlformats.org/drawingml/2006/main">
            <a:off x="8254800" y="2181600"/>
            <a:ext cx="3020400" cy="104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000" b="1">
                <a:solidFill>
                  <a:srgbClr val="F5F5F7"/>
                </a:solidFill>
                <a:latin typeface="Arial"/>
                <a:ea typeface="Arial"/>
              </a:rPr>
              <a:t>Talk</a:t>
            </a:r>
          </a:p>
        </p:txBody>
      </p:sp>
      <p:sp>
        <p:nvSpPr>
          <p:cNvPr id="100154" name="Tier3Period"/>
          <p:cNvSpPr txBox="1"/>
          <p:nvPr/>
        </p:nvSpPr>
        <p:spPr>
          <a:xfrm xmlns:a="http://schemas.openxmlformats.org/drawingml/2006/main">
            <a:off x="8254800" y="3351600"/>
            <a:ext cx="3020400" cy="31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endParaRPr lang="en-US" sz="1400">
              <a:solidFill>
                <a:srgbClr val="A0A6B0"/>
              </a:solidFill>
              <a:latin typeface="Arial"/>
              <a:ea typeface="Arial"/>
            </a:endParaRPr>
          </a:p>
        </p:txBody>
      </p:sp>
      <p:sp>
        <p:nvSpPr>
          <p:cNvPr id="100155" name="Tier3Features"/>
          <p:cNvSpPr txBox="1"/>
          <p:nvPr/>
        </p:nvSpPr>
        <p:spPr>
          <a:xfrm xmlns:a="http://schemas.openxmlformats.org/drawingml/2006/main">
            <a:off x="8254800" y="3787200"/>
            <a:ext cx="3020400" cy="59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A0A6B0"/>
                </a:solidFill>
                <a:latin typeface="Arial"/>
                <a:ea typeface="Arial"/>
              </a:rPr>
              <a:t>• Global admin</a:t>
            </a:r>
          </a:p>
          <a:p xmlns:a="http://schemas.openxmlformats.org/drawingml/2006/main">
            <a:r>
              <a:rPr lang="en-US" sz="1600">
                <a:solidFill>
                  <a:srgbClr val="A0A6B0"/>
                </a:solidFill>
                <a:latin typeface="Arial"/>
                <a:ea typeface="Arial"/>
              </a:rPr>
              <a:t>• Custom DPA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156" name="RiskTitle"/>
          <p:cNvSpPr txBox="1"/>
          <p:nvPr/>
        </p:nvSpPr>
        <p:spPr>
          <a:xfrm xmlns:a="http://schemas.openxmlformats.org/drawingml/2006/main">
            <a:off x="792000" y="435600"/>
            <a:ext cx="1060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Risk heat</a:t>
            </a:r>
          </a:p>
        </p:txBody>
      </p:sp>
      <p:sp>
        <p:nvSpPr>
          <p:cNvPr id="100157" name="RiskX0"/>
          <p:cNvSpPr txBox="1"/>
          <p:nvPr/>
        </p:nvSpPr>
        <p:spPr>
          <a:xfrm xmlns:a="http://schemas.openxmlformats.org/drawingml/2006/main">
            <a:off x="1944000" y="5994000"/>
            <a:ext cx="26388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A0A6B0"/>
                </a:solidFill>
                <a:latin typeface="Arial"/>
                <a:ea typeface="Arial"/>
              </a:rPr>
              <a:t>Low</a:t>
            </a:r>
          </a:p>
        </p:txBody>
      </p:sp>
      <p:sp>
        <p:nvSpPr>
          <p:cNvPr id="100158" name="RiskY0"/>
          <p:cNvSpPr txBox="1"/>
          <p:nvPr/>
        </p:nvSpPr>
        <p:spPr>
          <a:xfrm xmlns:a="http://schemas.openxmlformats.org/drawingml/2006/main">
            <a:off x="792000" y="5047200"/>
            <a:ext cx="1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>
                <a:solidFill>
                  <a:srgbClr val="A0A6B0"/>
                </a:solidFill>
                <a:latin typeface="Arial"/>
                <a:ea typeface="Arial"/>
              </a:rPr>
              <a:t>Low</a:t>
            </a:r>
          </a:p>
        </p:txBody>
      </p:sp>
      <p:sp>
        <p:nvSpPr>
          <p:cNvPr id="100159" name="RiskX1"/>
          <p:cNvSpPr txBox="1"/>
          <p:nvPr/>
        </p:nvSpPr>
        <p:spPr>
          <a:xfrm xmlns:a="http://schemas.openxmlformats.org/drawingml/2006/main">
            <a:off x="4582800" y="5994000"/>
            <a:ext cx="26388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A0A6B0"/>
                </a:solidFill>
                <a:latin typeface="Arial"/>
                <a:ea typeface="Arial"/>
              </a:rPr>
              <a:t>Med</a:t>
            </a:r>
          </a:p>
        </p:txBody>
      </p:sp>
      <p:sp>
        <p:nvSpPr>
          <p:cNvPr id="100160" name="RiskY1"/>
          <p:cNvSpPr txBox="1"/>
          <p:nvPr/>
        </p:nvSpPr>
        <p:spPr>
          <a:xfrm xmlns:a="http://schemas.openxmlformats.org/drawingml/2006/main">
            <a:off x="792000" y="3546000"/>
            <a:ext cx="1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>
                <a:solidFill>
                  <a:srgbClr val="A0A6B0"/>
                </a:solidFill>
                <a:latin typeface="Arial"/>
                <a:ea typeface="Arial"/>
              </a:rPr>
              <a:t>Med</a:t>
            </a:r>
          </a:p>
        </p:txBody>
      </p:sp>
      <p:sp>
        <p:nvSpPr>
          <p:cNvPr id="100161" name="RiskX2"/>
          <p:cNvSpPr txBox="1"/>
          <p:nvPr/>
        </p:nvSpPr>
        <p:spPr>
          <a:xfrm xmlns:a="http://schemas.openxmlformats.org/drawingml/2006/main">
            <a:off x="7225200" y="5994000"/>
            <a:ext cx="26388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A0A6B0"/>
                </a:solidFill>
                <a:latin typeface="Arial"/>
                <a:ea typeface="Arial"/>
              </a:rPr>
              <a:t>High</a:t>
            </a:r>
          </a:p>
        </p:txBody>
      </p:sp>
      <p:sp>
        <p:nvSpPr>
          <p:cNvPr id="100162" name="RiskY2"/>
          <p:cNvSpPr txBox="1"/>
          <p:nvPr/>
        </p:nvSpPr>
        <p:spPr>
          <a:xfrm xmlns:a="http://schemas.openxmlformats.org/drawingml/2006/main">
            <a:off x="792000" y="2044800"/>
            <a:ext cx="1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>
                <a:solidFill>
                  <a:srgbClr val="A0A6B0"/>
                </a:solidFill>
                <a:latin typeface="Arial"/>
                <a:ea typeface="Arial"/>
              </a:rPr>
              <a:t>High</a:t>
            </a:r>
          </a:p>
        </p:txBody>
      </p:sp>
      <p:sp>
        <p:nvSpPr>
          <p:cNvPr id="100163" name="RiskCell00"/>
          <p:cNvSpPr/>
          <p:nvPr/>
        </p:nvSpPr>
        <p:spPr>
          <a:xfrm xmlns:a="http://schemas.openxmlformats.org/drawingml/2006/main">
            <a:off x="1962000" y="44568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4" name="RiskCell01"/>
          <p:cNvSpPr/>
          <p:nvPr/>
        </p:nvSpPr>
        <p:spPr>
          <a:xfrm xmlns:a="http://schemas.openxmlformats.org/drawingml/2006/main">
            <a:off x="4600800" y="44568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5" name="RiskCell02"/>
          <p:cNvSpPr/>
          <p:nvPr/>
        </p:nvSpPr>
        <p:spPr>
          <a:xfrm xmlns:a="http://schemas.openxmlformats.org/drawingml/2006/main">
            <a:off x="7243200" y="44568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7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6" name="RiskCell10"/>
          <p:cNvSpPr/>
          <p:nvPr/>
        </p:nvSpPr>
        <p:spPr>
          <a:xfrm xmlns:a="http://schemas.openxmlformats.org/drawingml/2006/main">
            <a:off x="1962000" y="29592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7" name="RiskCell11"/>
          <p:cNvSpPr/>
          <p:nvPr/>
        </p:nvSpPr>
        <p:spPr>
          <a:xfrm xmlns:a="http://schemas.openxmlformats.org/drawingml/2006/main">
            <a:off x="4600800" y="29592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7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8" name="RiskCell12"/>
          <p:cNvSpPr/>
          <p:nvPr/>
        </p:nvSpPr>
        <p:spPr>
          <a:xfrm xmlns:a="http://schemas.openxmlformats.org/drawingml/2006/main">
            <a:off x="7243200" y="29592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9" name="RiskCell20"/>
          <p:cNvSpPr/>
          <p:nvPr/>
        </p:nvSpPr>
        <p:spPr>
          <a:xfrm xmlns:a="http://schemas.openxmlformats.org/drawingml/2006/main">
            <a:off x="1962000" y="14580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7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0" name="RiskCell21"/>
          <p:cNvSpPr/>
          <p:nvPr/>
        </p:nvSpPr>
        <p:spPr>
          <a:xfrm xmlns:a="http://schemas.openxmlformats.org/drawingml/2006/main">
            <a:off x="4600800" y="14580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1" name="RiskCell22"/>
          <p:cNvSpPr/>
          <p:nvPr/>
        </p:nvSpPr>
        <p:spPr>
          <a:xfrm xmlns:a="http://schemas.openxmlformats.org/drawingml/2006/main">
            <a:off x="7243200" y="1458000"/>
            <a:ext cx="2602800" cy="14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2" name="RiskItem23"/>
          <p:cNvSpPr txBox="1"/>
          <p:nvPr/>
        </p:nvSpPr>
        <p:spPr>
          <a:xfrm xmlns:a="http://schemas.openxmlformats.org/drawingml/2006/main">
            <a:off x="4672800" y="1548000"/>
            <a:ext cx="2458800" cy="132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5F5F7"/>
                </a:solidFill>
                <a:latin typeface="Arial"/>
                <a:ea typeface="Arial"/>
              </a:rPr>
              <a:t>Vendor</a:t>
            </a:r>
          </a:p>
        </p:txBody>
      </p:sp>
      <p:sp>
        <p:nvSpPr>
          <p:cNvPr id="100173" name="RiskItem32"/>
          <p:cNvSpPr txBox="1"/>
          <p:nvPr/>
        </p:nvSpPr>
        <p:spPr>
          <a:xfrm xmlns:a="http://schemas.openxmlformats.org/drawingml/2006/main">
            <a:off x="7315200" y="3049200"/>
            <a:ext cx="2458800" cy="132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5F5F7"/>
                </a:solidFill>
                <a:latin typeface="Arial"/>
                <a:ea typeface="Arial"/>
              </a:rPr>
              <a:t>Scope</a:t>
            </a:r>
          </a:p>
        </p:txBody>
      </p:sp>
      <p:sp>
        <p:nvSpPr>
          <p:cNvPr id="100174" name="RiskItem13"/>
          <p:cNvSpPr txBox="1"/>
          <p:nvPr/>
        </p:nvSpPr>
        <p:spPr>
          <a:xfrm xmlns:a="http://schemas.openxmlformats.org/drawingml/2006/main">
            <a:off x="2034000" y="1548000"/>
            <a:ext cx="2458800" cy="132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5F5F7"/>
                </a:solidFill>
                <a:latin typeface="Arial"/>
                <a:ea typeface="Arial"/>
              </a:rPr>
              <a:t>Hire</a:t>
            </a:r>
          </a:p>
        </p:txBody>
      </p:sp>
      <p:sp>
        <p:nvSpPr>
          <p:cNvPr id="100175" name="RiskItem12"/>
          <p:cNvSpPr txBox="1"/>
          <p:nvPr/>
        </p:nvSpPr>
        <p:spPr>
          <a:xfrm xmlns:a="http://schemas.openxmlformats.org/drawingml/2006/main">
            <a:off x="2034000" y="3049200"/>
            <a:ext cx="2458800" cy="132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5F5F7"/>
                </a:solidFill>
                <a:latin typeface="Arial"/>
                <a:ea typeface="Arial"/>
              </a:rPr>
              <a:t>Reg</a:t>
            </a:r>
          </a:p>
        </p:txBody>
      </p:sp>
      <p:sp>
        <p:nvSpPr>
          <p:cNvPr id="100176" name="RiskAxisX"/>
          <p:cNvSpPr txBox="1"/>
          <p:nvPr/>
        </p:nvSpPr>
        <p:spPr>
          <a:xfrm xmlns:a="http://schemas.openxmlformats.org/drawingml/2006/main">
            <a:off x="1944000" y="6318000"/>
            <a:ext cx="792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A0A6B0"/>
                </a:solidFill>
                <a:latin typeface="Arial"/>
                <a:ea typeface="Arial"/>
              </a:rPr>
              <a:t>Likelihood →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177" name="RagTitle"/>
          <p:cNvSpPr txBox="1"/>
          <p:nvPr/>
        </p:nvSpPr>
        <p:spPr>
          <a:xfrm xmlns:a="http://schemas.openxmlformats.org/drawingml/2006/main">
            <a:off x="792000" y="435600"/>
            <a:ext cx="1060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Program status</a:t>
            </a:r>
          </a:p>
        </p:txBody>
      </p:sp>
      <p:sp>
        <p:nvSpPr>
          <p:cNvPr id="100178" name="RagHead"/>
          <p:cNvSpPr txBox="1"/>
          <p:nvPr/>
        </p:nvSpPr>
        <p:spPr>
          <a:xfrm xmlns:a="http://schemas.openxmlformats.org/drawingml/2006/main">
            <a:off x="792000" y="1188000"/>
            <a:ext cx="106092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A0A6B0"/>
                </a:solidFill>
                <a:latin typeface="Arial"/>
                <a:ea typeface="Arial"/>
              </a:rPr>
              <a:t>Project          Status          Note</a:t>
            </a:r>
          </a:p>
        </p:txBody>
      </p:sp>
      <p:sp>
        <p:nvSpPr>
          <p:cNvPr id="100179" name="RagRow1"/>
          <p:cNvSpPr/>
          <p:nvPr/>
        </p:nvSpPr>
        <p:spPr>
          <a:xfrm xmlns:a="http://schemas.openxmlformats.org/drawingml/2006/main">
            <a:off x="792000" y="1584000"/>
            <a:ext cx="10609200" cy="55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0" name="RagName1"/>
          <p:cNvSpPr txBox="1"/>
          <p:nvPr/>
        </p:nvSpPr>
        <p:spPr>
          <a:xfrm xmlns:a="http://schemas.openxmlformats.org/drawingml/2006/main">
            <a:off x="936000" y="1674000"/>
            <a:ext cx="36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Enterprise motion</a:t>
            </a:r>
          </a:p>
        </p:txBody>
      </p:sp>
      <p:sp>
        <p:nvSpPr>
          <p:cNvPr id="100181" name="RagDot1"/>
          <p:cNvSpPr/>
          <p:nvPr/>
        </p:nvSpPr>
        <p:spPr>
          <a:xfrm xmlns:a="http://schemas.openxmlformats.org/drawingml/2006/main">
            <a:off x="5112000" y="1728000"/>
            <a:ext cx="324000" cy="3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D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2" name="RagNote1"/>
          <p:cNvSpPr txBox="1"/>
          <p:nvPr/>
        </p:nvSpPr>
        <p:spPr>
          <a:xfrm xmlns:a="http://schemas.openxmlformats.org/drawingml/2006/main">
            <a:off x="5652000" y="1674000"/>
            <a:ext cx="54972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A0A6B0"/>
                </a:solidFill>
                <a:latin typeface="Arial"/>
                <a:ea typeface="Arial"/>
              </a:rPr>
              <a:t>On track</a:t>
            </a:r>
          </a:p>
        </p:txBody>
      </p:sp>
      <p:sp>
        <p:nvSpPr>
          <p:cNvPr id="100183" name="RagRow2"/>
          <p:cNvSpPr/>
          <p:nvPr/>
        </p:nvSpPr>
        <p:spPr>
          <a:xfrm xmlns:a="http://schemas.openxmlformats.org/drawingml/2006/main">
            <a:off x="792000" y="2196000"/>
            <a:ext cx="10609200" cy="55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4" name="RagName2"/>
          <p:cNvSpPr txBox="1"/>
          <p:nvPr/>
        </p:nvSpPr>
        <p:spPr>
          <a:xfrm xmlns:a="http://schemas.openxmlformats.org/drawingml/2006/main">
            <a:off x="936000" y="2286000"/>
            <a:ext cx="36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Mid-market repair</a:t>
            </a:r>
          </a:p>
        </p:txBody>
      </p:sp>
      <p:sp>
        <p:nvSpPr>
          <p:cNvPr id="100185" name="RagDot2"/>
          <p:cNvSpPr/>
          <p:nvPr/>
        </p:nvSpPr>
        <p:spPr>
          <a:xfrm xmlns:a="http://schemas.openxmlformats.org/drawingml/2006/main">
            <a:off x="5112000" y="2340000"/>
            <a:ext cx="324000" cy="3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6" name="RagNote2"/>
          <p:cNvSpPr txBox="1"/>
          <p:nvPr/>
        </p:nvSpPr>
        <p:spPr>
          <a:xfrm xmlns:a="http://schemas.openxmlformats.org/drawingml/2006/main">
            <a:off x="5652000" y="2286000"/>
            <a:ext cx="54972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A0A6B0"/>
                </a:solidFill>
                <a:latin typeface="Arial"/>
                <a:ea typeface="Arial"/>
              </a:rPr>
              <a:t>Owner TBD</a:t>
            </a:r>
          </a:p>
        </p:txBody>
      </p:sp>
      <p:sp>
        <p:nvSpPr>
          <p:cNvPr id="100187" name="RagRow3"/>
          <p:cNvSpPr/>
          <p:nvPr/>
        </p:nvSpPr>
        <p:spPr>
          <a:xfrm xmlns:a="http://schemas.openxmlformats.org/drawingml/2006/main">
            <a:off x="792000" y="2808000"/>
            <a:ext cx="10609200" cy="55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8" name="RagName3"/>
          <p:cNvSpPr txBox="1"/>
          <p:nvPr/>
        </p:nvSpPr>
        <p:spPr>
          <a:xfrm xmlns:a="http://schemas.openxmlformats.org/drawingml/2006/main">
            <a:off x="936000" y="2898000"/>
            <a:ext cx="36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Platform SLA</a:t>
            </a:r>
          </a:p>
        </p:txBody>
      </p:sp>
      <p:sp>
        <p:nvSpPr>
          <p:cNvPr id="100189" name="RagDot3"/>
          <p:cNvSpPr/>
          <p:nvPr/>
        </p:nvSpPr>
        <p:spPr>
          <a:xfrm xmlns:a="http://schemas.openxmlformats.org/drawingml/2006/main">
            <a:off x="5112000" y="2952000"/>
            <a:ext cx="324000" cy="3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0" name="RagNote3"/>
          <p:cNvSpPr txBox="1"/>
          <p:nvPr/>
        </p:nvSpPr>
        <p:spPr>
          <a:xfrm xmlns:a="http://schemas.openxmlformats.org/drawingml/2006/main">
            <a:off x="5652000" y="2898000"/>
            <a:ext cx="54972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A0A6B0"/>
                </a:solidFill>
                <a:latin typeface="Arial"/>
                <a:ea typeface="Arial"/>
              </a:rPr>
              <a:t>Hire lag</a:t>
            </a:r>
          </a:p>
        </p:txBody>
      </p:sp>
      <p:sp>
        <p:nvSpPr>
          <p:cNvPr id="100191" name="RagRow4"/>
          <p:cNvSpPr/>
          <p:nvPr/>
        </p:nvSpPr>
        <p:spPr>
          <a:xfrm xmlns:a="http://schemas.openxmlformats.org/drawingml/2006/main">
            <a:off x="792000" y="3420000"/>
            <a:ext cx="10609200" cy="55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2" name="RagName4"/>
          <p:cNvSpPr txBox="1"/>
          <p:nvPr/>
        </p:nvSpPr>
        <p:spPr>
          <a:xfrm xmlns:a="http://schemas.openxmlformats.org/drawingml/2006/main">
            <a:off x="936000" y="3510000"/>
            <a:ext cx="36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Series B data room</a:t>
            </a:r>
          </a:p>
        </p:txBody>
      </p:sp>
      <p:sp>
        <p:nvSpPr>
          <p:cNvPr id="100193" name="RagDot4"/>
          <p:cNvSpPr/>
          <p:nvPr/>
        </p:nvSpPr>
        <p:spPr>
          <a:xfrm xmlns:a="http://schemas.openxmlformats.org/drawingml/2006/main">
            <a:off x="5112000" y="3564000"/>
            <a:ext cx="324000" cy="3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D1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4" name="RagNote4"/>
          <p:cNvSpPr txBox="1"/>
          <p:nvPr/>
        </p:nvSpPr>
        <p:spPr>
          <a:xfrm xmlns:a="http://schemas.openxmlformats.org/drawingml/2006/main">
            <a:off x="5652000" y="3510000"/>
            <a:ext cx="54972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A0A6B0"/>
                </a:solidFill>
                <a:latin typeface="Arial"/>
                <a:ea typeface="Arial"/>
              </a:rPr>
              <a:t>Ready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195" name="CheckTitle"/>
          <p:cNvSpPr txBox="1"/>
          <p:nvPr/>
        </p:nvSpPr>
        <p:spPr>
          <a:xfrm xmlns:a="http://schemas.openxmlformats.org/drawingml/2006/main">
            <a:off x="792000" y="435600"/>
            <a:ext cx="10609200" cy="5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5F5F7"/>
                </a:solidFill>
                <a:latin typeface="Arial"/>
                <a:ea typeface="Arial"/>
              </a:rPr>
              <a:t>Board asks</a:t>
            </a:r>
          </a:p>
        </p:txBody>
      </p:sp>
      <p:sp>
        <p:nvSpPr>
          <p:cNvPr id="100196" name="CheckRow1"/>
          <p:cNvSpPr/>
          <p:nvPr/>
        </p:nvSpPr>
        <p:spPr>
          <a:xfrm xmlns:a="http://schemas.openxmlformats.org/drawingml/2006/main">
            <a:off x="792000" y="1533600"/>
            <a:ext cx="10609200" cy="65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○  Approve Series B window</a:t>
            </a:r>
          </a:p>
        </p:txBody>
      </p:sp>
      <p:sp>
        <p:nvSpPr>
          <p:cNvPr id="100197" name="CheckRow2"/>
          <p:cNvSpPr/>
          <p:nvPr/>
        </p:nvSpPr>
        <p:spPr>
          <a:xfrm xmlns:a="http://schemas.openxmlformats.org/drawingml/2006/main">
            <a:off x="792000" y="2253600"/>
            <a:ext cx="10609200" cy="65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5F5F7"/>
                </a:solidFill>
                <a:latin typeface="Arial"/>
                <a:ea typeface="Arial"/>
              </a:rPr>
              <a:t>✓  Hold mid-market spend</a:t>
            </a:r>
          </a:p>
        </p:txBody>
      </p:sp>
      <p:sp>
        <p:nvSpPr>
          <p:cNvPr id="100198" name="CheckRow3"/>
          <p:cNvSpPr/>
          <p:nvPr/>
        </p:nvSpPr>
        <p:spPr>
          <a:xfrm xmlns:a="http://schemas.openxmlformats.org/drawingml/2006/main">
            <a:off x="792000" y="2973600"/>
            <a:ext cx="10609200" cy="65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5F5F7"/>
                </a:solidFill>
                <a:latin typeface="Arial"/>
                <a:ea typeface="Arial"/>
              </a:rPr>
              <a:t>○  Fund platform SLA hire</a:t>
            </a:r>
          </a:p>
        </p:txBody>
      </p:sp>
      <p:sp>
        <p:nvSpPr>
          <p:cNvPr id="100199" name="CheckRow4"/>
          <p:cNvSpPr/>
          <p:nvPr/>
        </p:nvSpPr>
        <p:spPr>
          <a:xfrm xmlns:a="http://schemas.openxmlformats.org/drawingml/2006/main">
            <a:off x="792000" y="3693600"/>
            <a:ext cx="10609200" cy="65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1C1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5F5F7"/>
                </a:solidFill>
                <a:latin typeface="Arial"/>
                <a:ea typeface="Arial"/>
              </a:rPr>
              <a:t>✓  Kill custom one-offs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id="100200" name="CloseTitle"/>
          <p:cNvSpPr txBox="1"/>
          <p:nvPr/>
        </p:nvSpPr>
        <p:spPr>
          <a:xfrm xmlns:a="http://schemas.openxmlformats.org/drawingml/2006/main">
            <a:off x="792000" y="1796400"/>
            <a:ext cx="10609200" cy="93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5F5F7"/>
                </a:solidFill>
                <a:latin typeface="Arial"/>
                <a:ea typeface="Arial"/>
              </a:rPr>
              <a:t>One ask</a:t>
            </a:r>
          </a:p>
        </p:txBody>
      </p:sp>
      <p:sp>
        <p:nvSpPr>
          <p:cNvPr id="100201" name="CloseBody"/>
          <p:cNvSpPr txBox="1"/>
          <p:nvPr/>
        </p:nvSpPr>
        <p:spPr>
          <a:xfrm xmlns:a="http://schemas.openxmlformats.org/drawingml/2006/main">
            <a:off x="1188000" y="2952000"/>
            <a:ext cx="98172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A0A6B0"/>
                </a:solidFill>
                <a:latin typeface="Arial"/>
                <a:ea typeface="Arial"/>
              </a:rPr>
              <a:t>Green-light the Series B process this quarter.</a:t>
            </a:r>
          </a:p>
        </p:txBody>
      </p:sp>
      <p:sp>
        <p:nvSpPr>
          <p:cNvPr id="100202" name="CloseCta"/>
          <p:cNvSpPr/>
          <p:nvPr/>
        </p:nvSpPr>
        <p:spPr>
          <a:xfrm xmlns:a="http://schemas.openxmlformats.org/drawingml/2006/main">
            <a:off x="4294800" y="4068000"/>
            <a:ext cx="3600000" cy="6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Arial"/>
                <a:ea typeface="Arial"/>
              </a:rPr>
              <a:t>Approve window</a:t>
            </a:r>
          </a:p>
        </p:txBody>
      </p:sp>
    </p:spTree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2026-07-15T14:48:43Z</dcterms:created>
  <cp:lastModifiedBy>OfficeCLI</cp:lastModifiedBy>
  <dcterms:modified xsi:type="dcterms:W3CDTF">2026-07-15T14:48:43Z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1.0.136</vt:lpwstr>
  </op:property>
  <op:property fmtid="{D5CDD505-2E9C-101B-9397-08002B2CF9AE}" pid="3" name="OfficeCLI.LastModified">
    <vt:lpwstr xmlns:vt="http://schemas.openxmlformats.org/officeDocument/2006/docPropsVTypes">2026-07-15T14:48:45Z</vt:lpwstr>
  </op:property>
</op:Properties>
</file>